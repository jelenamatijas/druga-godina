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79" r:id="rId2"/>
    <p:sldId id="288" r:id="rId3"/>
    <p:sldId id="326" r:id="rId4"/>
    <p:sldId id="320" r:id="rId5"/>
    <p:sldId id="325" r:id="rId6"/>
    <p:sldId id="316" r:id="rId7"/>
    <p:sldId id="328" r:id="rId8"/>
    <p:sldId id="323" r:id="rId9"/>
    <p:sldId id="313" r:id="rId10"/>
    <p:sldId id="298" r:id="rId11"/>
    <p:sldId id="303" r:id="rId12"/>
    <p:sldId id="338" r:id="rId13"/>
    <p:sldId id="335" r:id="rId14"/>
    <p:sldId id="290" r:id="rId15"/>
    <p:sldId id="299" r:id="rId16"/>
    <p:sldId id="339" r:id="rId17"/>
    <p:sldId id="33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MSI" id="{C3CF9660-D4FE-428E-821F-124F8D1AC74D}">
          <p14:sldIdLst>
            <p14:sldId id="279"/>
            <p14:sldId id="288"/>
            <p14:sldId id="326"/>
            <p14:sldId id="320"/>
            <p14:sldId id="325"/>
            <p14:sldId id="316"/>
            <p14:sldId id="328"/>
            <p14:sldId id="323"/>
            <p14:sldId id="313"/>
            <p14:sldId id="298"/>
            <p14:sldId id="303"/>
            <p14:sldId id="338"/>
            <p14:sldId id="335"/>
            <p14:sldId id="290"/>
            <p14:sldId id="299"/>
            <p14:sldId id="339"/>
            <p14:sldId id="33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1"/>
    <a:srgbClr val="FFDE57"/>
    <a:srgbClr val="4584B6"/>
    <a:srgbClr val="646464"/>
    <a:srgbClr val="267F99"/>
    <a:srgbClr val="008000"/>
    <a:srgbClr val="001080"/>
    <a:srgbClr val="0000FF"/>
    <a:srgbClr val="795E26"/>
    <a:srgbClr val="6C8C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A0807-E3A0-4454-929C-378ACFA853C2}" v="6348" dt="2025-03-12T14:55:30.661"/>
    <p1510:client id="{69747AC8-9BD8-42CE-B5F8-BBDF2C02B325}" v="1" dt="2025-03-12T15:42:49.1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notesViewPr>
    <p:cSldViewPr snapToGrid="0">
      <p:cViewPr>
        <p:scale>
          <a:sx n="1" d="2"/>
          <a:sy n="1" d="2"/>
        </p:scale>
        <p:origin x="3480" y="41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53FD0D-53EA-4156-87B3-00DE8A27B9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r-Latn-BA"/>
          </a:p>
        </p:txBody>
      </p:sp>
      <p:sp>
        <p:nvSpPr>
          <p:cNvPr id="3" name="Date Placeholder 2">
            <a:extLst>
              <a:ext uri="{FF2B5EF4-FFF2-40B4-BE49-F238E27FC236}">
                <a16:creationId xmlns:a16="http://schemas.microsoft.com/office/drawing/2014/main" id="{5E77B1C3-D0FD-418E-8F92-166EA49A40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7CC2C5-AC71-4AC6-9D56-24920C502298}" type="datetimeFigureOut">
              <a:rPr lang="sr-Latn-BA" smtClean="0"/>
              <a:t>12.3.2025.</a:t>
            </a:fld>
            <a:endParaRPr lang="sr-Latn-BA"/>
          </a:p>
        </p:txBody>
      </p:sp>
      <p:sp>
        <p:nvSpPr>
          <p:cNvPr id="4" name="Footer Placeholder 3">
            <a:extLst>
              <a:ext uri="{FF2B5EF4-FFF2-40B4-BE49-F238E27FC236}">
                <a16:creationId xmlns:a16="http://schemas.microsoft.com/office/drawing/2014/main" id="{14D16ABB-E343-4BB2-BC10-2EC9D6418A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r-Latn-BA"/>
          </a:p>
        </p:txBody>
      </p:sp>
      <p:sp>
        <p:nvSpPr>
          <p:cNvPr id="5" name="Slide Number Placeholder 4">
            <a:extLst>
              <a:ext uri="{FF2B5EF4-FFF2-40B4-BE49-F238E27FC236}">
                <a16:creationId xmlns:a16="http://schemas.microsoft.com/office/drawing/2014/main" id="{AB6FBE67-D0B6-45EF-B3C7-FA4ED7B724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05D60E-2914-4885-B08E-45DED078B390}" type="slidenum">
              <a:rPr lang="sr-Latn-BA" smtClean="0"/>
              <a:t>‹#›</a:t>
            </a:fld>
            <a:endParaRPr lang="sr-Latn-BA"/>
          </a:p>
        </p:txBody>
      </p:sp>
    </p:spTree>
    <p:extLst>
      <p:ext uri="{BB962C8B-B14F-4D97-AF65-F5344CB8AC3E}">
        <p14:creationId xmlns:p14="http://schemas.microsoft.com/office/powerpoint/2010/main" val="2148881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r-Latn-B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49CC56-C9D4-41BA-8806-E3F46E7A213B}" type="datetimeFigureOut">
              <a:rPr lang="sr-Latn-BA" smtClean="0"/>
              <a:t>12.3.2025.</a:t>
            </a:fld>
            <a:endParaRPr lang="sr-Latn-B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r-Latn-B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r-Latn-B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C36ED-5897-49D7-8DBE-3249514D1EC4}" type="slidenum">
              <a:rPr lang="sr-Latn-BA" smtClean="0"/>
              <a:t>‹#›</a:t>
            </a:fld>
            <a:endParaRPr lang="sr-Latn-BA"/>
          </a:p>
        </p:txBody>
      </p:sp>
    </p:spTree>
    <p:extLst>
      <p:ext uri="{BB962C8B-B14F-4D97-AF65-F5344CB8AC3E}">
        <p14:creationId xmlns:p14="http://schemas.microsoft.com/office/powerpoint/2010/main" val="4075453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r-Latn-BA"/>
          </a:p>
        </p:txBody>
      </p:sp>
      <p:sp>
        <p:nvSpPr>
          <p:cNvPr id="4" name="Slide Number Placeholder 3"/>
          <p:cNvSpPr>
            <a:spLocks noGrp="1"/>
          </p:cNvSpPr>
          <p:nvPr>
            <p:ph type="sldNum" sz="quarter" idx="5"/>
          </p:nvPr>
        </p:nvSpPr>
        <p:spPr/>
        <p:txBody>
          <a:bodyPr/>
          <a:lstStyle/>
          <a:p>
            <a:fld id="{5A6C36ED-5897-49D7-8DBE-3249514D1EC4}" type="slidenum">
              <a:rPr lang="sr-Latn-BA" smtClean="0"/>
              <a:t>1</a:t>
            </a:fld>
            <a:endParaRPr lang="sr-Latn-BA"/>
          </a:p>
        </p:txBody>
      </p:sp>
    </p:spTree>
    <p:extLst>
      <p:ext uri="{BB962C8B-B14F-4D97-AF65-F5344CB8AC3E}">
        <p14:creationId xmlns:p14="http://schemas.microsoft.com/office/powerpoint/2010/main" val="2954356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2EC4A-530C-463F-95C3-E2EB00435C54}"/>
              </a:ext>
            </a:extLst>
          </p:cNvPr>
          <p:cNvSpPr>
            <a:spLocks noGrp="1"/>
          </p:cNvSpPr>
          <p:nvPr>
            <p:ph type="ctrTitle"/>
          </p:nvPr>
        </p:nvSpPr>
        <p:spPr>
          <a:xfrm>
            <a:off x="0" y="1122363"/>
            <a:ext cx="12192000" cy="2387600"/>
          </a:xfrm>
        </p:spPr>
        <p:txBody>
          <a:bodyPr anchor="b">
            <a:normAutofit/>
          </a:bodyPr>
          <a:lstStyle>
            <a:lvl1pPr algn="ctr">
              <a:defRPr sz="2000"/>
            </a:lvl1pPr>
          </a:lstStyle>
          <a:p>
            <a:r>
              <a:rPr lang="en-US"/>
              <a:t>Click to edit Master title style</a:t>
            </a:r>
            <a:endParaRPr lang="sr-Latn-BA"/>
          </a:p>
        </p:txBody>
      </p:sp>
      <p:sp>
        <p:nvSpPr>
          <p:cNvPr id="3" name="Subtitle 2">
            <a:extLst>
              <a:ext uri="{FF2B5EF4-FFF2-40B4-BE49-F238E27FC236}">
                <a16:creationId xmlns:a16="http://schemas.microsoft.com/office/drawing/2014/main" id="{9B50F2FB-FB41-4CB7-B03A-5A03DF9AD8C8}"/>
              </a:ext>
            </a:extLst>
          </p:cNvPr>
          <p:cNvSpPr>
            <a:spLocks noGrp="1"/>
          </p:cNvSpPr>
          <p:nvPr>
            <p:ph type="subTitle" idx="1"/>
          </p:nvPr>
        </p:nvSpPr>
        <p:spPr>
          <a:xfrm>
            <a:off x="0" y="3602038"/>
            <a:ext cx="12192000" cy="1655762"/>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r-Latn-BA"/>
          </a:p>
        </p:txBody>
      </p:sp>
      <p:sp>
        <p:nvSpPr>
          <p:cNvPr id="4" name="Date Placeholder 3">
            <a:extLst>
              <a:ext uri="{FF2B5EF4-FFF2-40B4-BE49-F238E27FC236}">
                <a16:creationId xmlns:a16="http://schemas.microsoft.com/office/drawing/2014/main" id="{4207C9BC-C56D-477A-97FE-CFFCD3C7E866}"/>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5" name="Footer Placeholder 4">
            <a:extLst>
              <a:ext uri="{FF2B5EF4-FFF2-40B4-BE49-F238E27FC236}">
                <a16:creationId xmlns:a16="http://schemas.microsoft.com/office/drawing/2014/main" id="{AB297633-7597-4227-917A-60CE0BBD647F}"/>
              </a:ext>
            </a:extLst>
          </p:cNvPr>
          <p:cNvSpPr>
            <a:spLocks noGrp="1"/>
          </p:cNvSpPr>
          <p:nvPr>
            <p:ph type="ftr" sz="quarter" idx="11"/>
          </p:nvPr>
        </p:nvSpPr>
        <p:spPr/>
        <p:txBody>
          <a:bodyPr/>
          <a:lstStyle/>
          <a:p>
            <a:endParaRPr lang="sr-Latn-BA"/>
          </a:p>
        </p:txBody>
      </p:sp>
      <p:sp>
        <p:nvSpPr>
          <p:cNvPr id="6" name="Slide Number Placeholder 5">
            <a:extLst>
              <a:ext uri="{FF2B5EF4-FFF2-40B4-BE49-F238E27FC236}">
                <a16:creationId xmlns:a16="http://schemas.microsoft.com/office/drawing/2014/main" id="{29353615-2017-4B2A-B6AA-D94E90ADA08E}"/>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2582484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AE6B-C71A-4C1B-A58B-DF561C68156D}"/>
              </a:ext>
            </a:extLst>
          </p:cNvPr>
          <p:cNvSpPr>
            <a:spLocks noGrp="1"/>
          </p:cNvSpPr>
          <p:nvPr>
            <p:ph type="title"/>
          </p:nvPr>
        </p:nvSpPr>
        <p:spPr/>
        <p:txBody>
          <a:bodyPr>
            <a:normAutofit/>
          </a:bodyPr>
          <a:lstStyle>
            <a:lvl1pPr>
              <a:defRPr sz="4000"/>
            </a:lvl1pPr>
          </a:lstStyle>
          <a:p>
            <a:r>
              <a:rPr lang="sr-Latn-BA" noProof="1"/>
              <a:t>Click to edit Master title style</a:t>
            </a:r>
          </a:p>
        </p:txBody>
      </p:sp>
      <p:sp>
        <p:nvSpPr>
          <p:cNvPr id="3" name="Content Placeholder 2">
            <a:extLst>
              <a:ext uri="{FF2B5EF4-FFF2-40B4-BE49-F238E27FC236}">
                <a16:creationId xmlns:a16="http://schemas.microsoft.com/office/drawing/2014/main" id="{DAFBBBB3-4680-44DA-ACD5-5037B1BA18DA}"/>
              </a:ext>
            </a:extLst>
          </p:cNvPr>
          <p:cNvSpPr>
            <a:spLocks noGrp="1"/>
          </p:cNvSpPr>
          <p:nvPr>
            <p:ph idx="1"/>
          </p:nvPr>
        </p:nvSpPr>
        <p:spPr/>
        <p:txBody>
          <a:bodyPr/>
          <a:lstStyle>
            <a:lvl1pPr>
              <a:spcBef>
                <a:spcPts val="600"/>
              </a:spcBef>
              <a:spcAft>
                <a:spcPts val="600"/>
              </a:spcAft>
              <a:defRPr/>
            </a:lvl1pPr>
            <a:lvl2pPr>
              <a:spcBef>
                <a:spcPts val="600"/>
              </a:spcBef>
              <a:spcAft>
                <a:spcPts val="600"/>
              </a:spcAft>
              <a:defRPr/>
            </a:lvl2pPr>
            <a:lvl3pPr>
              <a:spcBef>
                <a:spcPts val="600"/>
              </a:spcBef>
              <a:spcAft>
                <a:spcPts val="600"/>
              </a:spcAft>
              <a:defRPr/>
            </a:lvl3pPr>
            <a:lvl4pPr>
              <a:spcBef>
                <a:spcPts val="600"/>
              </a:spcBef>
              <a:spcAft>
                <a:spcPts val="600"/>
              </a:spcAft>
              <a:defRPr/>
            </a:lvl4pPr>
            <a:lvl5pPr>
              <a:spcBef>
                <a:spcPts val="600"/>
              </a:spcBef>
              <a:spcAft>
                <a:spcPts val="600"/>
              </a:spcAft>
              <a:defRPr/>
            </a:lvl5pPr>
          </a:lstStyle>
          <a:p>
            <a:pPr lvl="0"/>
            <a:r>
              <a:rPr lang="sr-Latn-BA" noProof="1"/>
              <a:t>Click to edit Master text styles</a:t>
            </a:r>
          </a:p>
          <a:p>
            <a:pPr lvl="1"/>
            <a:r>
              <a:rPr lang="sr-Latn-BA" noProof="1"/>
              <a:t>Second level</a:t>
            </a:r>
          </a:p>
          <a:p>
            <a:pPr lvl="2"/>
            <a:r>
              <a:rPr lang="sr-Latn-BA" noProof="1"/>
              <a:t>Third level</a:t>
            </a:r>
          </a:p>
          <a:p>
            <a:pPr lvl="3"/>
            <a:r>
              <a:rPr lang="sr-Latn-BA" noProof="1"/>
              <a:t>Fourth level</a:t>
            </a:r>
          </a:p>
          <a:p>
            <a:pPr lvl="4"/>
            <a:r>
              <a:rPr lang="sr-Latn-BA" noProof="1"/>
              <a:t>Fifth level</a:t>
            </a:r>
          </a:p>
        </p:txBody>
      </p:sp>
      <p:sp>
        <p:nvSpPr>
          <p:cNvPr id="4" name="Date Placeholder 3">
            <a:extLst>
              <a:ext uri="{FF2B5EF4-FFF2-40B4-BE49-F238E27FC236}">
                <a16:creationId xmlns:a16="http://schemas.microsoft.com/office/drawing/2014/main" id="{3066E18A-1FDA-44D6-B937-3EF8E8864DFA}"/>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5" name="Footer Placeholder 4">
            <a:extLst>
              <a:ext uri="{FF2B5EF4-FFF2-40B4-BE49-F238E27FC236}">
                <a16:creationId xmlns:a16="http://schemas.microsoft.com/office/drawing/2014/main" id="{34501DBF-6FC7-4132-B53C-5F39D5095AAD}"/>
              </a:ext>
            </a:extLst>
          </p:cNvPr>
          <p:cNvSpPr>
            <a:spLocks noGrp="1"/>
          </p:cNvSpPr>
          <p:nvPr>
            <p:ph type="ftr" sz="quarter" idx="11"/>
          </p:nvPr>
        </p:nvSpPr>
        <p:spPr/>
        <p:txBody>
          <a:bodyPr/>
          <a:lstStyle/>
          <a:p>
            <a:endParaRPr lang="sr-Latn-BA"/>
          </a:p>
        </p:txBody>
      </p:sp>
      <p:sp>
        <p:nvSpPr>
          <p:cNvPr id="6" name="Slide Number Placeholder 5">
            <a:extLst>
              <a:ext uri="{FF2B5EF4-FFF2-40B4-BE49-F238E27FC236}">
                <a16:creationId xmlns:a16="http://schemas.microsoft.com/office/drawing/2014/main" id="{B1EE1731-349D-4130-98EA-4572AFC971A4}"/>
              </a:ext>
            </a:extLst>
          </p:cNvPr>
          <p:cNvSpPr>
            <a:spLocks noGrp="1"/>
          </p:cNvSpPr>
          <p:nvPr>
            <p:ph type="sldNum" sz="quarter" idx="12"/>
          </p:nvPr>
        </p:nvSpPr>
        <p:spPr/>
        <p:txBody>
          <a:bodyPr/>
          <a:lstStyle/>
          <a:p>
            <a:fld id="{2C2DFDAE-3FB6-4066-9980-1E056AEB400A}" type="slidenum">
              <a:rPr lang="sr-Latn-BA" smtClean="0"/>
              <a:t>‹#›</a:t>
            </a:fld>
            <a:endParaRPr lang="sr-Latn-BA"/>
          </a:p>
        </p:txBody>
      </p:sp>
      <p:sp>
        <p:nvSpPr>
          <p:cNvPr id="7" name="Rectangle 6">
            <a:extLst>
              <a:ext uri="{FF2B5EF4-FFF2-40B4-BE49-F238E27FC236}">
                <a16:creationId xmlns:a16="http://schemas.microsoft.com/office/drawing/2014/main" id="{48AC23EB-4212-40AB-A49C-86B49E94DDA9}"/>
              </a:ext>
            </a:extLst>
          </p:cNvPr>
          <p:cNvSpPr/>
          <p:nvPr userDrawn="1"/>
        </p:nvSpPr>
        <p:spPr>
          <a:xfrm>
            <a:off x="933450" y="1463994"/>
            <a:ext cx="10515600" cy="45719"/>
          </a:xfrm>
          <a:prstGeom prst="rect">
            <a:avLst/>
          </a:prstGeom>
          <a:gradFill flip="none" rotWithShape="1">
            <a:gsLst>
              <a:gs pos="100000">
                <a:srgbClr val="FFDE57">
                  <a:alpha val="0"/>
                </a:srgbClr>
              </a:gs>
              <a:gs pos="0">
                <a:srgbClr val="FFC000">
                  <a:alpha val="99000"/>
                </a:srgbClr>
              </a:gs>
            </a:gsLst>
            <a:lin ang="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sr-Latn-BA"/>
          </a:p>
        </p:txBody>
      </p:sp>
    </p:spTree>
    <p:extLst>
      <p:ext uri="{BB962C8B-B14F-4D97-AF65-F5344CB8AC3E}">
        <p14:creationId xmlns:p14="http://schemas.microsoft.com/office/powerpoint/2010/main" val="1420773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02C5C-802F-45C9-B5A7-A66CC88D75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r-Latn-BA"/>
          </a:p>
        </p:txBody>
      </p:sp>
      <p:sp>
        <p:nvSpPr>
          <p:cNvPr id="3" name="Text Placeholder 2">
            <a:extLst>
              <a:ext uri="{FF2B5EF4-FFF2-40B4-BE49-F238E27FC236}">
                <a16:creationId xmlns:a16="http://schemas.microsoft.com/office/drawing/2014/main" id="{16CD4D21-891B-4BC8-83BE-8D9ABAF2C3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B8D756-69C0-4FE1-8D7F-B6230B1EF8DE}"/>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5" name="Footer Placeholder 4">
            <a:extLst>
              <a:ext uri="{FF2B5EF4-FFF2-40B4-BE49-F238E27FC236}">
                <a16:creationId xmlns:a16="http://schemas.microsoft.com/office/drawing/2014/main" id="{D315F3F9-7259-40E9-96FE-F4E653925E85}"/>
              </a:ext>
            </a:extLst>
          </p:cNvPr>
          <p:cNvSpPr>
            <a:spLocks noGrp="1"/>
          </p:cNvSpPr>
          <p:nvPr>
            <p:ph type="ftr" sz="quarter" idx="11"/>
          </p:nvPr>
        </p:nvSpPr>
        <p:spPr/>
        <p:txBody>
          <a:bodyPr/>
          <a:lstStyle/>
          <a:p>
            <a:endParaRPr lang="sr-Latn-BA"/>
          </a:p>
        </p:txBody>
      </p:sp>
      <p:sp>
        <p:nvSpPr>
          <p:cNvPr id="6" name="Slide Number Placeholder 5">
            <a:extLst>
              <a:ext uri="{FF2B5EF4-FFF2-40B4-BE49-F238E27FC236}">
                <a16:creationId xmlns:a16="http://schemas.microsoft.com/office/drawing/2014/main" id="{AC84AA99-9D3F-422E-A0DE-99DB6D297E01}"/>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285920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9217A-5537-4C89-AE43-B1A51A93DC08}"/>
              </a:ext>
            </a:extLst>
          </p:cNvPr>
          <p:cNvSpPr>
            <a:spLocks noGrp="1"/>
          </p:cNvSpPr>
          <p:nvPr>
            <p:ph type="title"/>
          </p:nvPr>
        </p:nvSpPr>
        <p:spPr/>
        <p:txBody>
          <a:bodyPr/>
          <a:lstStyle/>
          <a:p>
            <a:r>
              <a:rPr lang="en-US"/>
              <a:t>Click to edit Master title style</a:t>
            </a:r>
            <a:endParaRPr lang="sr-Latn-BA"/>
          </a:p>
        </p:txBody>
      </p:sp>
      <p:sp>
        <p:nvSpPr>
          <p:cNvPr id="3" name="Content Placeholder 2">
            <a:extLst>
              <a:ext uri="{FF2B5EF4-FFF2-40B4-BE49-F238E27FC236}">
                <a16:creationId xmlns:a16="http://schemas.microsoft.com/office/drawing/2014/main" id="{97C97AA8-87DF-437B-80B8-5DD7603DDB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4" name="Content Placeholder 3">
            <a:extLst>
              <a:ext uri="{FF2B5EF4-FFF2-40B4-BE49-F238E27FC236}">
                <a16:creationId xmlns:a16="http://schemas.microsoft.com/office/drawing/2014/main" id="{364D37DC-49FE-4401-9DF6-2AADCB7FD4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5" name="Date Placeholder 4">
            <a:extLst>
              <a:ext uri="{FF2B5EF4-FFF2-40B4-BE49-F238E27FC236}">
                <a16:creationId xmlns:a16="http://schemas.microsoft.com/office/drawing/2014/main" id="{6DEFC9D9-C154-43E0-A9D8-8B627632D2EE}"/>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6" name="Footer Placeholder 5">
            <a:extLst>
              <a:ext uri="{FF2B5EF4-FFF2-40B4-BE49-F238E27FC236}">
                <a16:creationId xmlns:a16="http://schemas.microsoft.com/office/drawing/2014/main" id="{BB967D34-A195-4FF5-AB5A-F1876AFCDFE2}"/>
              </a:ext>
            </a:extLst>
          </p:cNvPr>
          <p:cNvSpPr>
            <a:spLocks noGrp="1"/>
          </p:cNvSpPr>
          <p:nvPr>
            <p:ph type="ftr" sz="quarter" idx="11"/>
          </p:nvPr>
        </p:nvSpPr>
        <p:spPr/>
        <p:txBody>
          <a:bodyPr/>
          <a:lstStyle/>
          <a:p>
            <a:endParaRPr lang="sr-Latn-BA"/>
          </a:p>
        </p:txBody>
      </p:sp>
      <p:sp>
        <p:nvSpPr>
          <p:cNvPr id="7" name="Slide Number Placeholder 6">
            <a:extLst>
              <a:ext uri="{FF2B5EF4-FFF2-40B4-BE49-F238E27FC236}">
                <a16:creationId xmlns:a16="http://schemas.microsoft.com/office/drawing/2014/main" id="{4BDF3D23-EC8C-495A-880C-29723E0B3250}"/>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1638039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6ED45-B90A-476B-9501-68530843729A}"/>
              </a:ext>
            </a:extLst>
          </p:cNvPr>
          <p:cNvSpPr>
            <a:spLocks noGrp="1"/>
          </p:cNvSpPr>
          <p:nvPr>
            <p:ph type="title"/>
          </p:nvPr>
        </p:nvSpPr>
        <p:spPr>
          <a:xfrm>
            <a:off x="839788" y="365125"/>
            <a:ext cx="10515600" cy="1325563"/>
          </a:xfrm>
        </p:spPr>
        <p:txBody>
          <a:bodyPr/>
          <a:lstStyle/>
          <a:p>
            <a:r>
              <a:rPr lang="en-US"/>
              <a:t>Click to edit Master title style</a:t>
            </a:r>
            <a:endParaRPr lang="sr-Latn-BA"/>
          </a:p>
        </p:txBody>
      </p:sp>
      <p:sp>
        <p:nvSpPr>
          <p:cNvPr id="3" name="Text Placeholder 2">
            <a:extLst>
              <a:ext uri="{FF2B5EF4-FFF2-40B4-BE49-F238E27FC236}">
                <a16:creationId xmlns:a16="http://schemas.microsoft.com/office/drawing/2014/main" id="{8D90B1D3-CF4B-48B6-B952-4B98A965A8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B77671-83D4-4347-BCDC-9109ACDB5D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5" name="Text Placeholder 4">
            <a:extLst>
              <a:ext uri="{FF2B5EF4-FFF2-40B4-BE49-F238E27FC236}">
                <a16:creationId xmlns:a16="http://schemas.microsoft.com/office/drawing/2014/main" id="{96B3D430-A307-4FC4-AF36-E73C3294A6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14753-39D8-4E10-8387-6D73E8E9AF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7" name="Date Placeholder 6">
            <a:extLst>
              <a:ext uri="{FF2B5EF4-FFF2-40B4-BE49-F238E27FC236}">
                <a16:creationId xmlns:a16="http://schemas.microsoft.com/office/drawing/2014/main" id="{4E9E62E2-35A8-41BA-9063-163C68B7B32D}"/>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8" name="Footer Placeholder 7">
            <a:extLst>
              <a:ext uri="{FF2B5EF4-FFF2-40B4-BE49-F238E27FC236}">
                <a16:creationId xmlns:a16="http://schemas.microsoft.com/office/drawing/2014/main" id="{400AAF9C-9B04-40AE-AE6B-BACB4231CC0D}"/>
              </a:ext>
            </a:extLst>
          </p:cNvPr>
          <p:cNvSpPr>
            <a:spLocks noGrp="1"/>
          </p:cNvSpPr>
          <p:nvPr>
            <p:ph type="ftr" sz="quarter" idx="11"/>
          </p:nvPr>
        </p:nvSpPr>
        <p:spPr/>
        <p:txBody>
          <a:bodyPr/>
          <a:lstStyle/>
          <a:p>
            <a:endParaRPr lang="sr-Latn-BA"/>
          </a:p>
        </p:txBody>
      </p:sp>
      <p:sp>
        <p:nvSpPr>
          <p:cNvPr id="9" name="Slide Number Placeholder 8">
            <a:extLst>
              <a:ext uri="{FF2B5EF4-FFF2-40B4-BE49-F238E27FC236}">
                <a16:creationId xmlns:a16="http://schemas.microsoft.com/office/drawing/2014/main" id="{0EE9DC54-993B-4AB1-BA6A-0D338220791B}"/>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97183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22C3-DC86-4EBD-874B-B826EAA0E17E}"/>
              </a:ext>
            </a:extLst>
          </p:cNvPr>
          <p:cNvSpPr>
            <a:spLocks noGrp="1"/>
          </p:cNvSpPr>
          <p:nvPr>
            <p:ph type="title"/>
          </p:nvPr>
        </p:nvSpPr>
        <p:spPr/>
        <p:txBody>
          <a:bodyPr/>
          <a:lstStyle/>
          <a:p>
            <a:r>
              <a:rPr lang="en-US"/>
              <a:t>Click to edit Master title style</a:t>
            </a:r>
            <a:endParaRPr lang="sr-Latn-BA"/>
          </a:p>
        </p:txBody>
      </p:sp>
      <p:sp>
        <p:nvSpPr>
          <p:cNvPr id="3" name="Date Placeholder 2">
            <a:extLst>
              <a:ext uri="{FF2B5EF4-FFF2-40B4-BE49-F238E27FC236}">
                <a16:creationId xmlns:a16="http://schemas.microsoft.com/office/drawing/2014/main" id="{C015E63F-D50E-431E-A45B-D5330EABCB5F}"/>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4" name="Footer Placeholder 3">
            <a:extLst>
              <a:ext uri="{FF2B5EF4-FFF2-40B4-BE49-F238E27FC236}">
                <a16:creationId xmlns:a16="http://schemas.microsoft.com/office/drawing/2014/main" id="{9C391840-A27B-4A34-9C77-6E1C1EE896E6}"/>
              </a:ext>
            </a:extLst>
          </p:cNvPr>
          <p:cNvSpPr>
            <a:spLocks noGrp="1"/>
          </p:cNvSpPr>
          <p:nvPr>
            <p:ph type="ftr" sz="quarter" idx="11"/>
          </p:nvPr>
        </p:nvSpPr>
        <p:spPr/>
        <p:txBody>
          <a:bodyPr/>
          <a:lstStyle/>
          <a:p>
            <a:endParaRPr lang="sr-Latn-BA"/>
          </a:p>
        </p:txBody>
      </p:sp>
      <p:sp>
        <p:nvSpPr>
          <p:cNvPr id="5" name="Slide Number Placeholder 4">
            <a:extLst>
              <a:ext uri="{FF2B5EF4-FFF2-40B4-BE49-F238E27FC236}">
                <a16:creationId xmlns:a16="http://schemas.microsoft.com/office/drawing/2014/main" id="{A497B2B0-78A3-4BD8-A3B7-8FB4C0FC32AD}"/>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4113186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D03290-8FD0-4E42-938A-6FB02797C84E}"/>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3" name="Footer Placeholder 2">
            <a:extLst>
              <a:ext uri="{FF2B5EF4-FFF2-40B4-BE49-F238E27FC236}">
                <a16:creationId xmlns:a16="http://schemas.microsoft.com/office/drawing/2014/main" id="{75D01556-0B01-464D-9EBB-8CD71E05E904}"/>
              </a:ext>
            </a:extLst>
          </p:cNvPr>
          <p:cNvSpPr>
            <a:spLocks noGrp="1"/>
          </p:cNvSpPr>
          <p:nvPr>
            <p:ph type="ftr" sz="quarter" idx="11"/>
          </p:nvPr>
        </p:nvSpPr>
        <p:spPr/>
        <p:txBody>
          <a:bodyPr/>
          <a:lstStyle/>
          <a:p>
            <a:endParaRPr lang="sr-Latn-BA"/>
          </a:p>
        </p:txBody>
      </p:sp>
      <p:sp>
        <p:nvSpPr>
          <p:cNvPr id="4" name="Slide Number Placeholder 3">
            <a:extLst>
              <a:ext uri="{FF2B5EF4-FFF2-40B4-BE49-F238E27FC236}">
                <a16:creationId xmlns:a16="http://schemas.microsoft.com/office/drawing/2014/main" id="{5E93B4E8-9982-4B39-BDE3-D07863F72F0D}"/>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3482704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FFCB2-3647-434C-8BB7-A00DA40A0D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r-Latn-BA"/>
          </a:p>
        </p:txBody>
      </p:sp>
      <p:sp>
        <p:nvSpPr>
          <p:cNvPr id="3" name="Content Placeholder 2">
            <a:extLst>
              <a:ext uri="{FF2B5EF4-FFF2-40B4-BE49-F238E27FC236}">
                <a16:creationId xmlns:a16="http://schemas.microsoft.com/office/drawing/2014/main" id="{5F73C51B-018A-4F2A-A6E2-8DA84A2990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4" name="Text Placeholder 3">
            <a:extLst>
              <a:ext uri="{FF2B5EF4-FFF2-40B4-BE49-F238E27FC236}">
                <a16:creationId xmlns:a16="http://schemas.microsoft.com/office/drawing/2014/main" id="{91DE0313-A0E0-4F8C-B24A-C5C00AB21A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E64951-3CC5-403E-A700-6C271D590B50}"/>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6" name="Footer Placeholder 5">
            <a:extLst>
              <a:ext uri="{FF2B5EF4-FFF2-40B4-BE49-F238E27FC236}">
                <a16:creationId xmlns:a16="http://schemas.microsoft.com/office/drawing/2014/main" id="{7982A1CB-6BB8-44FC-ACE6-A6CEBD1CA364}"/>
              </a:ext>
            </a:extLst>
          </p:cNvPr>
          <p:cNvSpPr>
            <a:spLocks noGrp="1"/>
          </p:cNvSpPr>
          <p:nvPr>
            <p:ph type="ftr" sz="quarter" idx="11"/>
          </p:nvPr>
        </p:nvSpPr>
        <p:spPr/>
        <p:txBody>
          <a:bodyPr/>
          <a:lstStyle/>
          <a:p>
            <a:endParaRPr lang="sr-Latn-BA"/>
          </a:p>
        </p:txBody>
      </p:sp>
      <p:sp>
        <p:nvSpPr>
          <p:cNvPr id="7" name="Slide Number Placeholder 6">
            <a:extLst>
              <a:ext uri="{FF2B5EF4-FFF2-40B4-BE49-F238E27FC236}">
                <a16:creationId xmlns:a16="http://schemas.microsoft.com/office/drawing/2014/main" id="{F6BC08A5-ED43-4EDF-926D-490BF1822E29}"/>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3853509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E8B8-D8DA-4F20-877A-41C277D406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r-Latn-BA"/>
          </a:p>
        </p:txBody>
      </p:sp>
      <p:sp>
        <p:nvSpPr>
          <p:cNvPr id="3" name="Picture Placeholder 2">
            <a:extLst>
              <a:ext uri="{FF2B5EF4-FFF2-40B4-BE49-F238E27FC236}">
                <a16:creationId xmlns:a16="http://schemas.microsoft.com/office/drawing/2014/main" id="{E06A4D4B-63A4-4C27-81E9-36D821E74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r-Latn-BA"/>
          </a:p>
        </p:txBody>
      </p:sp>
      <p:sp>
        <p:nvSpPr>
          <p:cNvPr id="4" name="Text Placeholder 3">
            <a:extLst>
              <a:ext uri="{FF2B5EF4-FFF2-40B4-BE49-F238E27FC236}">
                <a16:creationId xmlns:a16="http://schemas.microsoft.com/office/drawing/2014/main" id="{BB5ED0FE-09BE-4D94-9AB8-57D43FC34A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FC025-7C63-42D3-91DD-E6C585C0CFE0}"/>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6" name="Footer Placeholder 5">
            <a:extLst>
              <a:ext uri="{FF2B5EF4-FFF2-40B4-BE49-F238E27FC236}">
                <a16:creationId xmlns:a16="http://schemas.microsoft.com/office/drawing/2014/main" id="{24448971-22F4-47DF-AB2D-F5AC4043A9AB}"/>
              </a:ext>
            </a:extLst>
          </p:cNvPr>
          <p:cNvSpPr>
            <a:spLocks noGrp="1"/>
          </p:cNvSpPr>
          <p:nvPr>
            <p:ph type="ftr" sz="quarter" idx="11"/>
          </p:nvPr>
        </p:nvSpPr>
        <p:spPr/>
        <p:txBody>
          <a:bodyPr/>
          <a:lstStyle/>
          <a:p>
            <a:endParaRPr lang="sr-Latn-BA"/>
          </a:p>
        </p:txBody>
      </p:sp>
      <p:sp>
        <p:nvSpPr>
          <p:cNvPr id="7" name="Slide Number Placeholder 6">
            <a:extLst>
              <a:ext uri="{FF2B5EF4-FFF2-40B4-BE49-F238E27FC236}">
                <a16:creationId xmlns:a16="http://schemas.microsoft.com/office/drawing/2014/main" id="{AEB6BC86-F3B4-4339-B9A3-22AE1353F9F9}"/>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1619652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A0868-CD47-4812-86AD-CA040F940782}"/>
              </a:ext>
            </a:extLst>
          </p:cNvPr>
          <p:cNvSpPr>
            <a:spLocks noGrp="1"/>
          </p:cNvSpPr>
          <p:nvPr>
            <p:ph type="title"/>
          </p:nvPr>
        </p:nvSpPr>
        <p:spPr/>
        <p:txBody>
          <a:bodyPr/>
          <a:lstStyle/>
          <a:p>
            <a:r>
              <a:rPr lang="en-US"/>
              <a:t>Click to edit Master title style</a:t>
            </a:r>
            <a:endParaRPr lang="sr-Latn-BA"/>
          </a:p>
        </p:txBody>
      </p:sp>
      <p:sp>
        <p:nvSpPr>
          <p:cNvPr id="3" name="Vertical Text Placeholder 2">
            <a:extLst>
              <a:ext uri="{FF2B5EF4-FFF2-40B4-BE49-F238E27FC236}">
                <a16:creationId xmlns:a16="http://schemas.microsoft.com/office/drawing/2014/main" id="{08F1463F-30CC-45E2-A399-A3766663F1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4" name="Date Placeholder 3">
            <a:extLst>
              <a:ext uri="{FF2B5EF4-FFF2-40B4-BE49-F238E27FC236}">
                <a16:creationId xmlns:a16="http://schemas.microsoft.com/office/drawing/2014/main" id="{E492760F-BEDA-4D12-BA74-AD403B2BF651}"/>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5" name="Footer Placeholder 4">
            <a:extLst>
              <a:ext uri="{FF2B5EF4-FFF2-40B4-BE49-F238E27FC236}">
                <a16:creationId xmlns:a16="http://schemas.microsoft.com/office/drawing/2014/main" id="{A41A38AC-C8FC-466C-B3F2-9E14F5F43B45}"/>
              </a:ext>
            </a:extLst>
          </p:cNvPr>
          <p:cNvSpPr>
            <a:spLocks noGrp="1"/>
          </p:cNvSpPr>
          <p:nvPr>
            <p:ph type="ftr" sz="quarter" idx="11"/>
          </p:nvPr>
        </p:nvSpPr>
        <p:spPr/>
        <p:txBody>
          <a:bodyPr/>
          <a:lstStyle/>
          <a:p>
            <a:endParaRPr lang="sr-Latn-BA"/>
          </a:p>
        </p:txBody>
      </p:sp>
      <p:sp>
        <p:nvSpPr>
          <p:cNvPr id="6" name="Slide Number Placeholder 5">
            <a:extLst>
              <a:ext uri="{FF2B5EF4-FFF2-40B4-BE49-F238E27FC236}">
                <a16:creationId xmlns:a16="http://schemas.microsoft.com/office/drawing/2014/main" id="{3D845C5E-0437-404A-840F-85FC067A81D7}"/>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8012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B052A9-9741-4C79-93A6-E0571DAFCF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sr-Latn-BA"/>
          </a:p>
        </p:txBody>
      </p:sp>
      <p:sp>
        <p:nvSpPr>
          <p:cNvPr id="3" name="Vertical Text Placeholder 2">
            <a:extLst>
              <a:ext uri="{FF2B5EF4-FFF2-40B4-BE49-F238E27FC236}">
                <a16:creationId xmlns:a16="http://schemas.microsoft.com/office/drawing/2014/main" id="{C8B455A5-BA97-48B5-AF75-45E4653B97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4" name="Date Placeholder 3">
            <a:extLst>
              <a:ext uri="{FF2B5EF4-FFF2-40B4-BE49-F238E27FC236}">
                <a16:creationId xmlns:a16="http://schemas.microsoft.com/office/drawing/2014/main" id="{51C10C1F-031A-46D2-8B94-22F0BAEC4228}"/>
              </a:ext>
            </a:extLst>
          </p:cNvPr>
          <p:cNvSpPr>
            <a:spLocks noGrp="1"/>
          </p:cNvSpPr>
          <p:nvPr>
            <p:ph type="dt" sz="half" idx="10"/>
          </p:nvPr>
        </p:nvSpPr>
        <p:spPr/>
        <p:txBody>
          <a:bodyPr/>
          <a:lstStyle/>
          <a:p>
            <a:fld id="{870DB40B-0DB3-4FC3-BBF9-685DF91EB901}" type="datetimeFigureOut">
              <a:rPr lang="sr-Latn-BA" smtClean="0"/>
              <a:t>12.3.2025.</a:t>
            </a:fld>
            <a:endParaRPr lang="sr-Latn-BA"/>
          </a:p>
        </p:txBody>
      </p:sp>
      <p:sp>
        <p:nvSpPr>
          <p:cNvPr id="5" name="Footer Placeholder 4">
            <a:extLst>
              <a:ext uri="{FF2B5EF4-FFF2-40B4-BE49-F238E27FC236}">
                <a16:creationId xmlns:a16="http://schemas.microsoft.com/office/drawing/2014/main" id="{C5B996DB-0E9D-4F0B-881F-07854D84D7C1}"/>
              </a:ext>
            </a:extLst>
          </p:cNvPr>
          <p:cNvSpPr>
            <a:spLocks noGrp="1"/>
          </p:cNvSpPr>
          <p:nvPr>
            <p:ph type="ftr" sz="quarter" idx="11"/>
          </p:nvPr>
        </p:nvSpPr>
        <p:spPr/>
        <p:txBody>
          <a:bodyPr/>
          <a:lstStyle/>
          <a:p>
            <a:endParaRPr lang="sr-Latn-BA"/>
          </a:p>
        </p:txBody>
      </p:sp>
      <p:sp>
        <p:nvSpPr>
          <p:cNvPr id="6" name="Slide Number Placeholder 5">
            <a:extLst>
              <a:ext uri="{FF2B5EF4-FFF2-40B4-BE49-F238E27FC236}">
                <a16:creationId xmlns:a16="http://schemas.microsoft.com/office/drawing/2014/main" id="{D2B370F0-CFEF-4B8D-B5F2-C5A7E30C81F9}"/>
              </a:ext>
            </a:extLst>
          </p:cNvPr>
          <p:cNvSpPr>
            <a:spLocks noGrp="1"/>
          </p:cNvSpPr>
          <p:nvPr>
            <p:ph type="sldNum" sz="quarter" idx="12"/>
          </p:nvPr>
        </p:nvSpPr>
        <p:spPr/>
        <p:txBody>
          <a:bodyPr/>
          <a:lstStyle/>
          <a:p>
            <a:fld id="{2C2DFDAE-3FB6-4066-9980-1E056AEB400A}" type="slidenum">
              <a:rPr lang="sr-Latn-BA" smtClean="0"/>
              <a:t>‹#›</a:t>
            </a:fld>
            <a:endParaRPr lang="sr-Latn-BA"/>
          </a:p>
        </p:txBody>
      </p:sp>
    </p:spTree>
    <p:extLst>
      <p:ext uri="{BB962C8B-B14F-4D97-AF65-F5344CB8AC3E}">
        <p14:creationId xmlns:p14="http://schemas.microsoft.com/office/powerpoint/2010/main" val="2784871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416CCB-F5F3-44D3-B67D-79D4DFD72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r-Latn-BA"/>
          </a:p>
        </p:txBody>
      </p:sp>
      <p:sp>
        <p:nvSpPr>
          <p:cNvPr id="3" name="Text Placeholder 2">
            <a:extLst>
              <a:ext uri="{FF2B5EF4-FFF2-40B4-BE49-F238E27FC236}">
                <a16:creationId xmlns:a16="http://schemas.microsoft.com/office/drawing/2014/main" id="{5E84F06D-072A-459E-9020-B40920A97C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BA"/>
          </a:p>
        </p:txBody>
      </p:sp>
      <p:sp>
        <p:nvSpPr>
          <p:cNvPr id="4" name="Date Placeholder 3">
            <a:extLst>
              <a:ext uri="{FF2B5EF4-FFF2-40B4-BE49-F238E27FC236}">
                <a16:creationId xmlns:a16="http://schemas.microsoft.com/office/drawing/2014/main" id="{CA4B6AF4-DB71-41A3-9FE7-E3FA462CB3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0DB40B-0DB3-4FC3-BBF9-685DF91EB901}" type="datetimeFigureOut">
              <a:rPr lang="sr-Latn-BA" smtClean="0"/>
              <a:t>12.3.2025.</a:t>
            </a:fld>
            <a:endParaRPr lang="sr-Latn-BA"/>
          </a:p>
        </p:txBody>
      </p:sp>
      <p:sp>
        <p:nvSpPr>
          <p:cNvPr id="5" name="Footer Placeholder 4">
            <a:extLst>
              <a:ext uri="{FF2B5EF4-FFF2-40B4-BE49-F238E27FC236}">
                <a16:creationId xmlns:a16="http://schemas.microsoft.com/office/drawing/2014/main" id="{6255A537-F9E8-4434-8B77-90DE4D90CB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r-Latn-BA"/>
          </a:p>
        </p:txBody>
      </p:sp>
      <p:sp>
        <p:nvSpPr>
          <p:cNvPr id="6" name="Slide Number Placeholder 5">
            <a:extLst>
              <a:ext uri="{FF2B5EF4-FFF2-40B4-BE49-F238E27FC236}">
                <a16:creationId xmlns:a16="http://schemas.microsoft.com/office/drawing/2014/main" id="{F2C32ECE-36A6-4823-A12A-0712EB7F34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2DFDAE-3FB6-4066-9980-1E056AEB400A}" type="slidenum">
              <a:rPr lang="sr-Latn-BA" smtClean="0"/>
              <a:t>‹#›</a:t>
            </a:fld>
            <a:endParaRPr lang="sr-Latn-BA"/>
          </a:p>
        </p:txBody>
      </p:sp>
    </p:spTree>
    <p:extLst>
      <p:ext uri="{BB962C8B-B14F-4D97-AF65-F5344CB8AC3E}">
        <p14:creationId xmlns:p14="http://schemas.microsoft.com/office/powerpoint/2010/main" val="1048952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5D54A-1EF9-4411-9599-80FE8C1B12A2}"/>
              </a:ext>
            </a:extLst>
          </p:cNvPr>
          <p:cNvSpPr>
            <a:spLocks noGrp="1"/>
          </p:cNvSpPr>
          <p:nvPr>
            <p:ph type="ctrTitle"/>
          </p:nvPr>
        </p:nvSpPr>
        <p:spPr>
          <a:xfrm>
            <a:off x="1" y="801541"/>
            <a:ext cx="12192000" cy="2451347"/>
          </a:xfrm>
        </p:spPr>
        <p:txBody>
          <a:bodyPr/>
          <a:lstStyle/>
          <a:p>
            <a:r>
              <a:rPr lang="sr-Latn-BA" b="1"/>
              <a:t>Formalne metode u softverskom inženjerstvu</a:t>
            </a:r>
          </a:p>
        </p:txBody>
      </p:sp>
      <p:sp>
        <p:nvSpPr>
          <p:cNvPr id="3" name="Subtitle 2">
            <a:extLst>
              <a:ext uri="{FF2B5EF4-FFF2-40B4-BE49-F238E27FC236}">
                <a16:creationId xmlns:a16="http://schemas.microsoft.com/office/drawing/2014/main" id="{8035EEB5-5D68-4E7E-B791-D67A4F98FCC3}"/>
              </a:ext>
            </a:extLst>
          </p:cNvPr>
          <p:cNvSpPr>
            <a:spLocks noGrp="1"/>
          </p:cNvSpPr>
          <p:nvPr>
            <p:ph type="subTitle" idx="1"/>
          </p:nvPr>
        </p:nvSpPr>
        <p:spPr>
          <a:xfrm>
            <a:off x="0" y="3431098"/>
            <a:ext cx="12191999" cy="1616978"/>
          </a:xfrm>
        </p:spPr>
        <p:txBody>
          <a:bodyPr/>
          <a:lstStyle/>
          <a:p>
            <a:r>
              <a:rPr lang="en-US" b="1"/>
              <a:t>Zna</a:t>
            </a:r>
            <a:r>
              <a:rPr lang="sr-Latn-BA" b="1"/>
              <a:t>čajni problemi u </a:t>
            </a:r>
            <a:r>
              <a:rPr lang="en-US" b="1"/>
              <a:t>ra</a:t>
            </a:r>
            <a:r>
              <a:rPr lang="sr-Latn-BA" b="1"/>
              <a:t>čunarstvu</a:t>
            </a:r>
          </a:p>
        </p:txBody>
      </p:sp>
    </p:spTree>
    <p:extLst>
      <p:ext uri="{BB962C8B-B14F-4D97-AF65-F5344CB8AC3E}">
        <p14:creationId xmlns:p14="http://schemas.microsoft.com/office/powerpoint/2010/main" val="426644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D04B-0A9A-E27F-A1FC-9BD1F5BE47FA}"/>
              </a:ext>
            </a:extLst>
          </p:cNvPr>
          <p:cNvSpPr>
            <a:spLocks noGrp="1"/>
          </p:cNvSpPr>
          <p:nvPr>
            <p:ph type="title"/>
          </p:nvPr>
        </p:nvSpPr>
        <p:spPr/>
        <p:txBody>
          <a:bodyPr/>
          <a:lstStyle/>
          <a:p>
            <a:r>
              <a:rPr lang="sr-Latn-BA"/>
              <a:t>Problemi</a:t>
            </a:r>
            <a:r>
              <a:rPr lang="en-US"/>
              <a:t> izra</a:t>
            </a:r>
            <a:r>
              <a:rPr lang="sr-Latn-BA"/>
              <a:t>čunavanja</a:t>
            </a:r>
            <a:endParaRPr lang="en-US"/>
          </a:p>
        </p:txBody>
      </p:sp>
      <p:sp>
        <p:nvSpPr>
          <p:cNvPr id="4" name="Content Placeholder 2">
            <a:extLst>
              <a:ext uri="{FF2B5EF4-FFF2-40B4-BE49-F238E27FC236}">
                <a16:creationId xmlns:a16="http://schemas.microsoft.com/office/drawing/2014/main" id="{5D2438A4-4803-7F62-BB7A-4D687A347976}"/>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60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sr-Latn-BA" b="1"/>
              <a:t>Specifikacija problema</a:t>
            </a:r>
            <a:r>
              <a:rPr lang="sr-Latn-BA"/>
              <a:t>: postavka, </a:t>
            </a:r>
            <a:r>
              <a:rPr lang="en-US"/>
              <a:t>opis </a:t>
            </a:r>
            <a:r>
              <a:rPr lang="sr-Latn-BA"/>
              <a:t>ulaz</a:t>
            </a:r>
            <a:r>
              <a:rPr lang="en-US"/>
              <a:t>a</a:t>
            </a:r>
            <a:r>
              <a:rPr lang="sr-Latn-BA"/>
              <a:t>, opis izlaza i ograničenja.</a:t>
            </a:r>
          </a:p>
          <a:p>
            <a:pPr algn="just"/>
            <a:r>
              <a:rPr lang="sr-Latn-BA" b="1"/>
              <a:t>Instanca problema</a:t>
            </a:r>
            <a:r>
              <a:rPr lang="sr-Latn-BA"/>
              <a:t> </a:t>
            </a:r>
            <a:r>
              <a:rPr lang="en-US"/>
              <a:t>je problem sa konkretnim specifikovanim ulazima.</a:t>
            </a:r>
            <a:endParaRPr lang="sr-Latn-BA"/>
          </a:p>
          <a:p>
            <a:pPr algn="just"/>
            <a:r>
              <a:rPr lang="sr-Latn-BA"/>
              <a:t>Navikli smo da probleme rješavamo </a:t>
            </a:r>
            <a:r>
              <a:rPr lang="sr-Latn-BA" b="1"/>
              <a:t>algoritmom</a:t>
            </a:r>
            <a:r>
              <a:rPr lang="sr-Latn-BA"/>
              <a:t> (</a:t>
            </a:r>
            <a:r>
              <a:rPr lang="sr-Latn-BA" b="1"/>
              <a:t>programom</a:t>
            </a:r>
            <a:r>
              <a:rPr lang="sr-Latn-BA"/>
              <a:t>).</a:t>
            </a:r>
          </a:p>
          <a:p>
            <a:pPr algn="just"/>
            <a:r>
              <a:rPr lang="sr-Latn-BA"/>
              <a:t>Da li su svi problemi rješivi algoritmom</a:t>
            </a:r>
            <a:r>
              <a:rPr lang="en-US"/>
              <a:t>?</a:t>
            </a:r>
          </a:p>
        </p:txBody>
      </p:sp>
    </p:spTree>
    <p:extLst>
      <p:ext uri="{BB962C8B-B14F-4D97-AF65-F5344CB8AC3E}">
        <p14:creationId xmlns:p14="http://schemas.microsoft.com/office/powerpoint/2010/main" val="316489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D04B-0A9A-E27F-A1FC-9BD1F5BE47FA}"/>
              </a:ext>
            </a:extLst>
          </p:cNvPr>
          <p:cNvSpPr>
            <a:spLocks noGrp="1"/>
          </p:cNvSpPr>
          <p:nvPr>
            <p:ph type="title"/>
          </p:nvPr>
        </p:nvSpPr>
        <p:spPr/>
        <p:txBody>
          <a:bodyPr/>
          <a:lstStyle/>
          <a:p>
            <a:r>
              <a:rPr lang="sr-Latn-BA"/>
              <a:t>Relacija enkodovanja</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B97FB0-613A-0A51-7A02-9CC682028258}"/>
                  </a:ext>
                </a:extLst>
              </p:cNvPr>
              <p:cNvSpPr>
                <a:spLocks noGrp="1"/>
              </p:cNvSpPr>
              <p:nvPr>
                <p:ph idx="1"/>
              </p:nvPr>
            </p:nvSpPr>
            <p:spPr/>
            <p:txBody>
              <a:bodyPr>
                <a:normAutofit fontScale="92500" lnSpcReduction="10000"/>
              </a:bodyPr>
              <a:lstStyle/>
              <a:p>
                <a:pPr algn="just"/>
                <a:r>
                  <a:rPr lang="en-US"/>
                  <a:t>Sa </a:t>
                </a:r>
                <a14:m>
                  <m:oMath xmlns:m="http://schemas.openxmlformats.org/officeDocument/2006/math">
                    <m:r>
                      <a:rPr lang="en-US" i="1" smtClean="0">
                        <a:latin typeface="Cambria Math" panose="02040503050406030204" pitchFamily="18" charset="0"/>
                      </a:rPr>
                      <m:t>&lt;</m:t>
                    </m:r>
                    <m:r>
                      <a:rPr lang="en-US" b="0" i="1" smtClean="0">
                        <a:latin typeface="Cambria Math" panose="02040503050406030204" pitchFamily="18" charset="0"/>
                      </a:rPr>
                      <m:t>𝑥</m:t>
                    </m:r>
                    <m:r>
                      <a:rPr lang="en-US" i="1" smtClean="0">
                        <a:latin typeface="Cambria Math" panose="02040503050406030204" pitchFamily="18" charset="0"/>
                      </a:rPr>
                      <m:t>&gt;</m:t>
                    </m:r>
                  </m:oMath>
                </a14:m>
                <a:r>
                  <a:rPr lang="en-US"/>
                  <a:t> predstavljamo </a:t>
                </a:r>
                <a:r>
                  <a:rPr lang="sr-Latn-BA" b="1"/>
                  <a:t>string </a:t>
                </a:r>
                <a:r>
                  <a:rPr lang="en-US" b="1"/>
                  <a:t>reprezentaciju</a:t>
                </a:r>
                <a:r>
                  <a:rPr lang="sr-Latn-BA" b="1"/>
                  <a:t> </a:t>
                </a:r>
                <a:r>
                  <a:rPr lang="en-US"/>
                  <a:t>objekta enkodovanog pomo</a:t>
                </a:r>
                <a:r>
                  <a:rPr lang="sr-Latn-BA"/>
                  <a:t>ću nekog alfabeta (npr. unarno, binarno, heks., ASCII itd.).</a:t>
                </a:r>
              </a:p>
              <a:p>
                <a:pPr algn="just"/>
                <a:r>
                  <a:rPr lang="en-US"/>
                  <a:t>Neka su </a:t>
                </a:r>
                <a14:m>
                  <m:oMath xmlns:m="http://schemas.openxmlformats.org/officeDocument/2006/math">
                    <m:r>
                      <a:rPr lang="en-US" b="0" i="1" smtClean="0">
                        <a:latin typeface="Cambria Math" panose="02040503050406030204" pitchFamily="18" charset="0"/>
                      </a:rPr>
                      <m:t>𝑆</m:t>
                    </m:r>
                  </m:oMath>
                </a14:m>
                <a:r>
                  <a:rPr lang="en-US"/>
                  <a:t> skup i </a:t>
                </a:r>
                <a14:m>
                  <m:oMath xmlns:m="http://schemas.openxmlformats.org/officeDocument/2006/math">
                    <m:r>
                      <m:rPr>
                        <m:sty m:val="p"/>
                      </m:rPr>
                      <a:rPr lang="en-US" b="0" i="0" smtClean="0">
                        <a:latin typeface="Cambria Math" panose="02040503050406030204" pitchFamily="18" charset="0"/>
                      </a:rPr>
                      <m:t>Σ</m:t>
                    </m:r>
                  </m:oMath>
                </a14:m>
                <a:r>
                  <a:rPr lang="en-US"/>
                  <a:t> alfabet. </a:t>
                </a:r>
              </a:p>
              <a:p>
                <a:pPr algn="just"/>
                <a:r>
                  <a:rPr lang="sr-Latn-BA"/>
                  <a:t>Relacij</a:t>
                </a:r>
                <a:r>
                  <a:rPr lang="en-US"/>
                  <a:t>u </a:t>
                </a:r>
                <a:r>
                  <a:rPr lang="sr-Latn-BA"/>
                  <a:t>„</a:t>
                </a:r>
                <a:r>
                  <a:rPr lang="sr-Latn-BA" b="1"/>
                  <a:t>se može enkodovati kao</a:t>
                </a:r>
                <a:r>
                  <a:rPr lang="sr-Latn-BA"/>
                  <a:t>“, </a:t>
                </a:r>
                <a14:m>
                  <m:oMath xmlns:m="http://schemas.openxmlformats.org/officeDocument/2006/math">
                    <m:r>
                      <a:rPr lang="sr-Latn-BA"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𝑆</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Σ</m:t>
                        </m:r>
                      </m:e>
                      <m:sup>
                        <m:r>
                          <a:rPr lang="en-US" b="0" i="1" smtClean="0">
                            <a:latin typeface="Cambria Math" panose="02040503050406030204" pitchFamily="18" charset="0"/>
                          </a:rPr>
                          <m:t>∗</m:t>
                        </m:r>
                      </m:sup>
                    </m:sSup>
                  </m:oMath>
                </a14:m>
                <a:r>
                  <a:rPr lang="sr-Latn-BA"/>
                  <a:t>,</a:t>
                </a:r>
                <a:r>
                  <a:rPr lang="en-US"/>
                  <a:t> zapisujemo</a:t>
                </a:r>
                <a:endParaRPr lang="sr-Latn-BA" i="1">
                  <a:latin typeface="Cambria Math" panose="02040503050406030204" pitchFamily="18" charset="0"/>
                </a:endParaRPr>
              </a:p>
              <a:p>
                <a:pPr marL="0" indent="0" algn="ctr">
                  <a:buNone/>
                </a:pPr>
                <a14:m>
                  <m:oMath xmlns:m="http://schemas.openxmlformats.org/officeDocument/2006/math">
                    <m:r>
                      <a:rPr lang="en-US" b="0" i="1" smtClean="0">
                        <a:latin typeface="Cambria Math" panose="02040503050406030204" pitchFamily="18" charset="0"/>
                      </a:rPr>
                      <m:t>𝑥</m:t>
                    </m:r>
                    <m:r>
                      <a:rPr lang="sr-Latn-BA" i="1" smtClean="0">
                        <a:latin typeface="Cambria Math" panose="02040503050406030204" pitchFamily="18" charset="0"/>
                      </a:rPr>
                      <m:t>↣</m:t>
                    </m:r>
                    <m:r>
                      <a:rPr lang="en-US" i="1" smtClean="0">
                        <a:latin typeface="Cambria Math" panose="02040503050406030204" pitchFamily="18" charset="0"/>
                      </a:rPr>
                      <m:t>𝑤</m:t>
                    </m:r>
                  </m:oMath>
                </a14:m>
                <a:r>
                  <a:rPr lang="en-US"/>
                  <a:t>,</a:t>
                </a:r>
              </a:p>
              <a:p>
                <a:pPr marL="0" indent="0" algn="just">
                  <a:buNone/>
                </a:pPr>
                <a:r>
                  <a:rPr lang="en-US"/>
                  <a:t>gdje </a:t>
                </a:r>
                <a:r>
                  <a:rPr lang="sr-Latn-BA"/>
                  <a:t>su</a:t>
                </a:r>
                <a:r>
                  <a:rPr lang="en-US"/>
                  <a:t> </a:t>
                </a:r>
                <a14:m>
                  <m:oMath xmlns:m="http://schemas.openxmlformats.org/officeDocument/2006/math">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a:t>, </a:t>
                </a:r>
                <a14:m>
                  <m:oMath xmlns:m="http://schemas.openxmlformats.org/officeDocument/2006/math">
                    <m:r>
                      <a:rPr lang="en-US" i="1">
                        <a:latin typeface="Cambria Math" panose="02040503050406030204" pitchFamily="18" charset="0"/>
                      </a:rPr>
                      <m:t>𝑤</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Σ</m:t>
                        </m:r>
                      </m:e>
                      <m:sup>
                        <m:r>
                          <a:rPr lang="en-US" b="0" i="1" smtClean="0">
                            <a:latin typeface="Cambria Math" panose="02040503050406030204" pitchFamily="18" charset="0"/>
                          </a:rPr>
                          <m:t>∗</m:t>
                        </m:r>
                      </m:sup>
                    </m:sSup>
                  </m:oMath>
                </a14:m>
                <a:r>
                  <a:rPr lang="en-US"/>
                  <a:t>. </a:t>
                </a:r>
                <a:r>
                  <a:rPr lang="sr-Latn-BA"/>
                  <a:t>Treba da važi:</a:t>
                </a:r>
                <a:endParaRPr lang="en-US"/>
              </a:p>
              <a:p>
                <a:pPr algn="just"/>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sr-Latn-BA" b="0" i="1" smtClean="0">
                            <a:latin typeface="Cambria Math" panose="02040503050406030204" pitchFamily="18" charset="0"/>
                          </a:rPr>
                          <m:t>𝑆</m:t>
                        </m:r>
                      </m:e>
                    </m:d>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sSup>
                          <m:sSupPr>
                            <m:ctrlPr>
                              <a:rPr lang="en-US" i="1">
                                <a:latin typeface="Cambria Math" panose="02040503050406030204" pitchFamily="18" charset="0"/>
                              </a:rPr>
                            </m:ctrlPr>
                          </m:sSupPr>
                          <m:e>
                            <m:r>
                              <m:rPr>
                                <m:sty m:val="p"/>
                              </m:rPr>
                              <a:rPr lang="en-US">
                                <a:latin typeface="Cambria Math" panose="02040503050406030204" pitchFamily="18" charset="0"/>
                              </a:rPr>
                              <m:t>Σ</m:t>
                            </m:r>
                          </m:e>
                          <m:sup>
                            <m:r>
                              <a:rPr lang="en-US" i="1">
                                <a:latin typeface="Cambria Math" panose="02040503050406030204" pitchFamily="18" charset="0"/>
                              </a:rPr>
                              <m:t>∗</m:t>
                            </m:r>
                          </m:sup>
                        </m:sSup>
                      </m:e>
                    </m:d>
                    <m:r>
                      <a:rPr lang="en-US" b="0" i="1" smtClean="0">
                        <a:latin typeface="Cambria Math" panose="02040503050406030204" pitchFamily="18" charset="0"/>
                      </a:rPr>
                      <m:t> </m:t>
                    </m:r>
                    <m:r>
                      <a:rPr lang="en-US" i="1">
                        <a:latin typeface="Cambria Math" panose="02040503050406030204" pitchFamily="18" charset="0"/>
                      </a:rPr>
                      <m:t>𝑥</m:t>
                    </m:r>
                    <m:r>
                      <a:rPr lang="sr-Latn-BA" i="1">
                        <a:latin typeface="Cambria Math" panose="02040503050406030204" pitchFamily="18" charset="0"/>
                      </a:rPr>
                      <m:t>↣</m:t>
                    </m:r>
                    <m:r>
                      <a:rPr lang="en-US" i="1">
                        <a:latin typeface="Cambria Math" panose="02040503050406030204" pitchFamily="18" charset="0"/>
                      </a:rPr>
                      <m:t>𝑤</m:t>
                    </m:r>
                  </m:oMath>
                </a14:m>
                <a:r>
                  <a:rPr lang="sr-Latn-BA"/>
                  <a:t> – svaki objekat se može enkodovati</a:t>
                </a:r>
                <a:endParaRPr lang="en-US"/>
              </a:p>
              <a:p>
                <a:pPr algn="just"/>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r>
                          <a:rPr lang="sr-Latn-BA" b="0" i="1" smtClean="0">
                            <a:latin typeface="Cambria Math" panose="02040503050406030204" pitchFamily="18" charset="0"/>
                          </a:rPr>
                          <m:t>𝑆</m:t>
                        </m:r>
                      </m:e>
                    </m:d>
                    <m:r>
                      <a:rPr lang="en-US" i="1">
                        <a:latin typeface="Cambria Math" panose="02040503050406030204" pitchFamily="18" charset="0"/>
                      </a:rPr>
                      <m:t> </m:t>
                    </m:r>
                    <m:d>
                      <m:dPr>
                        <m:ctrlPr>
                          <a:rPr lang="sr-Latn-BA"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r>
                          <a:rPr lang="sr-Latn-BA" i="1">
                            <a:latin typeface="Cambria Math" panose="02040503050406030204" pitchFamily="18" charset="0"/>
                          </a:rPr>
                          <m:t>↣</m:t>
                        </m:r>
                        <m:r>
                          <a:rPr lang="en-US" i="1">
                            <a:latin typeface="Cambria Math" panose="02040503050406030204" pitchFamily="18" charset="0"/>
                          </a:rPr>
                          <m:t>𝑤</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sr-Latn-BA" i="1">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sr-Latn-BA"/>
                  <a:t> – svaki string enkoduje maksimalno jedan objekat</a:t>
                </a:r>
              </a:p>
              <a:p>
                <a:pPr algn="just"/>
                <a:r>
                  <a:rPr lang="sr-Latn-BA"/>
                  <a:t>Izraz </a:t>
                </a:r>
                <a14:m>
                  <m:oMath xmlns:m="http://schemas.openxmlformats.org/officeDocument/2006/math">
                    <m:r>
                      <a:rPr lang="en-US" i="1">
                        <a:latin typeface="Cambria Math" panose="02040503050406030204" pitchFamily="18" charset="0"/>
                      </a:rPr>
                      <m:t>&lt;</m:t>
                    </m:r>
                    <m:r>
                      <a:rPr lang="en-US" i="1">
                        <a:latin typeface="Cambria Math" panose="02040503050406030204" pitchFamily="18" charset="0"/>
                      </a:rPr>
                      <m:t>𝑥</m:t>
                    </m:r>
                    <m:r>
                      <a:rPr lang="en-US" i="1">
                        <a:latin typeface="Cambria Math" panose="02040503050406030204" pitchFamily="18" charset="0"/>
                      </a:rPr>
                      <m:t>&gt;</m:t>
                    </m:r>
                  </m:oMath>
                </a14:m>
                <a:r>
                  <a:rPr lang="en-US"/>
                  <a:t> predstavlja neki enkodovani oblik, iz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Σ</m:t>
                        </m:r>
                      </m:e>
                      <m:sup>
                        <m:r>
                          <a:rPr lang="en-US" i="1">
                            <a:latin typeface="Cambria Math" panose="02040503050406030204" pitchFamily="18" charset="0"/>
                          </a:rPr>
                          <m:t>∗</m:t>
                        </m:r>
                      </m:sup>
                    </m:sSup>
                  </m:oMath>
                </a14:m>
                <a:r>
                  <a:rPr lang="en-US"/>
                  <a:t>, objekta </a:t>
                </a:r>
                <a14:m>
                  <m:oMath xmlns:m="http://schemas.openxmlformats.org/officeDocument/2006/math">
                    <m:r>
                      <a:rPr lang="en-US" i="1">
                        <a:latin typeface="Cambria Math" panose="02040503050406030204" pitchFamily="18" charset="0"/>
                      </a:rPr>
                      <m:t>𝑥</m:t>
                    </m:r>
                  </m:oMath>
                </a14:m>
                <a:r>
                  <a:rPr lang="en-US"/>
                  <a:t>.</a:t>
                </a:r>
                <a:endParaRPr lang="sr-Latn-BA"/>
              </a:p>
            </p:txBody>
          </p:sp>
        </mc:Choice>
        <mc:Fallback xmlns="">
          <p:sp>
            <p:nvSpPr>
              <p:cNvPr id="3" name="Content Placeholder 2">
                <a:extLst>
                  <a:ext uri="{FF2B5EF4-FFF2-40B4-BE49-F238E27FC236}">
                    <a16:creationId xmlns:a16="http://schemas.microsoft.com/office/drawing/2014/main" id="{37B97FB0-613A-0A51-7A02-9CC682028258}"/>
                  </a:ext>
                </a:extLst>
              </p:cNvPr>
              <p:cNvSpPr>
                <a:spLocks noGrp="1" noRot="1" noChangeAspect="1" noMove="1" noResize="1" noEditPoints="1" noAdjustHandles="1" noChangeArrowheads="1" noChangeShapeType="1" noTextEdit="1"/>
              </p:cNvSpPr>
              <p:nvPr>
                <p:ph idx="1"/>
              </p:nvPr>
            </p:nvSpPr>
            <p:spPr>
              <a:blipFill>
                <a:blip r:embed="rId2"/>
                <a:stretch>
                  <a:fillRect l="-1043" t="-2801" r="-986" b="-3361"/>
                </a:stretch>
              </a:blipFill>
            </p:spPr>
            <p:txBody>
              <a:bodyPr/>
              <a:lstStyle/>
              <a:p>
                <a:r>
                  <a:rPr lang="en-US">
                    <a:noFill/>
                  </a:rPr>
                  <a:t> </a:t>
                </a:r>
              </a:p>
            </p:txBody>
          </p:sp>
        </mc:Fallback>
      </mc:AlternateContent>
    </p:spTree>
    <p:extLst>
      <p:ext uri="{BB962C8B-B14F-4D97-AF65-F5344CB8AC3E}">
        <p14:creationId xmlns:p14="http://schemas.microsoft.com/office/powerpoint/2010/main" val="181303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E8AB-7005-3AAE-EA25-48210895C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736D4-5BA3-A55D-15DC-134B64634317}"/>
              </a:ext>
            </a:extLst>
          </p:cNvPr>
          <p:cNvSpPr>
            <a:spLocks noGrp="1"/>
          </p:cNvSpPr>
          <p:nvPr>
            <p:ph type="title"/>
          </p:nvPr>
        </p:nvSpPr>
        <p:spPr/>
        <p:txBody>
          <a:bodyPr/>
          <a:lstStyle/>
          <a:p>
            <a:r>
              <a:rPr lang="en-US"/>
              <a:t>Odlu</a:t>
            </a:r>
            <a:r>
              <a:rPr lang="sr-Latn-BA"/>
              <a:t>čivost i nabrojivost</a:t>
            </a:r>
            <a:endParaRPr lang="en-US"/>
          </a:p>
        </p:txBody>
      </p:sp>
      <p:sp>
        <p:nvSpPr>
          <p:cNvPr id="3" name="Content Placeholder 2">
            <a:extLst>
              <a:ext uri="{FF2B5EF4-FFF2-40B4-BE49-F238E27FC236}">
                <a16:creationId xmlns:a16="http://schemas.microsoft.com/office/drawing/2014/main" id="{300C6043-C929-FDE1-B5B7-91B3B2DDFBA9}"/>
              </a:ext>
            </a:extLst>
          </p:cNvPr>
          <p:cNvSpPr>
            <a:spLocks noGrp="1"/>
          </p:cNvSpPr>
          <p:nvPr>
            <p:ph idx="1"/>
          </p:nvPr>
        </p:nvSpPr>
        <p:spPr/>
        <p:txBody>
          <a:bodyPr>
            <a:normAutofit/>
          </a:bodyPr>
          <a:lstStyle/>
          <a:p>
            <a:pPr algn="just"/>
            <a:r>
              <a:rPr lang="sr-Latn-BA" b="1"/>
              <a:t>Odlučivost</a:t>
            </a:r>
            <a:r>
              <a:rPr lang="sr-Latn-BA"/>
              <a:t> je svojstvo formalnog jezika.</a:t>
            </a:r>
          </a:p>
          <a:p>
            <a:pPr algn="just"/>
            <a:r>
              <a:rPr lang="sr-Latn-BA"/>
              <a:t>Ako postoji algoritam koji određuje, u konačnom vremenu, da li dati string pripada jeziku, odnosno ne pripada jeziku, onda je jezik </a:t>
            </a:r>
            <a:r>
              <a:rPr lang="sr-Latn-BA" b="1"/>
              <a:t>odlučiv</a:t>
            </a:r>
            <a:r>
              <a:rPr lang="sr-Latn-BA"/>
              <a:t>.</a:t>
            </a:r>
            <a:endParaRPr lang="en-US"/>
          </a:p>
          <a:p>
            <a:pPr algn="just"/>
            <a:r>
              <a:rPr lang="sr-Latn-BA" b="1"/>
              <a:t>Nabrojivost </a:t>
            </a:r>
            <a:r>
              <a:rPr lang="sr-Latn-BA"/>
              <a:t>je svojstvo formalnog jezika.</a:t>
            </a:r>
          </a:p>
          <a:p>
            <a:pPr algn="just"/>
            <a:r>
              <a:rPr lang="sr-Latn-BA"/>
              <a:t>Ako postoji procedura koja će, za svaki string u jeziku, eventualno ispisati taj string, te nikada neće ispisati string izvan tog jezika, onda je jezik </a:t>
            </a:r>
            <a:r>
              <a:rPr lang="sr-Latn-BA" b="1"/>
              <a:t>nabrojiv</a:t>
            </a:r>
            <a:r>
              <a:rPr lang="sr-Latn-BA"/>
              <a:t>.</a:t>
            </a:r>
            <a:endParaRPr lang="en-US"/>
          </a:p>
          <a:p>
            <a:pPr algn="just"/>
            <a:endParaRPr lang="sr-Latn-BA"/>
          </a:p>
          <a:p>
            <a:pPr algn="just"/>
            <a:endParaRPr lang="sr-Latn-BA"/>
          </a:p>
          <a:p>
            <a:pPr algn="just"/>
            <a:endParaRPr lang="sr-Latn-BA"/>
          </a:p>
        </p:txBody>
      </p:sp>
    </p:spTree>
    <p:extLst>
      <p:ext uri="{BB962C8B-B14F-4D97-AF65-F5344CB8AC3E}">
        <p14:creationId xmlns:p14="http://schemas.microsoft.com/office/powerpoint/2010/main" val="207188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D04B-0A9A-E27F-A1FC-9BD1F5BE47FA}"/>
              </a:ext>
            </a:extLst>
          </p:cNvPr>
          <p:cNvSpPr>
            <a:spLocks noGrp="1"/>
          </p:cNvSpPr>
          <p:nvPr>
            <p:ph type="title"/>
          </p:nvPr>
        </p:nvSpPr>
        <p:spPr/>
        <p:txBody>
          <a:bodyPr>
            <a:normAutofit/>
          </a:bodyPr>
          <a:lstStyle/>
          <a:p>
            <a:r>
              <a:rPr lang="sr-Latn-BA"/>
              <a:t>Problemi</a:t>
            </a:r>
            <a:r>
              <a:rPr lang="sr-Latn-BA" sz="3600"/>
              <a:t> odlučivanja</a:t>
            </a:r>
            <a:endParaRPr lang="en-US" sz="360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45537A2-DC75-2D94-9390-E7527F2F35A5}"/>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60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t>Problem odlu</a:t>
                </a:r>
                <a:r>
                  <a:rPr lang="sr-Latn-BA"/>
                  <a:t>čivanja </a:t>
                </a:r>
                <a:r>
                  <a:rPr lang="en-US"/>
                  <a:t>pripadnosti jeziku </a:t>
                </a:r>
                <a:r>
                  <a:rPr lang="sr-Latn-BA"/>
                  <a:t>je problem određivanja da li ulaz pripada razmatranom jeziku ili ne. Algoritam za takav problem treba da vrati „DA“ za svaki ulaz koji je element jezika, odnosno „NE“ za svaki ulaz koji nije element jezika.</a:t>
                </a:r>
                <a:r>
                  <a:rPr lang="en-US"/>
                  <a:t> Problem odlu</a:t>
                </a:r>
                <a:r>
                  <a:rPr lang="sr-Latn-BA"/>
                  <a:t>čivanja</a:t>
                </a:r>
                <a:r>
                  <a:rPr lang="en-US"/>
                  <a:t> </a:t>
                </a:r>
                <a:r>
                  <a:rPr lang="en-US" b="1" u="sng"/>
                  <a:t>JE</a:t>
                </a:r>
                <a:r>
                  <a:rPr lang="en-US" b="1"/>
                  <a:t> </a:t>
                </a:r>
                <a:r>
                  <a:rPr lang="en-US"/>
                  <a:t>jezik.</a:t>
                </a:r>
                <a:endParaRPr lang="sr-Latn-BA" b="1"/>
              </a:p>
              <a:p>
                <a:pPr algn="just"/>
                <a:r>
                  <a:rPr lang="sr-Latn-BA" b="1"/>
                  <a:t>Primjer. </a:t>
                </a:r>
                <a:r>
                  <a:rPr lang="sr-Latn-BA"/>
                  <a:t>Problem parnosti nenegativnog broja</a:t>
                </a:r>
                <a:r>
                  <a:rPr lang="en-US"/>
                  <a:t> datog u binarnom brojevnom sistemu</a:t>
                </a:r>
                <a:r>
                  <a:rPr lang="sr-Latn-BA"/>
                  <a:t>.</a:t>
                </a:r>
              </a:p>
              <a:p>
                <a:pPr marL="0" indent="0" algn="just">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𝐿</m:t>
                      </m:r>
                      <m:r>
                        <a:rPr lang="en-US" sz="2400" i="1">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&lt;</m:t>
                          </m:r>
                          <m:r>
                            <a:rPr lang="en-US" sz="2400" i="1">
                              <a:latin typeface="Cambria Math" panose="02040503050406030204" pitchFamily="18" charset="0"/>
                            </a:rPr>
                            <m:t>𝑛</m:t>
                          </m:r>
                          <m:r>
                            <a:rPr lang="en-US" sz="2400" i="1">
                              <a:latin typeface="Cambria Math" panose="02040503050406030204" pitchFamily="18" charset="0"/>
                            </a:rPr>
                            <m:t>&gt; </m:t>
                          </m:r>
                          <m:r>
                            <m:rPr>
                              <m:nor/>
                            </m:rPr>
                            <a:rPr lang="en-US" sz="2400" b="0" i="0" smtClean="0">
                              <a:latin typeface="Cambria Math" panose="02040503050406030204" pitchFamily="18" charset="0"/>
                            </a:rPr>
                            <m:t>kao</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broj</m:t>
                          </m:r>
                          <m:r>
                            <a:rPr lang="sr-Latn-BA" sz="2400" b="0" i="1" smtClean="0">
                              <a:latin typeface="Cambria Math" panose="02040503050406030204" pitchFamily="18" charset="0"/>
                            </a:rPr>
                            <m:t> </m:t>
                          </m:r>
                          <m:r>
                            <a:rPr lang="en-US" sz="2400" i="1">
                              <a:latin typeface="Cambria Math" panose="02040503050406030204" pitchFamily="18" charset="0"/>
                            </a:rPr>
                            <m:t>𝑛</m:t>
                          </m:r>
                          <m:r>
                            <m:rPr>
                              <m:nor/>
                            </m:rPr>
                            <a:rPr lang="sr-Latn-BA" sz="2400" b="0" i="0" smtClean="0">
                              <a:latin typeface="Cambria Math" panose="02040503050406030204" pitchFamily="18" charset="0"/>
                            </a:rPr>
                            <m:t> </m:t>
                          </m:r>
                          <m:r>
                            <m:rPr>
                              <m:nor/>
                            </m:rPr>
                            <a:rPr lang="en-US" sz="2400" b="0" i="0" smtClean="0">
                              <a:latin typeface="Cambria Math" panose="02040503050406030204" pitchFamily="18" charset="0"/>
                            </a:rPr>
                            <m:t>u</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binarnom</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brojnom</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sistemu</m:t>
                          </m:r>
                          <m:r>
                            <m:rPr>
                              <m:nor/>
                            </m:rPr>
                            <a:rPr lang="en-US" sz="2400" b="0" i="0" smtClean="0">
                              <a:latin typeface="Cambria Math" panose="02040503050406030204" pitchFamily="18" charset="0"/>
                            </a:rPr>
                            <m:t> </m:t>
                          </m:r>
                        </m:e>
                        <m:e>
                          <m:r>
                            <a:rPr lang="en-US" sz="2400" i="1">
                              <a:latin typeface="Cambria Math" panose="02040503050406030204" pitchFamily="18" charset="0"/>
                            </a:rPr>
                            <m:t> </m:t>
                          </m:r>
                          <m:r>
                            <a:rPr lang="en-US" sz="2400" i="1">
                              <a:latin typeface="Cambria Math" panose="02040503050406030204" pitchFamily="18" charset="0"/>
                            </a:rPr>
                            <m:t>𝑛</m:t>
                          </m:r>
                          <m:r>
                            <a:rPr lang="en-US" sz="2400" i="1">
                              <a:latin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 </m:t>
                              </m:r>
                            </m:e>
                          </m:d>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sr-Latn-BA" sz="2400" i="1">
                                  <a:latin typeface="Cambria Math" panose="02040503050406030204" pitchFamily="18" charset="0"/>
                                  <a:ea typeface="Cambria Math" panose="02040503050406030204" pitchFamily="18" charset="0"/>
                                </a:rPr>
                                <m:t>ℕ</m:t>
                              </m:r>
                            </m:e>
                            <m:sub>
                              <m:r>
                                <a:rPr lang="en-US" sz="2400" i="1">
                                  <a:latin typeface="Cambria Math" panose="02040503050406030204" pitchFamily="18" charset="0"/>
                                  <a:ea typeface="Cambria Math" panose="02040503050406030204" pitchFamily="18" charset="0"/>
                                </a:rPr>
                                <m:t>0</m:t>
                              </m:r>
                            </m:sub>
                          </m:sSub>
                          <m:r>
                            <a:rPr lang="en-US" sz="2400" i="1">
                              <a:latin typeface="Cambria Math" panose="02040503050406030204" pitchFamily="18" charset="0"/>
                              <a:ea typeface="Cambria Math" panose="02040503050406030204" pitchFamily="18" charset="0"/>
                            </a:rPr>
                            <m:t>}</m:t>
                          </m:r>
                        </m:e>
                      </m:d>
                    </m:oMath>
                  </m:oMathPara>
                </a14:m>
                <a:endParaRPr lang="en-US"/>
              </a:p>
              <a:p>
                <a:pPr algn="just"/>
                <a:r>
                  <a:rPr lang="en-US"/>
                  <a:t>Mo</a:t>
                </a:r>
                <a:r>
                  <a:rPr lang="sr-Latn-BA"/>
                  <a:t>že li se odlučiti, za dato </a:t>
                </a:r>
                <a14:m>
                  <m:oMath xmlns:m="http://schemas.openxmlformats.org/officeDocument/2006/math">
                    <m:r>
                      <a:rPr lang="en-US" i="1">
                        <a:latin typeface="Cambria Math" panose="02040503050406030204" pitchFamily="18" charset="0"/>
                      </a:rPr>
                      <m:t>𝑤</m:t>
                    </m:r>
                    <m:r>
                      <a:rPr lang="en-US" i="1">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m:t>
                        </m:r>
                      </m:sup>
                    </m:sSup>
                  </m:oMath>
                </a14:m>
                <a:r>
                  <a:rPr lang="en-US"/>
                  <a:t>, da li je </a:t>
                </a:r>
                <a14:m>
                  <m:oMath xmlns:m="http://schemas.openxmlformats.org/officeDocument/2006/math">
                    <m:r>
                      <m:rPr>
                        <m:sty m:val="p"/>
                      </m:rPr>
                      <a:rPr lang="en-US">
                        <a:latin typeface="Cambria Math" panose="02040503050406030204" pitchFamily="18" charset="0"/>
                      </a:rPr>
                      <m:t>w</m:t>
                    </m:r>
                    <m:r>
                      <a:rPr lang="en-US" i="1">
                        <a:latin typeface="Cambria Math" panose="02040503050406030204" pitchFamily="18" charset="0"/>
                      </a:rPr>
                      <m:t>∈</m:t>
                    </m:r>
                    <m:r>
                      <a:rPr lang="en-US" i="1">
                        <a:latin typeface="Cambria Math" panose="02040503050406030204" pitchFamily="18" charset="0"/>
                      </a:rPr>
                      <m:t>𝐿</m:t>
                    </m:r>
                  </m:oMath>
                </a14:m>
                <a:r>
                  <a:rPr lang="en-US"/>
                  <a:t>?</a:t>
                </a:r>
              </a:p>
              <a:p>
                <a:pPr algn="just"/>
                <a:r>
                  <a:rPr lang="en-US"/>
                  <a:t>Da. Provjeri se da li je zadnja cifra 0.</a:t>
                </a:r>
              </a:p>
              <a:p>
                <a:pPr algn="just"/>
                <a:endParaRPr lang="en-US"/>
              </a:p>
            </p:txBody>
          </p:sp>
        </mc:Choice>
        <mc:Fallback xmlns="">
          <p:sp>
            <p:nvSpPr>
              <p:cNvPr id="5" name="Content Placeholder 2">
                <a:extLst>
                  <a:ext uri="{FF2B5EF4-FFF2-40B4-BE49-F238E27FC236}">
                    <a16:creationId xmlns:a16="http://schemas.microsoft.com/office/drawing/2014/main" id="{F45537A2-DC75-2D94-9390-E7527F2F35A5}"/>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2"/>
                <a:stretch>
                  <a:fillRect l="-1043" t="-2241" r="-1159"/>
                </a:stretch>
              </a:blipFill>
            </p:spPr>
            <p:txBody>
              <a:bodyPr/>
              <a:lstStyle/>
              <a:p>
                <a:r>
                  <a:rPr lang="en-US">
                    <a:noFill/>
                  </a:rPr>
                  <a:t> </a:t>
                </a:r>
              </a:p>
            </p:txBody>
          </p:sp>
        </mc:Fallback>
      </mc:AlternateContent>
    </p:spTree>
    <p:extLst>
      <p:ext uri="{BB962C8B-B14F-4D97-AF65-F5344CB8AC3E}">
        <p14:creationId xmlns:p14="http://schemas.microsoft.com/office/powerpoint/2010/main" val="36897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D04B-0A9A-E27F-A1FC-9BD1F5BE47FA}"/>
              </a:ext>
            </a:extLst>
          </p:cNvPr>
          <p:cNvSpPr>
            <a:spLocks noGrp="1"/>
          </p:cNvSpPr>
          <p:nvPr>
            <p:ph type="title"/>
          </p:nvPr>
        </p:nvSpPr>
        <p:spPr/>
        <p:txBody>
          <a:bodyPr/>
          <a:lstStyle/>
          <a:p>
            <a:r>
              <a:rPr lang="en-US"/>
              <a:t>Problem zaustavljanja (</a:t>
            </a:r>
            <a:r>
              <a:rPr lang="en-US" i="1"/>
              <a:t>Halting problem</a:t>
            </a:r>
            <a:r>
              <a:rPr lang="en-US"/>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B97FB0-613A-0A51-7A02-9CC682028258}"/>
                  </a:ext>
                </a:extLst>
              </p:cNvPr>
              <p:cNvSpPr>
                <a:spLocks noGrp="1"/>
              </p:cNvSpPr>
              <p:nvPr>
                <p:ph idx="1"/>
              </p:nvPr>
            </p:nvSpPr>
            <p:spPr/>
            <p:txBody>
              <a:bodyPr>
                <a:normAutofit/>
              </a:bodyPr>
              <a:lstStyle/>
              <a:p>
                <a:pPr algn="just"/>
                <a14:m>
                  <m:oMath xmlns:m="http://schemas.openxmlformats.org/officeDocument/2006/math">
                    <m:r>
                      <m:rPr>
                        <m:nor/>
                      </m:rPr>
                      <a:rPr lang="en-US" sz="2400" i="0" smtClean="0">
                        <a:latin typeface="Cambria Math" panose="02040503050406030204" pitchFamily="18" charset="0"/>
                      </a:rPr>
                      <m:t>HALT</m:t>
                    </m:r>
                    <m:r>
                      <a:rPr lang="en-US" sz="2400" i="1" smtClean="0">
                        <a:latin typeface="Cambria Math" panose="02040503050406030204" pitchFamily="18" charset="0"/>
                      </a:rPr>
                      <m:t>=</m:t>
                    </m:r>
                    <m:d>
                      <m:dPr>
                        <m:begChr m:val="{"/>
                        <m:endChr m:val="|"/>
                        <m:ctrlPr>
                          <a:rPr lang="en-US" sz="2400" i="1" smtClean="0">
                            <a:latin typeface="Cambria Math" panose="02040503050406030204" pitchFamily="18" charset="0"/>
                          </a:rPr>
                        </m:ctrlPr>
                      </m:dPr>
                      <m:e>
                        <m:r>
                          <a:rPr lang="en-US" sz="2400" i="1" smtClean="0">
                            <a:latin typeface="Cambria Math" panose="02040503050406030204" pitchFamily="18" charset="0"/>
                          </a:rPr>
                          <m:t>&lt;</m:t>
                        </m:r>
                        <m:r>
                          <a:rPr lang="en-US" sz="2400" i="1" smtClean="0">
                            <a:latin typeface="Cambria Math" panose="02040503050406030204" pitchFamily="18" charset="0"/>
                          </a:rPr>
                          <m:t>𝑔</m:t>
                        </m:r>
                        <m:r>
                          <a:rPr lang="en-US" sz="2400" i="1" smtClean="0">
                            <a:latin typeface="Cambria Math" panose="02040503050406030204" pitchFamily="18" charset="0"/>
                          </a:rPr>
                          <m:t>,</m:t>
                        </m:r>
                        <m:r>
                          <a:rPr lang="en-US" sz="2400" i="1" smtClean="0">
                            <a:latin typeface="Cambria Math" panose="02040503050406030204" pitchFamily="18" charset="0"/>
                          </a:rPr>
                          <m:t>𝑎</m:t>
                        </m:r>
                        <m:r>
                          <a:rPr lang="en-US" sz="2400" i="1" smtClean="0">
                            <a:latin typeface="Cambria Math" panose="02040503050406030204" pitchFamily="18" charset="0"/>
                          </a:rPr>
                          <m:t>&gt; </m:t>
                        </m:r>
                      </m:e>
                    </m:d>
                    <m:r>
                      <a:rPr lang="en-US" sz="2400" b="0" i="1" smtClean="0">
                        <a:latin typeface="Cambria Math" panose="02040503050406030204" pitchFamily="18" charset="0"/>
                      </a:rPr>
                      <m:t> </m:t>
                    </m:r>
                    <m:r>
                      <a:rPr lang="en-US" sz="2400" b="0" i="1" smtClean="0">
                        <a:latin typeface="Cambria Math" panose="02040503050406030204" pitchFamily="18" charset="0"/>
                      </a:rPr>
                      <m:t>𝑔</m:t>
                    </m:r>
                    <m:r>
                      <a:rPr lang="en-US" sz="2400" b="0" i="1" smtClean="0">
                        <a:latin typeface="Cambria Math" panose="02040503050406030204" pitchFamily="18" charset="0"/>
                      </a:rPr>
                      <m:t> </m:t>
                    </m:r>
                    <m:r>
                      <m:rPr>
                        <m:nor/>
                      </m:rPr>
                      <a:rPr lang="en-US" sz="2400" b="0" i="0" smtClean="0">
                        <a:latin typeface="Cambria Math" panose="02040503050406030204" pitchFamily="18" charset="0"/>
                      </a:rPr>
                      <m:t>program</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koji</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se</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zaustavlja</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sa</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argumentima</m:t>
                    </m:r>
                    <m:r>
                      <a:rPr lang="en-US" sz="2400" b="0" i="1" smtClean="0">
                        <a:latin typeface="Cambria Math" panose="02040503050406030204" pitchFamily="18" charset="0"/>
                      </a:rPr>
                      <m:t> </m:t>
                    </m:r>
                    <m:r>
                      <a:rPr lang="en-US" sz="2400" i="1">
                        <a:latin typeface="Cambria Math" panose="02040503050406030204" pitchFamily="18" charset="0"/>
                      </a:rPr>
                      <m:t>𝑎</m:t>
                    </m:r>
                    <m:r>
                      <a:rPr lang="en-US" sz="2400" i="1">
                        <a:latin typeface="Cambria Math" panose="02040503050406030204" pitchFamily="18" charset="0"/>
                      </a:rPr>
                      <m:t>}</m:t>
                    </m:r>
                  </m:oMath>
                </a14:m>
                <a:endParaRPr lang="en-US" sz="2400"/>
              </a:p>
              <a:p>
                <a:pPr algn="just"/>
                <a:r>
                  <a:rPr lang="en-US"/>
                  <a:t>Postoji li algoritam, </a:t>
                </a:r>
                <a:r>
                  <a:rPr lang="en-US" b="1" i="1"/>
                  <a:t>halts</a:t>
                </a:r>
                <a:r>
                  <a:rPr lang="en-US"/>
                  <a:t>, koji, kao ulaze, prihvata kod programa</a:t>
                </a:r>
                <a:r>
                  <a:rPr lang="sr-Latn-BA"/>
                  <a:t> </a:t>
                </a:r>
                <a:r>
                  <a:rPr lang="en-US" b="1" i="1"/>
                  <a:t>f</a:t>
                </a:r>
                <a:r>
                  <a:rPr lang="en-US"/>
                  <a:t> i skup argumenata </a:t>
                </a:r>
                <a:r>
                  <a:rPr lang="en-US" b="1" i="1"/>
                  <a:t>a</a:t>
                </a:r>
                <a:r>
                  <a:rPr lang="en-US"/>
                  <a:t>, te </a:t>
                </a:r>
                <a:r>
                  <a:rPr lang="sr-Latn-BA"/>
                  <a:t>vraća da li </a:t>
                </a:r>
                <a:r>
                  <a:rPr lang="en-US" b="1" i="1"/>
                  <a:t>f</a:t>
                </a:r>
                <a:r>
                  <a:rPr lang="en-US" i="1"/>
                  <a:t>(</a:t>
                </a:r>
                <a:r>
                  <a:rPr lang="en-US" b="1" i="1"/>
                  <a:t>a</a:t>
                </a:r>
                <a:r>
                  <a:rPr lang="en-US" i="1"/>
                  <a:t>)</a:t>
                </a:r>
                <a:r>
                  <a:rPr lang="sr-Latn-BA"/>
                  <a:t> </a:t>
                </a:r>
                <a:r>
                  <a:rPr lang="en-US"/>
                  <a:t>ikada </a:t>
                </a:r>
                <a:r>
                  <a:rPr lang="sr-Latn-BA"/>
                  <a:t>zaustavlja</a:t>
                </a:r>
                <a:r>
                  <a:rPr lang="en-US"/>
                  <a:t> izvr</a:t>
                </a:r>
                <a:r>
                  <a:rPr lang="sr-Latn-BA"/>
                  <a:t>šavanje?</a:t>
                </a:r>
              </a:p>
              <a:p>
                <a:pPr algn="just"/>
                <a:r>
                  <a:rPr lang="sr-Latn-BA"/>
                  <a:t>Ako postoji, došlo bi do paradoksa.</a:t>
                </a:r>
                <a:r>
                  <a:rPr lang="en-US"/>
                  <a:t> </a:t>
                </a:r>
                <a14:m>
                  <m:oMath xmlns:m="http://schemas.openxmlformats.org/officeDocument/2006/math">
                    <m:r>
                      <a:rPr lang="en-US" i="1">
                        <a:latin typeface="Cambria Math" panose="02040503050406030204" pitchFamily="18" charset="0"/>
                      </a:rPr>
                      <m:t>𝐻𝐴𝐿𝑇</m:t>
                    </m:r>
                  </m:oMath>
                </a14:m>
                <a:r>
                  <a:rPr lang="en-US"/>
                  <a:t> je neodlu</a:t>
                </a:r>
                <a:r>
                  <a:rPr lang="sr-Latn-BA"/>
                  <a:t>čiv</a:t>
                </a:r>
                <a:r>
                  <a:rPr lang="en-US"/>
                  <a:t>, bez obzira na alfabet i </a:t>
                </a:r>
                <a:r>
                  <a:rPr lang="sr-Latn-BA"/>
                  <a:t>šemu enkodovanja. Problem se ne može riješiti algoritmom.</a:t>
                </a:r>
                <a:endParaRPr lang="en-US"/>
              </a:p>
              <a:p>
                <a:pPr algn="just"/>
                <a:r>
                  <a:rPr lang="en-US"/>
                  <a:t>Da li je </a:t>
                </a:r>
                <a14:m>
                  <m:oMath xmlns:m="http://schemas.openxmlformats.org/officeDocument/2006/math">
                    <m:r>
                      <m:rPr>
                        <m:nor/>
                      </m:rPr>
                      <a:rPr lang="en-US" i="0" smtClean="0">
                        <a:latin typeface="Cambria Math" panose="02040503050406030204" pitchFamily="18" charset="0"/>
                      </a:rPr>
                      <m:t>HALT</m:t>
                    </m:r>
                  </m:oMath>
                </a14:m>
                <a:r>
                  <a:rPr lang="en-US"/>
                  <a:t> nabrojiv?</a:t>
                </a:r>
                <a:endParaRPr lang="sr-Latn-BA"/>
              </a:p>
              <a:p>
                <a:pPr marL="0" indent="0" algn="just">
                  <a:buNone/>
                </a:pPr>
                <a:endParaRPr lang="sr-Latn-BA"/>
              </a:p>
            </p:txBody>
          </p:sp>
        </mc:Choice>
        <mc:Fallback xmlns="">
          <p:sp>
            <p:nvSpPr>
              <p:cNvPr id="3" name="Content Placeholder 2">
                <a:extLst>
                  <a:ext uri="{FF2B5EF4-FFF2-40B4-BE49-F238E27FC236}">
                    <a16:creationId xmlns:a16="http://schemas.microsoft.com/office/drawing/2014/main" id="{37B97FB0-613A-0A51-7A02-9CC682028258}"/>
                  </a:ext>
                </a:extLst>
              </p:cNvPr>
              <p:cNvSpPr>
                <a:spLocks noGrp="1" noRot="1" noChangeAspect="1" noMove="1" noResize="1" noEditPoints="1" noAdjustHandles="1" noChangeArrowheads="1" noChangeShapeType="1" noTextEdit="1"/>
              </p:cNvSpPr>
              <p:nvPr>
                <p:ph idx="1"/>
              </p:nvPr>
            </p:nvSpPr>
            <p:spPr>
              <a:blipFill>
                <a:blip r:embed="rId2"/>
                <a:stretch>
                  <a:fillRect l="-1043" t="-1541" r="-115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30FA3806-A7CA-089A-ED65-0601BBDCE56B}"/>
              </a:ext>
            </a:extLst>
          </p:cNvPr>
          <p:cNvSpPr txBox="1"/>
          <p:nvPr/>
        </p:nvSpPr>
        <p:spPr>
          <a:xfrm>
            <a:off x="4776978" y="4222555"/>
            <a:ext cx="2638044" cy="193899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indent="0" algn="just">
              <a:buNone/>
            </a:pPr>
            <a:r>
              <a:rPr lang="en-US" sz="2400" b="1" i="1"/>
              <a:t>g</a:t>
            </a:r>
            <a:r>
              <a:rPr lang="en-US" sz="2400" i="1"/>
              <a:t>(</a:t>
            </a:r>
            <a:r>
              <a:rPr lang="en-US" sz="2400" b="1" i="1"/>
              <a:t>a</a:t>
            </a:r>
            <a:r>
              <a:rPr lang="en-US" sz="2400" i="1"/>
              <a:t>)</a:t>
            </a:r>
            <a:r>
              <a:rPr lang="sr-Latn-BA" sz="2400" i="1"/>
              <a:t>:</a:t>
            </a:r>
          </a:p>
          <a:p>
            <a:pPr marL="0" indent="0" algn="just">
              <a:buNone/>
            </a:pPr>
            <a:r>
              <a:rPr lang="sr-Latn-BA" sz="2400" i="1"/>
              <a:t>  if </a:t>
            </a:r>
            <a:r>
              <a:rPr lang="en-US" sz="2400" b="1" i="1"/>
              <a:t>halts</a:t>
            </a:r>
            <a:r>
              <a:rPr lang="sr-Latn-BA" sz="2400" i="1"/>
              <a:t>(</a:t>
            </a:r>
            <a:r>
              <a:rPr lang="en-US" sz="2400" i="1"/>
              <a:t>&lt;</a:t>
            </a:r>
            <a:r>
              <a:rPr lang="en-US" sz="2400" b="1" i="1"/>
              <a:t>g</a:t>
            </a:r>
            <a:r>
              <a:rPr lang="en-US" sz="2400" i="1"/>
              <a:t>, </a:t>
            </a:r>
            <a:r>
              <a:rPr lang="en-US" sz="2400" b="1" i="1"/>
              <a:t>a</a:t>
            </a:r>
            <a:r>
              <a:rPr lang="en-US" sz="2400" i="1"/>
              <a:t>&gt;):</a:t>
            </a:r>
          </a:p>
          <a:p>
            <a:pPr marL="0" indent="0" algn="just">
              <a:buNone/>
            </a:pPr>
            <a:r>
              <a:rPr lang="en-US" sz="2400" i="1"/>
              <a:t>    while(</a:t>
            </a:r>
            <a:r>
              <a:rPr lang="sr-Latn-BA" sz="2400" i="1"/>
              <a:t>true</a:t>
            </a:r>
            <a:r>
              <a:rPr lang="en-US" sz="2400" i="1"/>
              <a:t>)</a:t>
            </a:r>
            <a:r>
              <a:rPr lang="sr-Latn-BA" sz="2400" i="1"/>
              <a:t> </a:t>
            </a:r>
            <a:r>
              <a:rPr lang="en-US" sz="2400" i="1"/>
              <a:t>{</a:t>
            </a:r>
            <a:r>
              <a:rPr lang="sr-Latn-BA" sz="2400" i="1"/>
              <a:t> </a:t>
            </a:r>
            <a:r>
              <a:rPr lang="en-US" sz="2400" i="1"/>
              <a:t>}</a:t>
            </a:r>
          </a:p>
          <a:p>
            <a:pPr marL="0" indent="0" algn="just">
              <a:buNone/>
            </a:pPr>
            <a:r>
              <a:rPr lang="en-US" sz="2400" i="1"/>
              <a:t>  else:</a:t>
            </a:r>
          </a:p>
          <a:p>
            <a:pPr marL="0" indent="0" algn="just">
              <a:buNone/>
            </a:pPr>
            <a:r>
              <a:rPr lang="en-US" sz="2400" i="1"/>
              <a:t>    </a:t>
            </a:r>
            <a:r>
              <a:rPr lang="sr-Latn-BA" sz="2400" i="1"/>
              <a:t>ret</a:t>
            </a:r>
            <a:r>
              <a:rPr lang="en-US" sz="2400" i="1"/>
              <a:t> true</a:t>
            </a:r>
            <a:endParaRPr lang="sr-Latn-BA" sz="2400" i="1"/>
          </a:p>
        </p:txBody>
      </p:sp>
    </p:spTree>
    <p:extLst>
      <p:ext uri="{BB962C8B-B14F-4D97-AF65-F5344CB8AC3E}">
        <p14:creationId xmlns:p14="http://schemas.microsoft.com/office/powerpoint/2010/main" val="2148774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E8AB-7005-3AAE-EA25-48210895C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736D4-5BA3-A55D-15DC-134B64634317}"/>
              </a:ext>
            </a:extLst>
          </p:cNvPr>
          <p:cNvSpPr>
            <a:spLocks noGrp="1"/>
          </p:cNvSpPr>
          <p:nvPr>
            <p:ph type="title"/>
          </p:nvPr>
        </p:nvSpPr>
        <p:spPr/>
        <p:txBody>
          <a:bodyPr/>
          <a:lstStyle/>
          <a:p>
            <a:r>
              <a:rPr lang="en-US"/>
              <a:t>P vs NP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0C6043-C929-FDE1-B5B7-91B3B2DDFBA9}"/>
                  </a:ext>
                </a:extLst>
              </p:cNvPr>
              <p:cNvSpPr>
                <a:spLocks noGrp="1"/>
              </p:cNvSpPr>
              <p:nvPr>
                <p:ph idx="1"/>
              </p:nvPr>
            </p:nvSpPr>
            <p:spPr/>
            <p:txBody>
              <a:bodyPr>
                <a:normAutofit lnSpcReduction="10000"/>
              </a:bodyPr>
              <a:lstStyle/>
              <a:p>
                <a:pPr algn="just"/>
                <a14:m>
                  <m:oMath xmlns:m="http://schemas.openxmlformats.org/officeDocument/2006/math">
                    <m:r>
                      <m:rPr>
                        <m:nor/>
                      </m:rPr>
                      <a:rPr lang="sr-Latn-BA">
                        <a:latin typeface="Cambria Math" panose="02040503050406030204" pitchFamily="18" charset="0"/>
                      </a:rPr>
                      <m:t>P</m:t>
                    </m:r>
                  </m:oMath>
                </a14:m>
                <a:r>
                  <a:rPr lang="sr-Latn-BA"/>
                  <a:t> (</a:t>
                </a:r>
                <a:r>
                  <a:rPr lang="sr-Latn-BA" i="1"/>
                  <a:t>polynomial) </a:t>
                </a:r>
                <a:r>
                  <a:rPr lang="sr-Latn-BA"/>
                  <a:t>je skup (jezik) problema odlučivanja</a:t>
                </a:r>
                <a:r>
                  <a:rPr lang="en-US"/>
                  <a:t> </a:t>
                </a:r>
                <a:r>
                  <a:rPr lang="sr-Latn-BA"/>
                  <a:t>sa algoritmom koji ih na klasičnom računaru rješava u polinomijalnom vremenu</a:t>
                </a:r>
                <a:r>
                  <a:rPr lang="en-US"/>
                  <a:t> </a:t>
                </a:r>
                <a14:m>
                  <m:oMath xmlns:m="http://schemas.openxmlformats.org/officeDocument/2006/math">
                    <m:r>
                      <a:rPr lang="en-US" i="1" smtClean="0">
                        <a:latin typeface="Cambria Math" panose="02040503050406030204" pitchFamily="18" charset="0"/>
                      </a:rPr>
                      <m:t>𝑂</m:t>
                    </m:r>
                    <m:r>
                      <a:rPr lang="en-US" i="1" smtClean="0">
                        <a:latin typeface="Cambria Math" panose="02040503050406030204" pitchFamily="18" charset="0"/>
                      </a:rPr>
                      <m:t>(</m:t>
                    </m:r>
                    <m:r>
                      <a:rPr lang="en-US" i="1" smtClean="0">
                        <a:latin typeface="Cambria Math" panose="02040503050406030204" pitchFamily="18" charset="0"/>
                      </a:rPr>
                      <m:t>𝑛</m:t>
                    </m:r>
                    <m:r>
                      <a:rPr lang="en-US" i="1" smtClean="0">
                        <a:latin typeface="Cambria Math" panose="02040503050406030204" pitchFamily="18" charset="0"/>
                      </a:rPr>
                      <m:t>^</m:t>
                    </m:r>
                    <m:r>
                      <a:rPr lang="en-US" i="1" smtClean="0">
                        <a:latin typeface="Cambria Math" panose="02040503050406030204" pitchFamily="18" charset="0"/>
                      </a:rPr>
                      <m:t>𝑘</m:t>
                    </m:r>
                    <m:r>
                      <a:rPr lang="en-US" i="1" smtClean="0">
                        <a:latin typeface="Cambria Math" panose="02040503050406030204" pitchFamily="18" charset="0"/>
                      </a:rPr>
                      <m:t>)</m:t>
                    </m:r>
                  </m:oMath>
                </a14:m>
                <a:r>
                  <a:rPr lang="sr-Latn-BA"/>
                  <a:t>.</a:t>
                </a:r>
                <a:endParaRPr lang="en-US"/>
              </a:p>
              <a:p>
                <a:pPr algn="just"/>
                <a14:m>
                  <m:oMath xmlns:m="http://schemas.openxmlformats.org/officeDocument/2006/math">
                    <m:r>
                      <m:rPr>
                        <m:nor/>
                      </m:rPr>
                      <a:rPr lang="sr-Latn-BA" i="0" smtClean="0">
                        <a:latin typeface="Cambria Math" panose="02040503050406030204" pitchFamily="18" charset="0"/>
                      </a:rPr>
                      <m:t>NP</m:t>
                    </m:r>
                  </m:oMath>
                </a14:m>
                <a:r>
                  <a:rPr lang="sr-Latn-BA"/>
                  <a:t> </a:t>
                </a:r>
                <a:r>
                  <a:rPr lang="en-US"/>
                  <a:t>(</a:t>
                </a:r>
                <a:r>
                  <a:rPr lang="en-US" i="1"/>
                  <a:t>nondeterministic polynomial</a:t>
                </a:r>
                <a:r>
                  <a:rPr lang="en-US"/>
                  <a:t>) </a:t>
                </a:r>
                <a:r>
                  <a:rPr lang="sr-Latn-BA"/>
                  <a:t>je skup (jezik) problema </a:t>
                </a:r>
                <a:r>
                  <a:rPr lang="en-US" err="1"/>
                  <a:t>odlučivanja</a:t>
                </a:r>
                <a:r>
                  <a:rPr lang="en-US"/>
                  <a:t> kod kojih se pripadnost jeziku može verifikovati,</a:t>
                </a:r>
                <a:r>
                  <a:rPr lang="sr-Latn-BA"/>
                  <a:t> </a:t>
                </a:r>
                <a:r>
                  <a:rPr lang="en-US"/>
                  <a:t>nekim primjerom (sertifikatom), </a:t>
                </a:r>
                <a:r>
                  <a:rPr lang="sr-Latn-BA"/>
                  <a:t>algoritmom</a:t>
                </a:r>
                <a:r>
                  <a:rPr lang="en-US"/>
                  <a:t> u </a:t>
                </a:r>
                <a:r>
                  <a:rPr lang="en-US" err="1"/>
                  <a:t>polinomijalnom</a:t>
                </a:r>
                <a:r>
                  <a:rPr lang="en-US"/>
                  <a:t> vremenu,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oMath>
                </a14:m>
                <a:r>
                  <a:rPr lang="en-US"/>
                  <a:t>, na </a:t>
                </a:r>
                <a:r>
                  <a:rPr lang="en-US" err="1"/>
                  <a:t>klasičnom</a:t>
                </a:r>
                <a:r>
                  <a:rPr lang="en-US"/>
                  <a:t> </a:t>
                </a:r>
                <a:r>
                  <a:rPr lang="en-US" err="1"/>
                  <a:t>računaru</a:t>
                </a:r>
                <a:r>
                  <a:rPr lang="en-US"/>
                  <a:t>.</a:t>
                </a:r>
              </a:p>
              <a:p>
                <a:pPr algn="just"/>
                <a14:m>
                  <m:oMath xmlns:m="http://schemas.openxmlformats.org/officeDocument/2006/math">
                    <m:r>
                      <m:rPr>
                        <m:nor/>
                      </m:rPr>
                      <a:rPr lang="en-US">
                        <a:latin typeface="Cambria Math" panose="02040503050406030204" pitchFamily="18" charset="0"/>
                        <a:ea typeface="Cambria Math" panose="02040503050406030204" pitchFamily="18" charset="0"/>
                      </a:rPr>
                      <m:t>NP</m:t>
                    </m:r>
                    <m:r>
                      <a:rPr lang="sr-Latn-BA">
                        <a:latin typeface="Cambria Math" panose="02040503050406030204" pitchFamily="18" charset="0"/>
                        <a:ea typeface="Cambria Math" panose="02040503050406030204" pitchFamily="18" charset="0"/>
                      </a:rPr>
                      <m:t>−</m:t>
                    </m:r>
                    <m:r>
                      <m:rPr>
                        <m:sty m:val="p"/>
                      </m:rPr>
                      <a:rPr lang="sr-Latn-BA">
                        <a:latin typeface="Cambria Math" panose="02040503050406030204" pitchFamily="18" charset="0"/>
                        <a:ea typeface="Cambria Math" panose="02040503050406030204" pitchFamily="18" charset="0"/>
                      </a:rPr>
                      <m:t>complete</m:t>
                    </m:r>
                  </m:oMath>
                </a14:m>
                <a:r>
                  <a:rPr lang="sr-Latn-BA">
                    <a:ea typeface="Cambria Math" panose="02040503050406030204" pitchFamily="18" charset="0"/>
                  </a:rPr>
                  <a:t> je skup (jezik) najtežih problema u </a:t>
                </a:r>
                <a14:m>
                  <m:oMath xmlns:m="http://schemas.openxmlformats.org/officeDocument/2006/math">
                    <m:r>
                      <m:rPr>
                        <m:nor/>
                      </m:rPr>
                      <a:rPr lang="en-US">
                        <a:latin typeface="Cambria Math" panose="02040503050406030204" pitchFamily="18" charset="0"/>
                        <a:ea typeface="Cambria Math" panose="02040503050406030204" pitchFamily="18" charset="0"/>
                      </a:rPr>
                      <m:t>NP</m:t>
                    </m:r>
                  </m:oMath>
                </a14:m>
                <a:r>
                  <a:rPr lang="sr-Latn-BA">
                    <a:ea typeface="Cambria Math" panose="02040503050406030204" pitchFamily="18" charset="0"/>
                  </a:rPr>
                  <a:t>.</a:t>
                </a:r>
                <a:endParaRPr lang="en-US">
                  <a:ea typeface="Cambria Math" panose="02040503050406030204" pitchFamily="18" charset="0"/>
                </a:endParaRPr>
              </a:p>
              <a:p>
                <a:pPr algn="just"/>
                <a14:m>
                  <m:oMath xmlns:m="http://schemas.openxmlformats.org/officeDocument/2006/math">
                    <m:r>
                      <m:rPr>
                        <m:nor/>
                      </m:rPr>
                      <a:rPr lang="sr-Latn-BA">
                        <a:latin typeface="Cambria Math" panose="02040503050406030204" pitchFamily="18" charset="0"/>
                      </a:rPr>
                      <m:t>P</m:t>
                    </m:r>
                  </m:oMath>
                </a14:m>
                <a:r>
                  <a:rPr lang="en-US"/>
                  <a:t>,</a:t>
                </a:r>
                <a:r>
                  <a:rPr lang="sr-Latn-BA"/>
                  <a:t> </a:t>
                </a:r>
                <a14:m>
                  <m:oMath xmlns:m="http://schemas.openxmlformats.org/officeDocument/2006/math">
                    <m:r>
                      <m:rPr>
                        <m:nor/>
                      </m:rPr>
                      <a:rPr lang="sr-Latn-BA">
                        <a:latin typeface="Cambria Math" panose="02040503050406030204" pitchFamily="18" charset="0"/>
                      </a:rPr>
                      <m:t>NP</m:t>
                    </m:r>
                  </m:oMath>
                </a14:m>
                <a:r>
                  <a:rPr lang="sr-Latn-BA"/>
                  <a:t> </a:t>
                </a:r>
                <a:r>
                  <a:rPr lang="en-US"/>
                  <a:t>i </a:t>
                </a:r>
                <a14:m>
                  <m:oMath xmlns:m="http://schemas.openxmlformats.org/officeDocument/2006/math">
                    <m:r>
                      <m:rPr>
                        <m:nor/>
                      </m:rPr>
                      <a:rPr lang="en-US">
                        <a:latin typeface="Cambria Math" panose="02040503050406030204" pitchFamily="18" charset="0"/>
                        <a:ea typeface="Cambria Math" panose="02040503050406030204" pitchFamily="18" charset="0"/>
                      </a:rPr>
                      <m:t>NP</m:t>
                    </m:r>
                    <m:r>
                      <a:rPr lang="sr-Latn-BA">
                        <a:latin typeface="Cambria Math" panose="02040503050406030204" pitchFamily="18" charset="0"/>
                        <a:ea typeface="Cambria Math" panose="02040503050406030204" pitchFamily="18" charset="0"/>
                      </a:rPr>
                      <m:t>−</m:t>
                    </m:r>
                    <m:r>
                      <m:rPr>
                        <m:sty m:val="p"/>
                      </m:rPr>
                      <a:rPr lang="sr-Latn-BA">
                        <a:latin typeface="Cambria Math" panose="02040503050406030204" pitchFamily="18" charset="0"/>
                        <a:ea typeface="Cambria Math" panose="02040503050406030204" pitchFamily="18" charset="0"/>
                      </a:rPr>
                      <m:t>complete</m:t>
                    </m:r>
                  </m:oMath>
                </a14:m>
                <a:r>
                  <a:rPr lang="sr-Latn-BA">
                    <a:ea typeface="Cambria Math" panose="02040503050406030204" pitchFamily="18" charset="0"/>
                  </a:rPr>
                  <a:t> </a:t>
                </a:r>
                <a:r>
                  <a:rPr lang="sr-Latn-BA"/>
                  <a:t>su tzv. klase kompleksnosti problema.</a:t>
                </a:r>
              </a:p>
              <a:p>
                <a:pPr algn="just"/>
                <a14:m>
                  <m:oMath xmlns:m="http://schemas.openxmlformats.org/officeDocument/2006/math">
                    <m:r>
                      <m:rPr>
                        <m:nor/>
                      </m:rPr>
                      <a:rPr lang="sr-Latn-BA">
                        <a:latin typeface="Cambria Math" panose="02040503050406030204" pitchFamily="18" charset="0"/>
                      </a:rPr>
                      <m:t>P</m:t>
                    </m:r>
                    <m:r>
                      <a:rPr lang="en-US" b="0" i="1" smtClean="0">
                        <a:latin typeface="Cambria Math" panose="02040503050406030204" pitchFamily="18" charset="0"/>
                        <a:ea typeface="Cambria Math" panose="02040503050406030204" pitchFamily="18" charset="0"/>
                      </a:rPr>
                      <m:t>⊆</m:t>
                    </m:r>
                    <m:r>
                      <m:rPr>
                        <m:nor/>
                      </m:rPr>
                      <a:rPr lang="sr-Latn-BA">
                        <a:latin typeface="Cambria Math" panose="02040503050406030204" pitchFamily="18" charset="0"/>
                      </a:rPr>
                      <m:t>NP</m:t>
                    </m:r>
                  </m:oMath>
                </a14:m>
                <a:r>
                  <a:rPr lang="sr-Latn-BA" b="0">
                    <a:ea typeface="Cambria Math" panose="02040503050406030204" pitchFamily="18" charset="0"/>
                  </a:rPr>
                  <a:t>. </a:t>
                </a:r>
              </a:p>
              <a:p>
                <a:pPr algn="just"/>
                <a:r>
                  <a:rPr lang="en-US"/>
                  <a:t>Vjeruje se da</a:t>
                </a:r>
                <a:r>
                  <a:rPr lang="sr-Latn-BA"/>
                  <a:t> </a:t>
                </a:r>
                <a14:m>
                  <m:oMath xmlns:m="http://schemas.openxmlformats.org/officeDocument/2006/math">
                    <m:r>
                      <m:rPr>
                        <m:nor/>
                      </m:rPr>
                      <a:rPr lang="sr-Latn-BA">
                        <a:latin typeface="Cambria Math" panose="02040503050406030204" pitchFamily="18" charset="0"/>
                      </a:rPr>
                      <m:t>P</m:t>
                    </m:r>
                    <m:r>
                      <a:rPr lang="en-US" i="1">
                        <a:latin typeface="Cambria Math" panose="02040503050406030204" pitchFamily="18" charset="0"/>
                        <a:ea typeface="Cambria Math" panose="02040503050406030204" pitchFamily="18" charset="0"/>
                      </a:rPr>
                      <m:t>≠</m:t>
                    </m:r>
                    <m:r>
                      <m:rPr>
                        <m:nor/>
                      </m:rPr>
                      <a:rPr lang="sr-Latn-BA">
                        <a:latin typeface="Cambria Math" panose="02040503050406030204" pitchFamily="18" charset="0"/>
                      </a:rPr>
                      <m:t>NP</m:t>
                    </m:r>
                  </m:oMath>
                </a14:m>
                <a:r>
                  <a:rPr lang="sr-Latn-BA">
                    <a:ea typeface="Cambria Math" panose="02040503050406030204" pitchFamily="18" charset="0"/>
                  </a:rPr>
                  <a:t>. Nije dokazano.</a:t>
                </a:r>
              </a:p>
            </p:txBody>
          </p:sp>
        </mc:Choice>
        <mc:Fallback xmlns="">
          <p:sp>
            <p:nvSpPr>
              <p:cNvPr id="3" name="Content Placeholder 2">
                <a:extLst>
                  <a:ext uri="{FF2B5EF4-FFF2-40B4-BE49-F238E27FC236}">
                    <a16:creationId xmlns:a16="http://schemas.microsoft.com/office/drawing/2014/main" id="{300C6043-C929-FDE1-B5B7-91B3B2DDFBA9}"/>
                  </a:ext>
                </a:extLst>
              </p:cNvPr>
              <p:cNvSpPr>
                <a:spLocks noGrp="1" noRot="1" noChangeAspect="1" noMove="1" noResize="1" noEditPoints="1" noAdjustHandles="1" noChangeArrowheads="1" noChangeShapeType="1" noTextEdit="1"/>
              </p:cNvSpPr>
              <p:nvPr>
                <p:ph idx="1"/>
              </p:nvPr>
            </p:nvSpPr>
            <p:spPr>
              <a:blipFill>
                <a:blip r:embed="rId2"/>
                <a:stretch>
                  <a:fillRect l="-1043" t="-3081" r="-1159" b="-2241"/>
                </a:stretch>
              </a:blipFill>
            </p:spPr>
            <p:txBody>
              <a:bodyPr/>
              <a:lstStyle/>
              <a:p>
                <a:r>
                  <a:rPr lang="en-US">
                    <a:noFill/>
                  </a:rPr>
                  <a:t> </a:t>
                </a:r>
              </a:p>
            </p:txBody>
          </p:sp>
        </mc:Fallback>
      </mc:AlternateContent>
    </p:spTree>
    <p:extLst>
      <p:ext uri="{BB962C8B-B14F-4D97-AF65-F5344CB8AC3E}">
        <p14:creationId xmlns:p14="http://schemas.microsoft.com/office/powerpoint/2010/main" val="239273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E8AB-7005-3AAE-EA25-48210895C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736D4-5BA3-A55D-15DC-134B64634317}"/>
              </a:ext>
            </a:extLst>
          </p:cNvPr>
          <p:cNvSpPr>
            <a:spLocks noGrp="1"/>
          </p:cNvSpPr>
          <p:nvPr>
            <p:ph type="title"/>
          </p:nvPr>
        </p:nvSpPr>
        <p:spPr/>
        <p:txBody>
          <a:bodyPr/>
          <a:lstStyle/>
          <a:p>
            <a:r>
              <a:rPr lang="en-US"/>
              <a:t>Funkcijski problemi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0C6043-C929-FDE1-B5B7-91B3B2DDFBA9}"/>
                  </a:ext>
                </a:extLst>
              </p:cNvPr>
              <p:cNvSpPr>
                <a:spLocks noGrp="1"/>
              </p:cNvSpPr>
              <p:nvPr>
                <p:ph idx="1"/>
              </p:nvPr>
            </p:nvSpPr>
            <p:spPr/>
            <p:txBody>
              <a:bodyPr>
                <a:normAutofit fontScale="92500"/>
              </a:bodyPr>
              <a:lstStyle/>
              <a:p>
                <a:pPr algn="just"/>
                <a:r>
                  <a:rPr lang="en-US"/>
                  <a:t>Funkcijski problem </a:t>
                </a:r>
                <a14:m>
                  <m:oMath xmlns:m="http://schemas.openxmlformats.org/officeDocument/2006/math">
                    <m:r>
                      <a:rPr lang="sr-Latn-BA" b="0" i="1" smtClean="0">
                        <a:latin typeface="Cambria Math" panose="02040503050406030204" pitchFamily="18" charset="0"/>
                      </a:rPr>
                      <m:t>𝐹</m:t>
                    </m:r>
                  </m:oMath>
                </a14:m>
                <a:r>
                  <a:rPr lang="en-US"/>
                  <a:t> je definisan relacijom </a:t>
                </a:r>
                <a14:m>
                  <m:oMath xmlns:m="http://schemas.openxmlformats.org/officeDocument/2006/math">
                    <m:r>
                      <a:rPr lang="en-US" b="0" i="1" smtClean="0">
                        <a:latin typeface="Cambria Math" panose="02040503050406030204" pitchFamily="18" charset="0"/>
                      </a:rPr>
                      <m:t>𝜌</m:t>
                    </m:r>
                  </m:oMath>
                </a14:m>
                <a:r>
                  <a:rPr lang="en-US"/>
                  <a:t> nad stringovima proizvoljnog alfabeta </a:t>
                </a:r>
                <a14:m>
                  <m:oMath xmlns:m="http://schemas.openxmlformats.org/officeDocument/2006/math">
                    <m:r>
                      <m:rPr>
                        <m:sty m:val="p"/>
                      </m:rPr>
                      <a:rPr lang="en-US" b="0" i="0" smtClean="0">
                        <a:latin typeface="Cambria Math" panose="02040503050406030204" pitchFamily="18" charset="0"/>
                      </a:rPr>
                      <m:t>Σ</m:t>
                    </m:r>
                  </m:oMath>
                </a14:m>
                <a:r>
                  <a:rPr lang="en-US"/>
                  <a:t>,</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Σ</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Σ</m:t>
                          </m:r>
                        </m:e>
                        <m:sup>
                          <m:r>
                            <a:rPr lang="en-US" b="0" i="1" smtClean="0">
                              <a:latin typeface="Cambria Math" panose="02040503050406030204" pitchFamily="18" charset="0"/>
                              <a:ea typeface="Cambria Math" panose="02040503050406030204" pitchFamily="18" charset="0"/>
                            </a:rPr>
                            <m:t>∗</m:t>
                          </m:r>
                        </m:sup>
                      </m:sSup>
                      <m:r>
                        <m:rPr>
                          <m:nor/>
                        </m:rPr>
                        <a:rPr lang="sr-Latn-BA" b="0" i="0" smtClean="0">
                          <a:latin typeface="Cambria Math" panose="02040503050406030204" pitchFamily="18" charset="0"/>
                          <a:ea typeface="Cambria Math" panose="02040503050406030204" pitchFamily="18" charset="0"/>
                        </a:rPr>
                        <m:t>.</m:t>
                      </m:r>
                    </m:oMath>
                  </m:oMathPara>
                </a14:m>
                <a:endParaRPr lang="en-US"/>
              </a:p>
              <a:p>
                <a:pPr algn="just"/>
                <a:r>
                  <a:rPr lang="en-US"/>
                  <a:t>Algoritam </a:t>
                </a:r>
                <a14:m>
                  <m:oMath xmlns:m="http://schemas.openxmlformats.org/officeDocument/2006/math">
                    <m:r>
                      <a:rPr lang="en-US" i="1" smtClean="0">
                        <a:latin typeface="Cambria Math" panose="02040503050406030204" pitchFamily="18" charset="0"/>
                      </a:rPr>
                      <m:t>𝐴</m:t>
                    </m:r>
                  </m:oMath>
                </a14:m>
                <a:r>
                  <a:rPr lang="en-US"/>
                  <a:t> rje</a:t>
                </a:r>
                <a:r>
                  <a:rPr lang="sr-Latn-BA"/>
                  <a:t>šava </a:t>
                </a:r>
                <a14:m>
                  <m:oMath xmlns:m="http://schemas.openxmlformats.org/officeDocument/2006/math">
                    <m:r>
                      <a:rPr lang="sr-Latn-BA" b="0" i="1" smtClean="0">
                        <a:latin typeface="Cambria Math" panose="02040503050406030204" pitchFamily="18" charset="0"/>
                      </a:rPr>
                      <m:t>𝐹</m:t>
                    </m:r>
                  </m:oMath>
                </a14:m>
                <a:r>
                  <a:rPr lang="sr-Latn-BA"/>
                  <a:t> ako za svaki ulaz </a:t>
                </a:r>
                <a14:m>
                  <m:oMath xmlns:m="http://schemas.openxmlformats.org/officeDocument/2006/math">
                    <m:r>
                      <a:rPr lang="sr-Latn-BA" i="1" smtClean="0">
                        <a:latin typeface="Cambria Math" panose="02040503050406030204" pitchFamily="18" charset="0"/>
                      </a:rPr>
                      <m:t>𝑥</m:t>
                    </m:r>
                  </m:oMath>
                </a14:m>
                <a:r>
                  <a:rPr lang="sr-Latn-BA"/>
                  <a:t> za koji postoji </a:t>
                </a:r>
                <a14:m>
                  <m:oMath xmlns:m="http://schemas.openxmlformats.org/officeDocument/2006/math">
                    <m:r>
                      <a:rPr lang="sr-Latn-BA" i="1" smtClean="0">
                        <a:latin typeface="Cambria Math" panose="02040503050406030204" pitchFamily="18" charset="0"/>
                      </a:rPr>
                      <m:t>𝑦</m:t>
                    </m:r>
                  </m:oMath>
                </a14:m>
                <a:r>
                  <a:rPr lang="sr-Latn-BA"/>
                  <a:t> t.d.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𝜌</m:t>
                    </m:r>
                  </m:oMath>
                </a14:m>
                <a:r>
                  <a:rPr lang="en-US"/>
                  <a:t>, </a:t>
                </a:r>
                <a14:m>
                  <m:oMath xmlns:m="http://schemas.openxmlformats.org/officeDocument/2006/math">
                    <m:r>
                      <a:rPr lang="en-US" i="1" smtClean="0">
                        <a:latin typeface="Cambria Math" panose="02040503050406030204" pitchFamily="18" charset="0"/>
                      </a:rPr>
                      <m:t>𝐴</m:t>
                    </m:r>
                  </m:oMath>
                </a14:m>
                <a:r>
                  <a:rPr lang="en-US"/>
                  <a:t> proizvodi </a:t>
                </a:r>
                <a14:m>
                  <m:oMath xmlns:m="http://schemas.openxmlformats.org/officeDocument/2006/math">
                    <m:r>
                      <a:rPr lang="en-US" b="0" i="1" smtClean="0">
                        <a:latin typeface="Cambria Math" panose="02040503050406030204" pitchFamily="18" charset="0"/>
                      </a:rPr>
                      <m:t>𝑦</m:t>
                    </m:r>
                  </m:oMath>
                </a14:m>
                <a:r>
                  <a:rPr lang="en-US"/>
                  <a:t>, odnosno, ako ne postoji takvo </a:t>
                </a:r>
                <a14:m>
                  <m:oMath xmlns:m="http://schemas.openxmlformats.org/officeDocument/2006/math">
                    <m:r>
                      <a:rPr lang="sr-Latn-BA" i="1">
                        <a:latin typeface="Cambria Math" panose="02040503050406030204" pitchFamily="18" charset="0"/>
                      </a:rPr>
                      <m:t>𝑦</m:t>
                    </m:r>
                  </m:oMath>
                </a14:m>
                <a:r>
                  <a:rPr lang="en-US"/>
                  <a:t>, vra</a:t>
                </a:r>
                <a:r>
                  <a:rPr lang="sr-Latn-BA"/>
                  <a:t>ća signal greške.</a:t>
                </a:r>
              </a:p>
              <a:p>
                <a:pPr algn="just"/>
                <a14:m>
                  <m:oMath xmlns:m="http://schemas.openxmlformats.org/officeDocument/2006/math">
                    <m:r>
                      <m:rPr>
                        <m:nor/>
                      </m:rPr>
                      <a:rPr lang="en-US" b="0" i="0" smtClean="0">
                        <a:latin typeface="Cambria Math" panose="02040503050406030204" pitchFamily="18" charset="0"/>
                      </a:rPr>
                      <m:t>FP</m:t>
                    </m:r>
                  </m:oMath>
                </a14:m>
                <a:r>
                  <a:rPr lang="en-US" b="1"/>
                  <a:t> </a:t>
                </a:r>
                <a:r>
                  <a:rPr lang="en-US"/>
                  <a:t>je skup relacija za koj</a:t>
                </a:r>
                <a:r>
                  <a:rPr lang="sr-Latn-BA"/>
                  <a:t>e</a:t>
                </a:r>
                <a:r>
                  <a:rPr lang="en-US"/>
                  <a:t> postoji algoritam koji </a:t>
                </a:r>
                <a:r>
                  <a:rPr lang="sr-Latn-BA"/>
                  <a:t>ih rješava u polinomijalnom vremenu na klasičnom računaru.</a:t>
                </a:r>
              </a:p>
              <a:p>
                <a:pPr algn="just"/>
                <a14:m>
                  <m:oMath xmlns:m="http://schemas.openxmlformats.org/officeDocument/2006/math">
                    <m:r>
                      <m:rPr>
                        <m:sty m:val="p"/>
                      </m:rPr>
                      <a:rPr lang="en-US" i="0" smtClean="0">
                        <a:latin typeface="Cambria Math" panose="02040503050406030204" pitchFamily="18" charset="0"/>
                      </a:rPr>
                      <m:t>F</m:t>
                    </m:r>
                    <m:r>
                      <m:rPr>
                        <m:sty m:val="p"/>
                      </m:rPr>
                      <a:rPr lang="sr-Latn-BA" i="0">
                        <a:latin typeface="Cambria Math" panose="02040503050406030204" pitchFamily="18" charset="0"/>
                      </a:rPr>
                      <m:t>N</m:t>
                    </m:r>
                    <m:r>
                      <m:rPr>
                        <m:sty m:val="p"/>
                      </m:rPr>
                      <a:rPr lang="en-US" i="0">
                        <a:latin typeface="Cambria Math" panose="02040503050406030204" pitchFamily="18" charset="0"/>
                      </a:rPr>
                      <m:t>P</m:t>
                    </m:r>
                  </m:oMath>
                </a14:m>
                <a:r>
                  <a:rPr lang="en-US"/>
                  <a:t> je skup relacija za koj</a:t>
                </a:r>
                <a:r>
                  <a:rPr lang="sr-Latn-BA"/>
                  <a:t>e</a:t>
                </a:r>
                <a:r>
                  <a:rPr lang="en-US"/>
                  <a:t> postoji algoritam koji </a:t>
                </a:r>
                <a:r>
                  <a:rPr lang="sr-Latn-BA"/>
                  <a:t>verifikuje pripadajuće parove u polinomijalnom vremenu na klasičnom računaru.</a:t>
                </a:r>
                <a:endParaRPr lang="en-US" b="1"/>
              </a:p>
              <a:p>
                <a:pPr algn="just"/>
                <a14:m>
                  <m:oMath xmlns:m="http://schemas.openxmlformats.org/officeDocument/2006/math">
                    <m:d>
                      <m:dPr>
                        <m:ctrlPr>
                          <a:rPr lang="sr-Latn-BA" b="0" i="1" smtClean="0">
                            <a:latin typeface="Cambria Math" panose="02040503050406030204" pitchFamily="18" charset="0"/>
                          </a:rPr>
                        </m:ctrlPr>
                      </m:dPr>
                      <m:e>
                        <m:r>
                          <m:rPr>
                            <m:sty m:val="p"/>
                          </m:rPr>
                          <a:rPr lang="sr-Latn-BA" b="0" i="0" smtClean="0">
                            <a:latin typeface="Cambria Math" panose="02040503050406030204" pitchFamily="18" charset="0"/>
                          </a:rPr>
                          <m:t>P</m:t>
                        </m:r>
                        <m:r>
                          <a:rPr lang="en-US" b="0" i="0">
                            <a:latin typeface="Cambria Math" panose="02040503050406030204" pitchFamily="18" charset="0"/>
                          </a:rPr>
                          <m:t>=</m:t>
                        </m:r>
                        <m:r>
                          <m:rPr>
                            <m:sty m:val="p"/>
                          </m:rPr>
                          <a:rPr lang="en-US" b="0" i="0">
                            <a:latin typeface="Cambria Math" panose="02040503050406030204" pitchFamily="18" charset="0"/>
                          </a:rPr>
                          <m:t>NP</m:t>
                        </m:r>
                      </m:e>
                    </m:d>
                    <m:r>
                      <a:rPr lang="en-US" b="0" i="0">
                        <a:latin typeface="Cambria Math" panose="02040503050406030204" pitchFamily="18" charset="0"/>
                      </a:rPr>
                      <m:t> </m:t>
                    </m:r>
                    <m:r>
                      <a:rPr lang="en-US" b="0" i="0">
                        <a:latin typeface="Cambria Math" panose="02040503050406030204" pitchFamily="18" charset="0"/>
                        <a:sym typeface="Wingdings" panose="05000000000000000000" pitchFamily="2" charset="2"/>
                      </a:rPr>
                      <m:t> </m:t>
                    </m:r>
                    <m:d>
                      <m:dPr>
                        <m:ctrlPr>
                          <a:rPr lang="sr-Latn-BA" b="0" i="1" smtClean="0">
                            <a:latin typeface="Cambria Math" panose="02040503050406030204" pitchFamily="18" charset="0"/>
                            <a:sym typeface="Wingdings" panose="05000000000000000000" pitchFamily="2" charset="2"/>
                          </a:rPr>
                        </m:ctrlPr>
                      </m:dPr>
                      <m:e>
                        <m:r>
                          <m:rPr>
                            <m:sty m:val="p"/>
                          </m:rPr>
                          <a:rPr lang="en-US" b="0" i="0">
                            <a:latin typeface="Cambria Math" panose="02040503050406030204" pitchFamily="18" charset="0"/>
                            <a:sym typeface="Wingdings" panose="05000000000000000000" pitchFamily="2" charset="2"/>
                          </a:rPr>
                          <m:t>FP</m:t>
                        </m:r>
                        <m:r>
                          <a:rPr lang="en-US" b="0" i="0">
                            <a:latin typeface="Cambria Math" panose="02040503050406030204" pitchFamily="18" charset="0"/>
                            <a:sym typeface="Wingdings" panose="05000000000000000000" pitchFamily="2" charset="2"/>
                          </a:rPr>
                          <m:t>=</m:t>
                        </m:r>
                        <m:r>
                          <m:rPr>
                            <m:sty m:val="p"/>
                          </m:rPr>
                          <a:rPr lang="en-US" b="0" i="0">
                            <a:latin typeface="Cambria Math" panose="02040503050406030204" pitchFamily="18" charset="0"/>
                            <a:sym typeface="Wingdings" panose="05000000000000000000" pitchFamily="2" charset="2"/>
                          </a:rPr>
                          <m:t>FNP</m:t>
                        </m:r>
                      </m:e>
                    </m:d>
                  </m:oMath>
                </a14:m>
                <a:endParaRPr lang="sr-Latn-BA"/>
              </a:p>
            </p:txBody>
          </p:sp>
        </mc:Choice>
        <mc:Fallback xmlns="">
          <p:sp>
            <p:nvSpPr>
              <p:cNvPr id="3" name="Content Placeholder 2">
                <a:extLst>
                  <a:ext uri="{FF2B5EF4-FFF2-40B4-BE49-F238E27FC236}">
                    <a16:creationId xmlns:a16="http://schemas.microsoft.com/office/drawing/2014/main" id="{300C6043-C929-FDE1-B5B7-91B3B2DDFBA9}"/>
                  </a:ext>
                </a:extLst>
              </p:cNvPr>
              <p:cNvSpPr>
                <a:spLocks noGrp="1" noRot="1" noChangeAspect="1" noMove="1" noResize="1" noEditPoints="1" noAdjustHandles="1" noChangeArrowheads="1" noChangeShapeType="1" noTextEdit="1"/>
              </p:cNvSpPr>
              <p:nvPr>
                <p:ph idx="1"/>
              </p:nvPr>
            </p:nvSpPr>
            <p:spPr>
              <a:blipFill>
                <a:blip r:embed="rId2"/>
                <a:stretch>
                  <a:fillRect l="-928" t="-2101" r="-986"/>
                </a:stretch>
              </a:blipFill>
            </p:spPr>
            <p:txBody>
              <a:bodyPr/>
              <a:lstStyle/>
              <a:p>
                <a:r>
                  <a:rPr lang="en-US">
                    <a:noFill/>
                  </a:rPr>
                  <a:t> </a:t>
                </a:r>
              </a:p>
            </p:txBody>
          </p:sp>
        </mc:Fallback>
      </mc:AlternateContent>
    </p:spTree>
    <p:extLst>
      <p:ext uri="{BB962C8B-B14F-4D97-AF65-F5344CB8AC3E}">
        <p14:creationId xmlns:p14="http://schemas.microsoft.com/office/powerpoint/2010/main" val="426437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1F0C7-9630-EFC1-5EB3-E1866FDD0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4E2A3-4BEE-2434-85B3-63A345883098}"/>
              </a:ext>
            </a:extLst>
          </p:cNvPr>
          <p:cNvSpPr>
            <a:spLocks noGrp="1"/>
          </p:cNvSpPr>
          <p:nvPr>
            <p:ph type="title"/>
          </p:nvPr>
        </p:nvSpPr>
        <p:spPr/>
        <p:txBody>
          <a:bodyPr/>
          <a:lstStyle/>
          <a:p>
            <a:r>
              <a:rPr lang="sr-Latn-BA"/>
              <a:t>Aritmetičke operacije</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9F7D36-071F-F8A3-4CD9-89DCA6305867}"/>
                  </a:ext>
                </a:extLst>
              </p:cNvPr>
              <p:cNvSpPr>
                <a:spLocks noGrp="1"/>
              </p:cNvSpPr>
              <p:nvPr>
                <p:ph idx="1"/>
              </p:nvPr>
            </p:nvSpPr>
            <p:spPr/>
            <p:txBody>
              <a:bodyPr>
                <a:normAutofit/>
              </a:bodyPr>
              <a:lstStyle/>
              <a:p>
                <a:pPr algn="just"/>
                <a:r>
                  <a:rPr lang="sr-Latn-BA"/>
                  <a:t>Funkcijski problem</a:t>
                </a:r>
                <a:r>
                  <a:rPr lang="en-US"/>
                  <a:t> iz </a:t>
                </a:r>
                <a14:m>
                  <m:oMath xmlns:m="http://schemas.openxmlformats.org/officeDocument/2006/math">
                    <m:r>
                      <m:rPr>
                        <m:sty m:val="p"/>
                      </m:rPr>
                      <a:rPr lang="en-US" b="0" i="0" smtClean="0">
                        <a:latin typeface="Cambria Math" panose="02040503050406030204" pitchFamily="18" charset="0"/>
                      </a:rPr>
                      <m:t>FP</m:t>
                    </m:r>
                  </m:oMath>
                </a14:m>
                <a:r>
                  <a:rPr lang="sr-Latn-BA"/>
                  <a:t>.</a:t>
                </a:r>
              </a:p>
              <a:p>
                <a:pPr algn="just"/>
                <a:r>
                  <a:rPr lang="sr-Latn-BA"/>
                  <a:t>Nisu </a:t>
                </a:r>
                <a14:m>
                  <m:oMath xmlns:m="http://schemas.openxmlformats.org/officeDocument/2006/math">
                    <m:r>
                      <a:rPr lang="sr-Latn-BA" i="1" smtClean="0">
                        <a:latin typeface="Cambria Math" panose="02040503050406030204" pitchFamily="18" charset="0"/>
                      </a:rPr>
                      <m:t>𝑂</m:t>
                    </m:r>
                    <m:r>
                      <a:rPr lang="sr-Latn-BA" i="1" smtClean="0">
                        <a:latin typeface="Cambria Math" panose="02040503050406030204" pitchFamily="18" charset="0"/>
                      </a:rPr>
                      <m:t>(1)</m:t>
                    </m:r>
                  </m:oMath>
                </a14:m>
                <a:r>
                  <a:rPr lang="sr-Latn-BA"/>
                  <a:t> za proizvoljan broj cifara</a:t>
                </a:r>
                <a:r>
                  <a:rPr lang="en-US"/>
                  <a:t> </a:t>
                </a:r>
                <a14:m>
                  <m:oMath xmlns:m="http://schemas.openxmlformats.org/officeDocument/2006/math">
                    <m:r>
                      <a:rPr lang="en-US" i="1" smtClean="0">
                        <a:latin typeface="Cambria Math" panose="02040503050406030204" pitchFamily="18" charset="0"/>
                      </a:rPr>
                      <m:t>𝑛</m:t>
                    </m:r>
                  </m:oMath>
                </a14:m>
                <a:r>
                  <a:rPr lang="sr-Latn-BA"/>
                  <a:t>.</a:t>
                </a:r>
              </a:p>
              <a:p>
                <a:pPr algn="just"/>
                <a:r>
                  <a:rPr lang="sr-Latn-BA"/>
                  <a:t>Školski algoritmi:</a:t>
                </a:r>
                <a:endParaRPr lang="en-US"/>
              </a:p>
              <a:p>
                <a:pPr algn="just"/>
                <a:r>
                  <a:rPr lang="en-US"/>
                  <a:t>Sabiranje: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b="0"/>
              </a:p>
              <a:p>
                <a:pPr algn="just"/>
                <a:r>
                  <a:rPr lang="en-US"/>
                  <a:t>Oduzimanje: </a:t>
                </a:r>
                <a14:m>
                  <m:oMath xmlns:m="http://schemas.openxmlformats.org/officeDocument/2006/math">
                    <m:r>
                      <m:rPr>
                        <m:sty m:val="p"/>
                      </m:rPr>
                      <a:rPr lang="en-US">
                        <a:latin typeface="Cambria Math" panose="02040503050406030204" pitchFamily="18" charset="0"/>
                      </a:rPr>
                      <m:t>Θ</m:t>
                    </m:r>
                    <m:d>
                      <m:dPr>
                        <m:ctrlPr>
                          <a:rPr lang="en-US" i="1">
                            <a:latin typeface="Cambria Math" panose="02040503050406030204" pitchFamily="18" charset="0"/>
                          </a:rPr>
                        </m:ctrlPr>
                      </m:dPr>
                      <m:e>
                        <m:r>
                          <a:rPr lang="en-US" i="1">
                            <a:latin typeface="Cambria Math" panose="02040503050406030204" pitchFamily="18" charset="0"/>
                          </a:rPr>
                          <m:t>𝑛</m:t>
                        </m:r>
                      </m:e>
                    </m:d>
                  </m:oMath>
                </a14:m>
                <a:endParaRPr lang="en-US"/>
              </a:p>
              <a:p>
                <a:pPr algn="just"/>
                <a:r>
                  <a:rPr lang="en-US"/>
                  <a:t>Mno</a:t>
                </a:r>
                <a:r>
                  <a:rPr lang="sr-Latn-BA"/>
                  <a:t>ženje: </a:t>
                </a:r>
                <a14:m>
                  <m:oMath xmlns:m="http://schemas.openxmlformats.org/officeDocument/2006/math">
                    <m:r>
                      <m:rPr>
                        <m:sty m:val="p"/>
                      </m:rPr>
                      <a:rPr lang="sr-Latn-BA" b="0" i="0" smtClean="0">
                        <a:latin typeface="Cambria Math" panose="02040503050406030204" pitchFamily="18" charset="0"/>
                      </a:rPr>
                      <m:t>O</m:t>
                    </m:r>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2</m:t>
                            </m:r>
                          </m:sup>
                        </m:sSup>
                      </m:e>
                    </m:d>
                  </m:oMath>
                </a14:m>
                <a:endParaRPr lang="sr-Latn-BA"/>
              </a:p>
              <a:p>
                <a:pPr algn="just"/>
                <a:r>
                  <a:rPr lang="sr-Latn-BA"/>
                  <a:t>Dijeljenje: </a:t>
                </a:r>
                <a14:m>
                  <m:oMath xmlns:m="http://schemas.openxmlformats.org/officeDocument/2006/math">
                    <m:r>
                      <m:rPr>
                        <m:sty m:val="p"/>
                      </m:rPr>
                      <a:rPr lang="sr-Latn-BA">
                        <a:latin typeface="Cambria Math" panose="02040503050406030204" pitchFamily="18" charset="0"/>
                      </a:rPr>
                      <m:t>O</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2</m:t>
                            </m:r>
                          </m:sup>
                        </m:sSup>
                      </m:e>
                    </m:d>
                  </m:oMath>
                </a14:m>
                <a:endParaRPr lang="en-US"/>
              </a:p>
              <a:p>
                <a:pPr algn="just"/>
                <a:r>
                  <a:rPr lang="sr-Latn-BA" b="1"/>
                  <a:t>Napomena: ovdje je </a:t>
                </a:r>
                <a14:m>
                  <m:oMath xmlns:m="http://schemas.openxmlformats.org/officeDocument/2006/math">
                    <m:r>
                      <a:rPr lang="en-US" i="1">
                        <a:latin typeface="Cambria Math" panose="02040503050406030204" pitchFamily="18" charset="0"/>
                      </a:rPr>
                      <m:t>𝑛</m:t>
                    </m:r>
                  </m:oMath>
                </a14:m>
                <a:r>
                  <a:rPr lang="sr-Latn-BA" b="1"/>
                  <a:t> broj cifara operanada, a ne sam operand!</a:t>
                </a:r>
              </a:p>
            </p:txBody>
          </p:sp>
        </mc:Choice>
        <mc:Fallback xmlns="">
          <p:sp>
            <p:nvSpPr>
              <p:cNvPr id="3" name="Content Placeholder 2">
                <a:extLst>
                  <a:ext uri="{FF2B5EF4-FFF2-40B4-BE49-F238E27FC236}">
                    <a16:creationId xmlns:a16="http://schemas.microsoft.com/office/drawing/2014/main" id="{009F7D36-071F-F8A3-4CD9-89DCA6305867}"/>
                  </a:ext>
                </a:extLst>
              </p:cNvPr>
              <p:cNvSpPr>
                <a:spLocks noGrp="1" noRot="1" noChangeAspect="1" noMove="1" noResize="1" noEditPoints="1" noAdjustHandles="1" noChangeArrowheads="1" noChangeShapeType="1" noTextEdit="1"/>
              </p:cNvSpPr>
              <p:nvPr>
                <p:ph idx="1"/>
              </p:nvPr>
            </p:nvSpPr>
            <p:spPr>
              <a:blipFill>
                <a:blip r:embed="rId2"/>
                <a:stretch>
                  <a:fillRect l="-1043" t="-2241" b="-1261"/>
                </a:stretch>
              </a:blipFill>
            </p:spPr>
            <p:txBody>
              <a:bodyPr/>
              <a:lstStyle/>
              <a:p>
                <a:r>
                  <a:rPr lang="en-US">
                    <a:noFill/>
                  </a:rPr>
                  <a:t> </a:t>
                </a:r>
              </a:p>
            </p:txBody>
          </p:sp>
        </mc:Fallback>
      </mc:AlternateContent>
    </p:spTree>
    <p:extLst>
      <p:ext uri="{BB962C8B-B14F-4D97-AF65-F5344CB8AC3E}">
        <p14:creationId xmlns:p14="http://schemas.microsoft.com/office/powerpoint/2010/main" val="106425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C10E1-898A-0010-5D0E-7B18FF0097F9}"/>
              </a:ext>
            </a:extLst>
          </p:cNvPr>
          <p:cNvSpPr>
            <a:spLocks noGrp="1"/>
          </p:cNvSpPr>
          <p:nvPr>
            <p:ph type="title"/>
          </p:nvPr>
        </p:nvSpPr>
        <p:spPr/>
        <p:txBody>
          <a:bodyPr/>
          <a:lstStyle/>
          <a:p>
            <a:r>
              <a:rPr lang="sr-Latn-BA"/>
              <a:t>Matrično množenje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A934B2-DB38-938E-F1FF-15E3B6603DDD}"/>
                  </a:ext>
                </a:extLst>
              </p:cNvPr>
              <p:cNvSpPr>
                <a:spLocks noGrp="1"/>
              </p:cNvSpPr>
              <p:nvPr>
                <p:ph idx="1"/>
              </p:nvPr>
            </p:nvSpPr>
            <p:spPr/>
            <p:txBody>
              <a:bodyPr>
                <a:normAutofit lnSpcReduction="10000"/>
              </a:bodyPr>
              <a:lstStyle/>
              <a:p>
                <a:pPr algn="just"/>
                <a:r>
                  <a:rPr lang="sr-Latn-BA"/>
                  <a:t>Da li se ovaj problem može riješiti algoritmom u polinomijalnom vremenu</a:t>
                </a:r>
                <a:r>
                  <a:rPr lang="en-US"/>
                  <a:t> na klasi</a:t>
                </a:r>
                <a:r>
                  <a:rPr lang="sr-Latn-BA"/>
                  <a:t>čnom računaru?</a:t>
                </a:r>
              </a:p>
              <a:p>
                <a:pPr algn="just"/>
                <a:r>
                  <a:rPr lang="sr-Latn-BA"/>
                  <a:t>Koja bi bila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Θ</m:t>
                    </m:r>
                  </m:oMath>
                </a14:m>
                <a:r>
                  <a:rPr lang="sr-Latn-BA"/>
                  <a:t> kompleksnost takvog algoritma?</a:t>
                </a:r>
              </a:p>
              <a:p>
                <a:pPr algn="just"/>
                <a:r>
                  <a:rPr lang="sr-Latn-BA"/>
                  <a:t>Da li je to najmanja moguća?</a:t>
                </a:r>
              </a:p>
              <a:p>
                <a:pPr algn="just"/>
                <a:r>
                  <a:rPr lang="en-US" sz="2800" i="1">
                    <a:effectLst/>
                    <a:latin typeface="Calibri" panose="020F0502020204030204" pitchFamily="34" charset="0"/>
                  </a:rPr>
                  <a:t>Strassen</a:t>
                </a:r>
                <a:r>
                  <a:rPr lang="en-US" sz="2800">
                    <a:effectLst/>
                    <a:latin typeface="Calibri" panose="020F0502020204030204" pitchFamily="34" charset="0"/>
                  </a:rPr>
                  <a:t> algoritam u </a:t>
                </a:r>
                <a14:m>
                  <m:oMath xmlns:m="http://schemas.openxmlformats.org/officeDocument/2006/math">
                    <m:r>
                      <a:rPr lang="en-US" sz="2800" i="1" smtClean="0">
                        <a:effectLst/>
                        <a:latin typeface="Cambria Math" panose="02040503050406030204" pitchFamily="18" charset="0"/>
                      </a:rPr>
                      <m:t>𝑂</m:t>
                    </m:r>
                    <m:r>
                      <a:rPr lang="en-US" sz="2800" i="1" smtClean="0">
                        <a:effectLst/>
                        <a:latin typeface="Cambria Math" panose="02040503050406030204" pitchFamily="18" charset="0"/>
                      </a:rPr>
                      <m:t>(</m:t>
                    </m:r>
                    <m:sSup>
                      <m:sSupPr>
                        <m:ctrlPr>
                          <a:rPr lang="en-US" sz="2800" b="0" i="1" smtClean="0">
                            <a:effectLst/>
                            <a:latin typeface="Cambria Math" panose="02040503050406030204" pitchFamily="18" charset="0"/>
                          </a:rPr>
                        </m:ctrlPr>
                      </m:sSupPr>
                      <m:e>
                        <m:r>
                          <a:rPr lang="en-US" sz="2800" i="1" smtClean="0">
                            <a:effectLst/>
                            <a:latin typeface="Cambria Math" panose="02040503050406030204" pitchFamily="18" charset="0"/>
                          </a:rPr>
                          <m:t>𝑛</m:t>
                        </m:r>
                      </m:e>
                      <m:sup>
                        <m:r>
                          <a:rPr lang="en-US" i="1">
                            <a:latin typeface="Cambria Math" panose="02040503050406030204" pitchFamily="18" charset="0"/>
                          </a:rPr>
                          <m:t>2.807</m:t>
                        </m:r>
                      </m:sup>
                    </m:sSup>
                    <m:r>
                      <a:rPr lang="en-US" sz="2800" i="1" smtClean="0">
                        <a:effectLst/>
                        <a:latin typeface="Cambria Math" panose="02040503050406030204" pitchFamily="18" charset="0"/>
                      </a:rPr>
                      <m:t>)</m:t>
                    </m:r>
                  </m:oMath>
                </a14:m>
                <a:r>
                  <a:rPr lang="en-US" sz="2800">
                    <a:effectLst/>
                    <a:latin typeface="Calibri" panose="020F0502020204030204" pitchFamily="34" charset="0"/>
                  </a:rPr>
                  <a:t>.</a:t>
                </a:r>
              </a:p>
              <a:p>
                <a:pPr algn="just"/>
                <a:r>
                  <a:rPr lang="en-US" sz="2800" i="1">
                    <a:effectLst/>
                    <a:latin typeface="Calibri" panose="020F0502020204030204" pitchFamily="34" charset="0"/>
                  </a:rPr>
                  <a:t>Coppersmith-Winograd</a:t>
                </a:r>
                <a:r>
                  <a:rPr lang="en-US" sz="2800">
                    <a:effectLst/>
                    <a:latin typeface="Calibri" panose="020F0502020204030204" pitchFamily="34" charset="0"/>
                  </a:rPr>
                  <a:t> </a:t>
                </a:r>
                <a:r>
                  <a:rPr lang="sr-Latn-BA" sz="2800">
                    <a:effectLst/>
                    <a:latin typeface="Calibri" panose="020F0502020204030204" pitchFamily="34" charset="0"/>
                  </a:rPr>
                  <a:t>galaktički algoritam </a:t>
                </a:r>
                <a:r>
                  <a:rPr lang="en-US" sz="2800">
                    <a:effectLst/>
                    <a:latin typeface="Calibri" panose="020F0502020204030204" pitchFamily="34" charset="0"/>
                  </a:rPr>
                  <a:t>u </a:t>
                </a:r>
                <a14:m>
                  <m:oMath xmlns:m="http://schemas.openxmlformats.org/officeDocument/2006/math">
                    <m:r>
                      <a:rPr lang="en-US" sz="2800" i="1" smtClean="0">
                        <a:effectLst/>
                        <a:latin typeface="Cambria Math" panose="02040503050406030204" pitchFamily="18" charset="0"/>
                      </a:rPr>
                      <m:t>𝑂</m:t>
                    </m:r>
                    <m:r>
                      <a:rPr lang="en-US" sz="2800" i="1" smtClean="0">
                        <a:effectLst/>
                        <a:latin typeface="Cambria Math" panose="02040503050406030204" pitchFamily="18" charset="0"/>
                      </a:rPr>
                      <m:t>(</m:t>
                    </m:r>
                    <m:sSup>
                      <m:sSupPr>
                        <m:ctrlPr>
                          <a:rPr lang="en-US" sz="2800" b="0" i="1" smtClean="0">
                            <a:effectLst/>
                            <a:latin typeface="Cambria Math" panose="02040503050406030204" pitchFamily="18" charset="0"/>
                          </a:rPr>
                        </m:ctrlPr>
                      </m:sSupPr>
                      <m:e>
                        <m:r>
                          <a:rPr lang="en-US" sz="2800" i="1" smtClean="0">
                            <a:effectLst/>
                            <a:latin typeface="Cambria Math" panose="02040503050406030204" pitchFamily="18" charset="0"/>
                          </a:rPr>
                          <m:t>𝑛</m:t>
                        </m:r>
                      </m:e>
                      <m:sup>
                        <m:r>
                          <a:rPr lang="en-US" i="1">
                            <a:latin typeface="Cambria Math" panose="02040503050406030204" pitchFamily="18" charset="0"/>
                          </a:rPr>
                          <m:t>2.373</m:t>
                        </m:r>
                      </m:sup>
                    </m:sSup>
                    <m:r>
                      <a:rPr lang="en-US" sz="2800" i="1" smtClean="0">
                        <a:effectLst/>
                        <a:latin typeface="Cambria Math" panose="02040503050406030204" pitchFamily="18" charset="0"/>
                      </a:rPr>
                      <m:t>)</m:t>
                    </m:r>
                  </m:oMath>
                </a14:m>
                <a:r>
                  <a:rPr lang="en-US" sz="2800">
                    <a:effectLst/>
                    <a:latin typeface="Calibri" panose="020F0502020204030204" pitchFamily="34" charset="0"/>
                  </a:rPr>
                  <a:t>.</a:t>
                </a:r>
                <a:endParaRPr lang="sr-Latn-BA" sz="2800">
                  <a:effectLst/>
                  <a:latin typeface="Calibri" panose="020F0502020204030204" pitchFamily="34" charset="0"/>
                </a:endParaRPr>
              </a:p>
              <a:p>
                <a:pPr algn="just"/>
                <a:r>
                  <a:rPr lang="sr-Latn-BA"/>
                  <a:t>Galaktički algoritam je onaj za koji važi da konstantni koeficijent broja koraka izračunavanja koji se „ne vidi“ od asimptotske notacije je dovoljno velik da se isplati koristiti algoritam samo za ulaze koji su preveliki za obradu na savremenim računarima.</a:t>
                </a:r>
              </a:p>
            </p:txBody>
          </p:sp>
        </mc:Choice>
        <mc:Fallback xmlns="">
          <p:sp>
            <p:nvSpPr>
              <p:cNvPr id="3" name="Content Placeholder 2">
                <a:extLst>
                  <a:ext uri="{FF2B5EF4-FFF2-40B4-BE49-F238E27FC236}">
                    <a16:creationId xmlns:a16="http://schemas.microsoft.com/office/drawing/2014/main" id="{A2A934B2-DB38-938E-F1FF-15E3B6603DDD}"/>
                  </a:ext>
                </a:extLst>
              </p:cNvPr>
              <p:cNvSpPr>
                <a:spLocks noGrp="1" noRot="1" noChangeAspect="1" noMove="1" noResize="1" noEditPoints="1" noAdjustHandles="1" noChangeArrowheads="1" noChangeShapeType="1" noTextEdit="1"/>
              </p:cNvSpPr>
              <p:nvPr>
                <p:ph idx="1"/>
              </p:nvPr>
            </p:nvSpPr>
            <p:spPr>
              <a:blipFill>
                <a:blip r:embed="rId2"/>
                <a:stretch>
                  <a:fillRect l="-1043" t="-3081" r="-1159" b="-2241"/>
                </a:stretch>
              </a:blipFill>
            </p:spPr>
            <p:txBody>
              <a:bodyPr/>
              <a:lstStyle/>
              <a:p>
                <a:r>
                  <a:rPr lang="en-US">
                    <a:noFill/>
                  </a:rPr>
                  <a:t> </a:t>
                </a:r>
              </a:p>
            </p:txBody>
          </p:sp>
        </mc:Fallback>
      </mc:AlternateContent>
    </p:spTree>
    <p:extLst>
      <p:ext uri="{BB962C8B-B14F-4D97-AF65-F5344CB8AC3E}">
        <p14:creationId xmlns:p14="http://schemas.microsoft.com/office/powerpoint/2010/main" val="68848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52D6-9DC2-AB6A-FAE6-9AED41C3EC04}"/>
              </a:ext>
            </a:extLst>
          </p:cNvPr>
          <p:cNvSpPr>
            <a:spLocks noGrp="1"/>
          </p:cNvSpPr>
          <p:nvPr>
            <p:ph type="title"/>
          </p:nvPr>
        </p:nvSpPr>
        <p:spPr/>
        <p:txBody>
          <a:bodyPr/>
          <a:lstStyle/>
          <a:p>
            <a:r>
              <a:rPr lang="en-US"/>
              <a:t>Problem zadovoljivosti logi</a:t>
            </a:r>
            <a:r>
              <a:rPr lang="sr-Latn-BA"/>
              <a:t>čke formule </a:t>
            </a:r>
            <a:r>
              <a:rPr lang="sr-Latn-BA" sz="2400"/>
              <a:t>(</a:t>
            </a:r>
            <a:r>
              <a:rPr lang="sr-Latn-BA" sz="2400" i="1"/>
              <a:t>Satisfiability</a:t>
            </a:r>
            <a:r>
              <a:rPr lang="en-US" sz="2400" i="1"/>
              <a:t>, SAT</a:t>
            </a:r>
            <a:r>
              <a:rPr lang="sr-Latn-BA" sz="2400"/>
              <a:t>)</a:t>
            </a:r>
            <a:endParaRPr lang="sr-Latn-BA"/>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3415AE-67E2-7D1B-9F7C-C90764BBA90B}"/>
                  </a:ext>
                </a:extLst>
              </p:cNvPr>
              <p:cNvSpPr>
                <a:spLocks noGrp="1"/>
              </p:cNvSpPr>
              <p:nvPr>
                <p:ph idx="1"/>
              </p:nvPr>
            </p:nvSpPr>
            <p:spPr/>
            <p:txBody>
              <a:bodyPr>
                <a:normAutofit fontScale="77500" lnSpcReduction="20000"/>
              </a:bodyPr>
              <a:lstStyle/>
              <a:p>
                <a:r>
                  <a:rPr lang="sr-Latn-BA"/>
                  <a:t>3SAT: Neka je data sljedeća logička formula</a:t>
                </a:r>
                <a:r>
                  <a:rPr lang="en-US"/>
                  <a:t> (funkcija) </a:t>
                </a:r>
                <a14:m>
                  <m:oMath xmlns:m="http://schemas.openxmlformats.org/officeDocument/2006/math">
                    <m:r>
                      <a:rPr lang="en-US" sz="2800" b="0" i="1" smtClean="0">
                        <a:latin typeface="Cambria Math" panose="02040503050406030204" pitchFamily="18" charset="0"/>
                      </a:rPr>
                      <m:t>𝜙</m:t>
                    </m:r>
                    <m:r>
                      <a:rPr lang="en-US" sz="2800"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a:latin typeface="Cambria Math" panose="02040503050406030204" pitchFamily="18" charset="0"/>
                          </a:rPr>
                          <m:t>{</m:t>
                        </m:r>
                        <m:r>
                          <m:rPr>
                            <m:nor/>
                          </m:rPr>
                          <a:rPr lang="en-US"/>
                          <m:t>⊤,⊥}</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a:rPr lang="en-US" b="0" i="1">
                        <a:latin typeface="Cambria Math" panose="02040503050406030204" pitchFamily="18" charset="0"/>
                      </a:rPr>
                      <m:t>{</m:t>
                    </m:r>
                    <m:r>
                      <m:rPr>
                        <m:nor/>
                      </m:rPr>
                      <a:rPr lang="en-US"/>
                      <m:t>⊤,⊥}</m:t>
                    </m:r>
                  </m:oMath>
                </a14:m>
                <a:r>
                  <a:rPr lang="en-US"/>
                  <a:t>,</a:t>
                </a:r>
                <a:endParaRPr lang="sr-Latn-BA"/>
              </a:p>
              <a:p>
                <a:pPr marL="0" indent="0">
                  <a:buNone/>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𝜙</m:t>
                      </m:r>
                      <m:d>
                        <m:dPr>
                          <m:ctrlPr>
                            <a:rPr lang="en-US" sz="2500" b="0" i="1" smtClean="0">
                              <a:latin typeface="Cambria Math" panose="02040503050406030204" pitchFamily="18" charset="0"/>
                            </a:rPr>
                          </m:ctrlPr>
                        </m:dPr>
                        <m:e>
                          <m:sSub>
                            <m:sSubPr>
                              <m:ctrlPr>
                                <a:rPr lang="sr-Latn-BA" sz="2500" i="1">
                                  <a:latin typeface="Cambria Math" panose="02040503050406030204" pitchFamily="18" charset="0"/>
                                </a:rPr>
                              </m:ctrlPr>
                            </m:sSubPr>
                            <m:e>
                              <m:r>
                                <a:rPr lang="sr-Latn-BA" sz="2500" i="1">
                                  <a:latin typeface="Cambria Math" panose="02040503050406030204" pitchFamily="18" charset="0"/>
                                </a:rPr>
                                <m:t>𝑥</m:t>
                              </m:r>
                            </m:e>
                            <m:sub>
                              <m:r>
                                <a:rPr lang="sr-Latn-BA" sz="2500" i="1">
                                  <a:latin typeface="Cambria Math" panose="02040503050406030204" pitchFamily="18" charset="0"/>
                                </a:rPr>
                                <m:t>1</m:t>
                              </m:r>
                            </m:sub>
                          </m:sSub>
                          <m:r>
                            <a:rPr lang="sr-Latn-BA" sz="2500" i="1">
                              <a:latin typeface="Cambria Math" panose="02040503050406030204" pitchFamily="18" charset="0"/>
                            </a:rPr>
                            <m:t>,</m:t>
                          </m:r>
                          <m:sSub>
                            <m:sSubPr>
                              <m:ctrlPr>
                                <a:rPr lang="sr-Latn-BA" sz="2500" i="1">
                                  <a:latin typeface="Cambria Math" panose="02040503050406030204" pitchFamily="18" charset="0"/>
                                </a:rPr>
                              </m:ctrlPr>
                            </m:sSubPr>
                            <m:e>
                              <m:r>
                                <a:rPr lang="sr-Latn-BA" sz="2500" i="1">
                                  <a:latin typeface="Cambria Math" panose="02040503050406030204" pitchFamily="18" charset="0"/>
                                </a:rPr>
                                <m:t>𝑥</m:t>
                              </m:r>
                            </m:e>
                            <m:sub>
                              <m:r>
                                <a:rPr lang="sr-Latn-BA" sz="2500" i="1">
                                  <a:latin typeface="Cambria Math" panose="02040503050406030204" pitchFamily="18" charset="0"/>
                                </a:rPr>
                                <m:t>2</m:t>
                              </m:r>
                            </m:sub>
                          </m:sSub>
                          <m:r>
                            <a:rPr lang="sr-Latn-BA" sz="2500" i="1">
                              <a:latin typeface="Cambria Math" panose="02040503050406030204" pitchFamily="18" charset="0"/>
                            </a:rPr>
                            <m:t>, …,</m:t>
                          </m:r>
                          <m:sSub>
                            <m:sSubPr>
                              <m:ctrlPr>
                                <a:rPr lang="sr-Latn-BA" sz="2500" i="1">
                                  <a:latin typeface="Cambria Math" panose="02040503050406030204" pitchFamily="18" charset="0"/>
                                </a:rPr>
                              </m:ctrlPr>
                            </m:sSubPr>
                            <m:e>
                              <m:r>
                                <a:rPr lang="sr-Latn-BA" sz="2500" i="1">
                                  <a:latin typeface="Cambria Math" panose="02040503050406030204" pitchFamily="18" charset="0"/>
                                </a:rPr>
                                <m:t>𝑥</m:t>
                              </m:r>
                            </m:e>
                            <m:sub>
                              <m:r>
                                <a:rPr lang="sr-Latn-BA" sz="2500" i="1">
                                  <a:latin typeface="Cambria Math" panose="02040503050406030204" pitchFamily="18" charset="0"/>
                                </a:rPr>
                                <m:t>𝑛</m:t>
                              </m:r>
                            </m:sub>
                          </m:sSub>
                        </m:e>
                      </m:d>
                      <m:r>
                        <a:rPr lang="en-US" sz="2500" b="0" i="0" smtClean="0">
                          <a:latin typeface="Cambria Math" panose="02040503050406030204" pitchFamily="18" charset="0"/>
                        </a:rPr>
                        <m:t>=</m:t>
                      </m:r>
                      <m:d>
                        <m:dPr>
                          <m:ctrlPr>
                            <a:rPr lang="en-US" sz="2500" b="0" i="1" smtClean="0">
                              <a:latin typeface="Cambria Math" panose="02040503050406030204" pitchFamily="18" charset="0"/>
                            </a:rPr>
                          </m:ctrlPr>
                        </m:dPr>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𝑦</m:t>
                              </m:r>
                            </m:e>
                            <m:sub>
                              <m:r>
                                <a:rPr lang="en-US" sz="2500" b="0" i="1" smtClean="0">
                                  <a:latin typeface="Cambria Math" panose="02040503050406030204" pitchFamily="18" charset="0"/>
                                </a:rPr>
                                <m:t>1</m:t>
                              </m:r>
                              <m:r>
                                <a:rPr lang="sr-Latn-BA" sz="2500" b="0" i="1" smtClean="0">
                                  <a:latin typeface="Cambria Math" panose="02040503050406030204" pitchFamily="18" charset="0"/>
                                </a:rPr>
                                <m:t>1</m:t>
                              </m:r>
                            </m:sub>
                          </m:sSub>
                          <m:r>
                            <a:rPr lang="en-US" sz="2500" i="1">
                              <a:latin typeface="Cambria Math" panose="02040503050406030204" pitchFamily="18" charset="0"/>
                              <a:ea typeface="Cambria Math" panose="02040503050406030204" pitchFamily="18" charset="0"/>
                            </a:rPr>
                            <m:t>∨</m:t>
                          </m:r>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1</m:t>
                              </m:r>
                              <m:r>
                                <a:rPr lang="en-US" sz="2500" b="0" i="1" smtClean="0">
                                  <a:latin typeface="Cambria Math" panose="02040503050406030204" pitchFamily="18" charset="0"/>
                                  <a:ea typeface="Cambria Math" panose="02040503050406030204" pitchFamily="18" charset="0"/>
                                </a:rPr>
                                <m:t>2</m:t>
                              </m:r>
                            </m:sub>
                          </m:sSub>
                          <m:r>
                            <a:rPr lang="en-US" sz="2500" i="1">
                              <a:latin typeface="Cambria Math" panose="02040503050406030204" pitchFamily="18" charset="0"/>
                              <a:ea typeface="Cambria Math" panose="02040503050406030204" pitchFamily="18" charset="0"/>
                            </a:rPr>
                            <m:t>∨</m:t>
                          </m:r>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1</m:t>
                              </m:r>
                              <m:r>
                                <a:rPr lang="en-US" sz="2500" b="0" i="1" smtClean="0">
                                  <a:latin typeface="Cambria Math" panose="02040503050406030204" pitchFamily="18" charset="0"/>
                                  <a:ea typeface="Cambria Math" panose="02040503050406030204" pitchFamily="18" charset="0"/>
                                </a:rPr>
                                <m:t>3</m:t>
                              </m:r>
                            </m:sub>
                          </m:sSub>
                        </m:e>
                      </m:d>
                      <m:r>
                        <a:rPr lang="en-US" sz="2500" b="0" i="1" smtClean="0">
                          <a:latin typeface="Cambria Math" panose="02040503050406030204" pitchFamily="18" charset="0"/>
                          <a:ea typeface="Cambria Math" panose="02040503050406030204" pitchFamily="18" charset="0"/>
                        </a:rPr>
                        <m:t>∧</m:t>
                      </m:r>
                      <m:d>
                        <m:dPr>
                          <m:ctrlPr>
                            <a:rPr lang="en-US" sz="2500" b="0" i="1" smtClean="0">
                              <a:latin typeface="Cambria Math" panose="02040503050406030204" pitchFamily="18" charset="0"/>
                              <a:ea typeface="Cambria Math" panose="02040503050406030204" pitchFamily="18" charset="0"/>
                            </a:rPr>
                          </m:ctrlPr>
                        </m:dPr>
                        <m:e>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21</m:t>
                              </m:r>
                            </m:sub>
                          </m:sSub>
                          <m:r>
                            <a:rPr lang="en-US" sz="2500" i="1">
                              <a:latin typeface="Cambria Math" panose="02040503050406030204" pitchFamily="18" charset="0"/>
                              <a:ea typeface="Cambria Math" panose="02040503050406030204" pitchFamily="18" charset="0"/>
                            </a:rPr>
                            <m:t>∨</m:t>
                          </m:r>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22</m:t>
                              </m:r>
                            </m:sub>
                          </m:sSub>
                          <m:r>
                            <a:rPr lang="en-US" sz="2500" i="1">
                              <a:latin typeface="Cambria Math" panose="02040503050406030204" pitchFamily="18" charset="0"/>
                              <a:ea typeface="Cambria Math" panose="02040503050406030204" pitchFamily="18" charset="0"/>
                            </a:rPr>
                            <m:t>∨</m:t>
                          </m:r>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23</m:t>
                              </m:r>
                            </m:sub>
                          </m:sSub>
                        </m:e>
                      </m:d>
                      <m:r>
                        <a:rPr lang="en-US" sz="2500" i="1">
                          <a:latin typeface="Cambria Math" panose="02040503050406030204" pitchFamily="18" charset="0"/>
                          <a:ea typeface="Cambria Math" panose="02040503050406030204" pitchFamily="18" charset="0"/>
                        </a:rPr>
                        <m:t>∧</m:t>
                      </m:r>
                      <m:r>
                        <a:rPr lang="en-US" sz="2500" b="0" i="1" smtClean="0">
                          <a:latin typeface="Cambria Math" panose="02040503050406030204" pitchFamily="18" charset="0"/>
                          <a:ea typeface="Cambria Math" panose="02040503050406030204" pitchFamily="18" charset="0"/>
                        </a:rPr>
                        <m:t>…</m:t>
                      </m:r>
                      <m:r>
                        <a:rPr lang="en-US" sz="2500" i="1">
                          <a:latin typeface="Cambria Math" panose="02040503050406030204" pitchFamily="18" charset="0"/>
                          <a:ea typeface="Cambria Math" panose="02040503050406030204" pitchFamily="18" charset="0"/>
                        </a:rPr>
                        <m:t>∧</m:t>
                      </m:r>
                      <m:d>
                        <m:dPr>
                          <m:ctrlPr>
                            <a:rPr lang="en-US" sz="2500" b="0" i="1" smtClean="0">
                              <a:latin typeface="Cambria Math" panose="02040503050406030204" pitchFamily="18" charset="0"/>
                              <a:ea typeface="Cambria Math" panose="02040503050406030204" pitchFamily="18" charset="0"/>
                            </a:rPr>
                          </m:ctrlPr>
                        </m:dPr>
                        <m:e>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𝑚</m:t>
                              </m:r>
                              <m:r>
                                <a:rPr lang="sr-Latn-BA" sz="2500" b="0" i="1" smtClean="0">
                                  <a:latin typeface="Cambria Math" panose="02040503050406030204" pitchFamily="18" charset="0"/>
                                  <a:ea typeface="Cambria Math" panose="02040503050406030204" pitchFamily="18" charset="0"/>
                                </a:rPr>
                                <m:t>1</m:t>
                              </m:r>
                            </m:sub>
                          </m:sSub>
                          <m:r>
                            <a:rPr lang="en-US" sz="2500" i="1">
                              <a:latin typeface="Cambria Math" panose="02040503050406030204" pitchFamily="18" charset="0"/>
                              <a:ea typeface="Cambria Math" panose="02040503050406030204" pitchFamily="18" charset="0"/>
                            </a:rPr>
                            <m:t>∨</m:t>
                          </m:r>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𝑚</m:t>
                              </m:r>
                              <m:r>
                                <a:rPr lang="sr-Latn-BA" sz="2500" b="0" i="1" smtClean="0">
                                  <a:latin typeface="Cambria Math" panose="02040503050406030204" pitchFamily="18" charset="0"/>
                                  <a:ea typeface="Cambria Math" panose="02040503050406030204" pitchFamily="18" charset="0"/>
                                </a:rPr>
                                <m:t>2</m:t>
                              </m:r>
                            </m:sub>
                          </m:sSub>
                          <m:r>
                            <a:rPr lang="en-US" sz="2500" i="1">
                              <a:latin typeface="Cambria Math" panose="02040503050406030204" pitchFamily="18" charset="0"/>
                              <a:ea typeface="Cambria Math" panose="02040503050406030204" pitchFamily="18" charset="0"/>
                            </a:rPr>
                            <m:t>∨</m:t>
                          </m:r>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𝑦</m:t>
                              </m:r>
                            </m:e>
                            <m:sub>
                              <m:r>
                                <a:rPr lang="sr-Latn-BA" sz="2500" b="0" i="1" smtClean="0">
                                  <a:latin typeface="Cambria Math" panose="02040503050406030204" pitchFamily="18" charset="0"/>
                                  <a:ea typeface="Cambria Math" panose="02040503050406030204" pitchFamily="18" charset="0"/>
                                </a:rPr>
                                <m:t>𝑚</m:t>
                              </m:r>
                              <m:r>
                                <a:rPr lang="sr-Latn-BA" sz="2500" b="0" i="1" smtClean="0">
                                  <a:latin typeface="Cambria Math" panose="02040503050406030204" pitchFamily="18" charset="0"/>
                                  <a:ea typeface="Cambria Math" panose="02040503050406030204" pitchFamily="18" charset="0"/>
                                </a:rPr>
                                <m:t>3</m:t>
                              </m:r>
                            </m:sub>
                          </m:sSub>
                        </m:e>
                      </m:d>
                      <m:r>
                        <m:rPr>
                          <m:nor/>
                        </m:rPr>
                        <a:rPr lang="sr-Latn-BA" sz="2500" i="0" smtClean="0">
                          <a:latin typeface="Cambria Math" panose="02040503050406030204" pitchFamily="18" charset="0"/>
                        </a:rPr>
                        <m:t>,</m:t>
                      </m:r>
                    </m:oMath>
                  </m:oMathPara>
                </a14:m>
                <a:endParaRPr lang="sr-Latn-BA" sz="2500"/>
              </a:p>
              <a:p>
                <a:pPr marL="0" indent="0" algn="ctr">
                  <a:buNone/>
                </a:pPr>
                <a:endParaRPr lang="sr-Latn-BA" sz="2400"/>
              </a:p>
              <a:p>
                <a:pPr marL="0" indent="0">
                  <a:buNone/>
                </a:pPr>
                <a:r>
                  <a:rPr lang="sr-Latn-BA"/>
                  <a:t>u kojoj važi</a:t>
                </a:r>
                <a:r>
                  <a:rPr lang="en-US"/>
                  <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m:t>
                            </m:r>
                            <m:r>
                              <a:rPr lang="en-US" b="0" i="1" smtClean="0">
                                <a:latin typeface="Cambria Math" panose="02040503050406030204" pitchFamily="18" charset="0"/>
                              </a:rPr>
                              <m:t>𝑚</m:t>
                            </m:r>
                          </m:e>
                        </m:d>
                      </m:e>
                    </m:d>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i="1">
                            <a:latin typeface="Cambria Math" panose="02040503050406030204" pitchFamily="18" charset="0"/>
                          </a:rPr>
                          <m:t>∀</m:t>
                        </m:r>
                        <m:r>
                          <a:rPr lang="sr-Latn-BA" b="0" i="1" smtClean="0">
                            <a:latin typeface="Cambria Math" panose="02040503050406030204" pitchFamily="18" charset="0"/>
                          </a:rPr>
                          <m:t>𝑘</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 </m:t>
                            </m:r>
                            <m:r>
                              <a:rPr lang="en-US" i="1">
                                <a:latin typeface="Cambria Math" panose="02040503050406030204" pitchFamily="18" charset="0"/>
                              </a:rPr>
                              <m:t>2,</m:t>
                            </m:r>
                            <m:r>
                              <a:rPr lang="en-US" b="0" i="1" smtClean="0">
                                <a:latin typeface="Cambria Math" panose="02040503050406030204" pitchFamily="18" charset="0"/>
                              </a:rPr>
                              <m:t> </m:t>
                            </m:r>
                            <m:r>
                              <a:rPr lang="sr-Latn-BA" b="0" i="1" smtClean="0">
                                <a:latin typeface="Cambria Math" panose="02040503050406030204" pitchFamily="18" charset="0"/>
                              </a:rPr>
                              <m:t>3</m:t>
                            </m:r>
                          </m:e>
                        </m:d>
                      </m:e>
                    </m:d>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m:t>
                            </m:r>
                            <m:r>
                              <a:rPr lang="en-US" b="0" i="1" smtClean="0">
                                <a:latin typeface="Cambria Math" panose="02040503050406030204" pitchFamily="18" charset="0"/>
                              </a:rPr>
                              <m:t>𝑛</m:t>
                            </m:r>
                          </m:e>
                        </m:d>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acc>
                    <m:r>
                      <a:rPr lang="en-US" b="0" i="1" smtClean="0">
                        <a:latin typeface="Cambria Math" panose="02040503050406030204" pitchFamily="18" charset="0"/>
                      </a:rPr>
                      <m:t>}</m:t>
                    </m:r>
                  </m:oMath>
                </a14:m>
                <a:r>
                  <a:rPr lang="en-US"/>
                  <a:t>.</a:t>
                </a:r>
              </a:p>
              <a:p>
                <a:pPr>
                  <a:lnSpc>
                    <a:spcPct val="120000"/>
                  </a:lnSpc>
                </a:pP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𝑖</m:t>
                        </m:r>
                      </m:sub>
                    </m:sSub>
                  </m:oMath>
                </a14:m>
                <a:r>
                  <a:rPr lang="en-US"/>
                  <a:t> su </a:t>
                </a:r>
                <a:r>
                  <a:rPr lang="en-US" b="1"/>
                  <a:t>logi</a:t>
                </a:r>
                <a:r>
                  <a:rPr lang="sr-Latn-BA" b="1"/>
                  <a:t>čke varijable</a:t>
                </a:r>
                <a:r>
                  <a:rPr lang="sr-Latn-BA"/>
                  <a:t>,</a:t>
                </a:r>
                <a:r>
                  <a:rPr lang="en-US"/>
                  <a:t> svaki podizraz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𝑖</m:t>
                            </m:r>
                            <m:r>
                              <a:rPr lang="sr-Latn-BA"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3</m:t>
                            </m:r>
                          </m:sub>
                        </m:sSub>
                      </m:e>
                    </m:d>
                  </m:oMath>
                </a14:m>
                <a:r>
                  <a:rPr lang="en-US"/>
                  <a:t> se naziva </a:t>
                </a:r>
                <a:r>
                  <a:rPr lang="en-US" b="1"/>
                  <a:t>klauzula</a:t>
                </a:r>
                <a:r>
                  <a:rPr lang="en-US"/>
                  <a:t>, dok je svako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𝑖𝑘</m:t>
                        </m:r>
                      </m:sub>
                    </m:sSub>
                  </m:oMath>
                </a14:m>
                <a:r>
                  <a:rPr lang="en-US"/>
                  <a:t> </a:t>
                </a:r>
                <a:r>
                  <a:rPr lang="en-US" b="1"/>
                  <a:t>logi</a:t>
                </a:r>
                <a:r>
                  <a:rPr lang="sr-Latn-BA" b="1"/>
                  <a:t>čki literal </a:t>
                </a:r>
                <a:r>
                  <a:rPr lang="sr-Latn-BA"/>
                  <a:t>koji je jednak nekoj od varijabli ili njenoj negaciji</a:t>
                </a:r>
                <a:r>
                  <a:rPr lang="en-US"/>
                  <a:t>.</a:t>
                </a:r>
              </a:p>
              <a:p>
                <a:r>
                  <a:rPr lang="en-US"/>
                  <a:t>3SAT problem odlu</a:t>
                </a:r>
                <a:r>
                  <a:rPr lang="sr-Latn-BA"/>
                  <a:t>čivanja je skup (jezik) svih ovakvih zadovoljivih formula</a:t>
                </a:r>
                <a:r>
                  <a:rPr lang="en-US"/>
                  <a:t> </a:t>
                </a:r>
                <a14:m>
                  <m:oMath xmlns:m="http://schemas.openxmlformats.org/officeDocument/2006/math">
                    <m:r>
                      <a:rPr lang="en-US" sz="2800" b="0" i="1" smtClean="0">
                        <a:latin typeface="Cambria Math" panose="02040503050406030204" pitchFamily="18" charset="0"/>
                      </a:rPr>
                      <m:t>𝜙</m:t>
                    </m:r>
                  </m:oMath>
                </a14:m>
                <a:r>
                  <a:rPr lang="en-US"/>
                  <a:t>.</a:t>
                </a:r>
              </a:p>
              <a:p>
                <a14:m>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 </m:t>
                    </m:r>
                  </m:oMath>
                </a14:m>
                <a:r>
                  <a:rPr lang="sr-Latn-BA"/>
                  <a:t>je zadovoljivo ako postoje logičke </a:t>
                </a:r>
                <a:r>
                  <a:rPr lang="en-US"/>
                  <a:t>vrijednosti</a:t>
                </a:r>
                <a:r>
                  <a:rPr lang="sr-Latn-BA"/>
                  <a:t> </a:t>
                </a:r>
                <a14:m>
                  <m:oMath xmlns:m="http://schemas.openxmlformats.org/officeDocument/2006/math">
                    <m:sSub>
                      <m:sSubPr>
                        <m:ctrlPr>
                          <a:rPr lang="sr-Latn-BA" i="1" smtClean="0">
                            <a:latin typeface="Cambria Math" panose="02040503050406030204" pitchFamily="18" charset="0"/>
                          </a:rPr>
                        </m:ctrlPr>
                      </m:sSubPr>
                      <m:e>
                        <m:r>
                          <a:rPr lang="sr-Latn-BA" b="0" i="1" smtClean="0">
                            <a:latin typeface="Cambria Math" panose="02040503050406030204" pitchFamily="18" charset="0"/>
                          </a:rPr>
                          <m:t>𝑧</m:t>
                        </m:r>
                      </m:e>
                      <m:sub>
                        <m:r>
                          <a:rPr lang="sr-Latn-BA" i="1">
                            <a:latin typeface="Cambria Math" panose="02040503050406030204" pitchFamily="18" charset="0"/>
                          </a:rPr>
                          <m:t>1</m:t>
                        </m:r>
                      </m:sub>
                    </m:sSub>
                    <m:r>
                      <a:rPr lang="sr-Latn-BA" i="1">
                        <a:latin typeface="Cambria Math" panose="02040503050406030204" pitchFamily="18" charset="0"/>
                      </a:rPr>
                      <m:t>,</m:t>
                    </m:r>
                    <m:sSub>
                      <m:sSubPr>
                        <m:ctrlPr>
                          <a:rPr lang="sr-Latn-BA" i="1">
                            <a:latin typeface="Cambria Math" panose="02040503050406030204" pitchFamily="18" charset="0"/>
                          </a:rPr>
                        </m:ctrlPr>
                      </m:sSubPr>
                      <m:e>
                        <m:r>
                          <a:rPr lang="sr-Latn-BA" b="0" i="1" smtClean="0">
                            <a:latin typeface="Cambria Math" panose="02040503050406030204" pitchFamily="18" charset="0"/>
                          </a:rPr>
                          <m:t>𝑧</m:t>
                        </m:r>
                      </m:e>
                      <m:sub>
                        <m:r>
                          <a:rPr lang="sr-Latn-BA" i="1">
                            <a:latin typeface="Cambria Math" panose="02040503050406030204" pitchFamily="18" charset="0"/>
                          </a:rPr>
                          <m:t>2</m:t>
                        </m:r>
                      </m:sub>
                    </m:sSub>
                    <m:r>
                      <a:rPr lang="sr-Latn-BA" i="1">
                        <a:latin typeface="Cambria Math" panose="02040503050406030204" pitchFamily="18" charset="0"/>
                      </a:rPr>
                      <m:t>, …,</m:t>
                    </m:r>
                    <m:sSub>
                      <m:sSubPr>
                        <m:ctrlPr>
                          <a:rPr lang="sr-Latn-BA" i="1">
                            <a:latin typeface="Cambria Math" panose="02040503050406030204" pitchFamily="18" charset="0"/>
                          </a:rPr>
                        </m:ctrlPr>
                      </m:sSubPr>
                      <m:e>
                        <m:r>
                          <a:rPr lang="sr-Latn-BA" b="0" i="1" smtClean="0">
                            <a:latin typeface="Cambria Math" panose="02040503050406030204" pitchFamily="18" charset="0"/>
                          </a:rPr>
                          <m:t>𝑧</m:t>
                        </m:r>
                      </m:e>
                      <m:sub>
                        <m:r>
                          <a:rPr lang="sr-Latn-BA" i="1">
                            <a:latin typeface="Cambria Math" panose="02040503050406030204" pitchFamily="18" charset="0"/>
                          </a:rPr>
                          <m:t>𝑛</m:t>
                        </m:r>
                      </m:sub>
                    </m:sSub>
                  </m:oMath>
                </a14:m>
                <a:r>
                  <a:rPr lang="sr-Latn-BA"/>
                  <a:t>, t.d. je </a:t>
                </a:r>
                <a14:m>
                  <m:oMath xmlns:m="http://schemas.openxmlformats.org/officeDocument/2006/math">
                    <m:r>
                      <a:rPr lang="en-US" i="1">
                        <a:latin typeface="Cambria Math" panose="02040503050406030204" pitchFamily="18" charset="0"/>
                      </a:rPr>
                      <m:t>𝜙</m:t>
                    </m:r>
                    <m:d>
                      <m:dPr>
                        <m:ctrlPr>
                          <a:rPr lang="en-US" i="1">
                            <a:latin typeface="Cambria Math" panose="02040503050406030204" pitchFamily="18" charset="0"/>
                          </a:rPr>
                        </m:ctrlPr>
                      </m:dPr>
                      <m:e>
                        <m:sSub>
                          <m:sSubPr>
                            <m:ctrlPr>
                              <a:rPr lang="sr-Latn-BA" i="1">
                                <a:latin typeface="Cambria Math" panose="02040503050406030204" pitchFamily="18" charset="0"/>
                              </a:rPr>
                            </m:ctrlPr>
                          </m:sSubPr>
                          <m:e>
                            <m:r>
                              <a:rPr lang="sr-Latn-BA" b="0" i="1" smtClean="0">
                                <a:latin typeface="Cambria Math" panose="02040503050406030204" pitchFamily="18" charset="0"/>
                              </a:rPr>
                              <m:t>𝑧</m:t>
                            </m:r>
                          </m:e>
                          <m:sub>
                            <m:r>
                              <a:rPr lang="sr-Latn-BA" i="1">
                                <a:latin typeface="Cambria Math" panose="02040503050406030204" pitchFamily="18" charset="0"/>
                              </a:rPr>
                              <m:t>1</m:t>
                            </m:r>
                          </m:sub>
                        </m:sSub>
                        <m:r>
                          <a:rPr lang="sr-Latn-BA" i="1">
                            <a:latin typeface="Cambria Math" panose="02040503050406030204" pitchFamily="18" charset="0"/>
                          </a:rPr>
                          <m:t>,</m:t>
                        </m:r>
                        <m:sSub>
                          <m:sSubPr>
                            <m:ctrlPr>
                              <a:rPr lang="sr-Latn-BA" i="1">
                                <a:latin typeface="Cambria Math" panose="02040503050406030204" pitchFamily="18" charset="0"/>
                              </a:rPr>
                            </m:ctrlPr>
                          </m:sSubPr>
                          <m:e>
                            <m:r>
                              <a:rPr lang="sr-Latn-BA" b="0" i="1" smtClean="0">
                                <a:latin typeface="Cambria Math" panose="02040503050406030204" pitchFamily="18" charset="0"/>
                              </a:rPr>
                              <m:t>𝑧</m:t>
                            </m:r>
                          </m:e>
                          <m:sub>
                            <m:r>
                              <a:rPr lang="sr-Latn-BA" i="1">
                                <a:latin typeface="Cambria Math" panose="02040503050406030204" pitchFamily="18" charset="0"/>
                              </a:rPr>
                              <m:t>2</m:t>
                            </m:r>
                          </m:sub>
                        </m:sSub>
                        <m:r>
                          <a:rPr lang="sr-Latn-BA" i="1">
                            <a:latin typeface="Cambria Math" panose="02040503050406030204" pitchFamily="18" charset="0"/>
                          </a:rPr>
                          <m:t>, …,</m:t>
                        </m:r>
                        <m:sSub>
                          <m:sSubPr>
                            <m:ctrlPr>
                              <a:rPr lang="sr-Latn-BA" i="1">
                                <a:latin typeface="Cambria Math" panose="02040503050406030204" pitchFamily="18" charset="0"/>
                              </a:rPr>
                            </m:ctrlPr>
                          </m:sSubPr>
                          <m:e>
                            <m:r>
                              <a:rPr lang="sr-Latn-BA" b="0" i="1" smtClean="0">
                                <a:latin typeface="Cambria Math" panose="02040503050406030204" pitchFamily="18" charset="0"/>
                              </a:rPr>
                              <m:t>𝑧</m:t>
                            </m:r>
                          </m:e>
                          <m:sub>
                            <m:r>
                              <a:rPr lang="sr-Latn-BA" i="1">
                                <a:latin typeface="Cambria Math" panose="02040503050406030204" pitchFamily="18" charset="0"/>
                              </a:rPr>
                              <m:t>𝑛</m:t>
                            </m:r>
                          </m:sub>
                        </m:sSub>
                      </m:e>
                    </m:d>
                    <m:r>
                      <a:rPr lang="en-US" b="0" i="1" smtClean="0">
                        <a:latin typeface="Cambria Math" panose="02040503050406030204" pitchFamily="18" charset="0"/>
                      </a:rPr>
                      <m:t>=</m:t>
                    </m:r>
                    <m:r>
                      <m:rPr>
                        <m:nor/>
                      </m:rPr>
                      <a:rPr lang="en-US"/>
                      <m:t>⊤</m:t>
                    </m:r>
                  </m:oMath>
                </a14:m>
                <a:r>
                  <a:rPr lang="en-US"/>
                  <a:t>.</a:t>
                </a:r>
              </a:p>
              <a:p>
                <a:r>
                  <a:rPr lang="en-US"/>
                  <a:t>3SAT je</a:t>
                </a:r>
                <a:r>
                  <a:rPr lang="sr-Latn-BA"/>
                  <a:t> u</a:t>
                </a:r>
                <a:r>
                  <a:rPr lang="en-US"/>
                  <a:t> </a:t>
                </a:r>
                <a14:m>
                  <m:oMath xmlns:m="http://schemas.openxmlformats.org/officeDocument/2006/math">
                    <m:r>
                      <m:rPr>
                        <m:nor/>
                      </m:rPr>
                      <a:rPr lang="en-US" i="0" smtClean="0">
                        <a:latin typeface="Cambria Math" panose="02040503050406030204" pitchFamily="18" charset="0"/>
                      </a:rPr>
                      <m:t>NP</m:t>
                    </m:r>
                    <m:r>
                      <m:rPr>
                        <m:nor/>
                      </m:rPr>
                      <a:rPr lang="en-US" i="0" smtClean="0">
                        <a:latin typeface="Cambria Math" panose="02040503050406030204" pitchFamily="18" charset="0"/>
                      </a:rPr>
                      <m:t>−</m:t>
                    </m:r>
                    <m:r>
                      <m:rPr>
                        <m:nor/>
                      </m:rPr>
                      <a:rPr lang="en-US" i="0" smtClean="0">
                        <a:latin typeface="Cambria Math" panose="02040503050406030204" pitchFamily="18" charset="0"/>
                      </a:rPr>
                      <m:t>complete</m:t>
                    </m:r>
                  </m:oMath>
                </a14:m>
                <a:r>
                  <a:rPr lang="sr-Latn-BA"/>
                  <a:t> (Cook-Levin teorema)</a:t>
                </a:r>
                <a:r>
                  <a:rPr lang="en-US"/>
                  <a:t>. </a:t>
                </a:r>
                <a:endParaRPr lang="sr-Latn-BA"/>
              </a:p>
              <a:p>
                <a:r>
                  <a:rPr lang="en-US"/>
                  <a:t>Ekvivalentan funkcionalni problem zahtijeva i da se proizvede jedna dodjel</a:t>
                </a:r>
                <a:r>
                  <a:rPr lang="sr-Latn-BA"/>
                  <a:t>a</a:t>
                </a:r>
                <a:r>
                  <a:rPr lang="en-US"/>
                  <a:t> kao rezultat.</a:t>
                </a:r>
              </a:p>
              <a:p>
                <a:r>
                  <a:rPr lang="en-US"/>
                  <a:t>Prakti</a:t>
                </a:r>
                <a:r>
                  <a:rPr lang="sr-Latn-BA"/>
                  <a:t>čne primjene: verifikacija hardvera/softvera, AI, raspoređivanje, ...</a:t>
                </a:r>
                <a:endParaRPr lang="en-US"/>
              </a:p>
            </p:txBody>
          </p:sp>
        </mc:Choice>
        <mc:Fallback xmlns="">
          <p:sp>
            <p:nvSpPr>
              <p:cNvPr id="3" name="Content Placeholder 2">
                <a:extLst>
                  <a:ext uri="{FF2B5EF4-FFF2-40B4-BE49-F238E27FC236}">
                    <a16:creationId xmlns:a16="http://schemas.microsoft.com/office/drawing/2014/main" id="{D13415AE-67E2-7D1B-9F7C-C90764BBA90B}"/>
                  </a:ext>
                </a:extLst>
              </p:cNvPr>
              <p:cNvSpPr>
                <a:spLocks noGrp="1" noRot="1" noChangeAspect="1" noMove="1" noResize="1" noEditPoints="1" noAdjustHandles="1" noChangeArrowheads="1" noChangeShapeType="1" noTextEdit="1"/>
              </p:cNvSpPr>
              <p:nvPr>
                <p:ph idx="1"/>
              </p:nvPr>
            </p:nvSpPr>
            <p:spPr>
              <a:blipFill>
                <a:blip r:embed="rId2"/>
                <a:stretch>
                  <a:fillRect l="-754" t="-2801"/>
                </a:stretch>
              </a:blipFill>
            </p:spPr>
            <p:txBody>
              <a:bodyPr/>
              <a:lstStyle/>
              <a:p>
                <a:r>
                  <a:rPr lang="en-US">
                    <a:noFill/>
                  </a:rPr>
                  <a:t> </a:t>
                </a:r>
              </a:p>
            </p:txBody>
          </p:sp>
        </mc:Fallback>
      </mc:AlternateContent>
    </p:spTree>
    <p:extLst>
      <p:ext uri="{BB962C8B-B14F-4D97-AF65-F5344CB8AC3E}">
        <p14:creationId xmlns:p14="http://schemas.microsoft.com/office/powerpoint/2010/main" val="1740072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9C001-8759-CF8A-340D-68F923893B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F80D38-B5B3-79D2-DA34-2478AA805EDB}"/>
                  </a:ext>
                </a:extLst>
              </p:cNvPr>
              <p:cNvSpPr txBox="1"/>
              <p:nvPr/>
            </p:nvSpPr>
            <p:spPr>
              <a:xfrm>
                <a:off x="0" y="186375"/>
                <a:ext cx="12215203" cy="5909310"/>
              </a:xfrm>
              <a:prstGeom prst="rect">
                <a:avLst/>
              </a:prstGeom>
              <a:noFill/>
              <a:ln>
                <a:solidFill>
                  <a:schemeClr val="tx1"/>
                </a:solidFill>
              </a:ln>
            </p:spPr>
            <p:txBody>
              <a:bodyPr wrap="square" rtlCol="0">
                <a:spAutoFit/>
              </a:bodyPr>
              <a:lstStyle/>
              <a:p>
                <a:pPr>
                  <a:buNone/>
                </a:pPr>
                <a:r>
                  <a:rPr lang="en-US" b="1">
                    <a:solidFill>
                      <a:srgbClr val="0000FF"/>
                    </a:solidFill>
                    <a:effectLst/>
                    <a:latin typeface="Consolas" panose="020B0609020204030204" pitchFamily="49" charset="0"/>
                  </a:rPr>
                  <a:t>def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verify_3sat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assignment</a:t>
                </a:r>
                <a:r>
                  <a:rPr lang="en-US" b="1">
                    <a:solidFill>
                      <a:srgbClr val="3B3B3B"/>
                    </a:solidFill>
                    <a:effectLst/>
                    <a:latin typeface="Consolas" panose="020B0609020204030204" pitchFamily="49" charset="0"/>
                  </a:rPr>
                  <a:t>):</a:t>
                </a:r>
              </a:p>
              <a:p>
                <a:pPr>
                  <a:buNone/>
                </a:pPr>
                <a:r>
                  <a:rPr lang="en-US" sz="1400" b="1">
                    <a:solidFill>
                      <a:srgbClr val="3B3B3B"/>
                    </a:solidFill>
                    <a:effectLst/>
                    <a:latin typeface="Consolas" panose="020B0609020204030204" pitchFamily="49" charset="0"/>
                  </a:rPr>
                  <a:t>    </a:t>
                </a:r>
                <a:r>
                  <a:rPr lang="en-US" sz="1400" b="1">
                    <a:solidFill>
                      <a:srgbClr val="A31515"/>
                    </a:solidFill>
                    <a:effectLst/>
                    <a:latin typeface="Consolas" panose="020B0609020204030204" pitchFamily="49" charset="0"/>
                  </a:rPr>
                  <a:t>""" Verify if the given assignment satisfies the 3SAT formula.</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Parameters:</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formula (list of list of int): A 3SAT formula represented as a list of clauses,</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where each clause is a list of integers. A positive integer represents a variable,</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and a negative integer represents its negation.</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assignment (dict): A mapping from variable index (int) to a Boolean value.</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Returns:</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bool: True if the assignment satisfies the formula, False otherwise.</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a:t>
                </a:r>
              </a:p>
              <a:p>
                <a:pPr>
                  <a:buNone/>
                </a:pPr>
                <a:r>
                  <a:rPr lang="en-US">
                    <a:solidFill>
                      <a:srgbClr val="008000"/>
                    </a:solidFill>
                    <a:latin typeface="Consolas" panose="020B0609020204030204" pitchFamily="49" charset="0"/>
                  </a:rPr>
                  <a:t>    # </a:t>
                </a:r>
                <a14:m>
                  <m:oMath xmlns:m="http://schemas.openxmlformats.org/officeDocument/2006/math">
                    <m:r>
                      <a:rPr lang="en-US" i="1" smtClean="0">
                        <a:solidFill>
                          <a:srgbClr val="008000"/>
                        </a:solidFill>
                        <a:latin typeface="Cambria Math" panose="02040503050406030204" pitchFamily="18" charset="0"/>
                      </a:rPr>
                      <m:t>𝑂</m:t>
                    </m:r>
                    <m:r>
                      <a:rPr lang="en-US" i="1" smtClean="0">
                        <a:solidFill>
                          <a:srgbClr val="008000"/>
                        </a:solidFill>
                        <a:latin typeface="Cambria Math" panose="02040503050406030204" pitchFamily="18" charset="0"/>
                      </a:rPr>
                      <m:t>(</m:t>
                    </m:r>
                    <m:r>
                      <a:rPr lang="en-US" i="1" smtClean="0">
                        <a:solidFill>
                          <a:srgbClr val="008000"/>
                        </a:solidFill>
                        <a:latin typeface="Cambria Math" panose="02040503050406030204" pitchFamily="18" charset="0"/>
                      </a:rPr>
                      <m:t>𝐾𝐿</m:t>
                    </m:r>
                    <m:r>
                      <a:rPr lang="en-US" i="1" smtClean="0">
                        <a:solidFill>
                          <a:srgbClr val="008000"/>
                        </a:solidFill>
                        <a:latin typeface="Cambria Math" panose="02040503050406030204" pitchFamily="18" charset="0"/>
                      </a:rPr>
                      <m:t>)</m:t>
                    </m:r>
                  </m:oMath>
                </a14:m>
                <a:r>
                  <a:rPr lang="en-US">
                    <a:solidFill>
                      <a:srgbClr val="008000"/>
                    </a:solidFill>
                    <a:latin typeface="Consolas" panose="020B0609020204030204" pitchFamily="49" charset="0"/>
                  </a:rPr>
                  <a:t> – </a:t>
                </a:r>
                <a14:m>
                  <m:oMath xmlns:m="http://schemas.openxmlformats.org/officeDocument/2006/math">
                    <m:r>
                      <a:rPr lang="en-US" b="0" i="1" smtClean="0">
                        <a:solidFill>
                          <a:srgbClr val="008000"/>
                        </a:solidFill>
                        <a:latin typeface="Cambria Math" panose="02040503050406030204" pitchFamily="18" charset="0"/>
                      </a:rPr>
                      <m:t>𝐾</m:t>
                    </m:r>
                  </m:oMath>
                </a14:m>
                <a:r>
                  <a:rPr lang="en-US">
                    <a:solidFill>
                      <a:srgbClr val="008000"/>
                    </a:solidFill>
                    <a:latin typeface="Consolas" panose="020B0609020204030204" pitchFamily="49" charset="0"/>
                  </a:rPr>
                  <a:t> je broj klauzula, </a:t>
                </a:r>
                <a14:m>
                  <m:oMath xmlns:m="http://schemas.openxmlformats.org/officeDocument/2006/math">
                    <m:r>
                      <a:rPr lang="en-US" b="0" i="1" smtClean="0">
                        <a:solidFill>
                          <a:srgbClr val="008000"/>
                        </a:solidFill>
                        <a:latin typeface="Cambria Math" panose="02040503050406030204" pitchFamily="18" charset="0"/>
                      </a:rPr>
                      <m:t>𝐿</m:t>
                    </m:r>
                  </m:oMath>
                </a14:m>
                <a:r>
                  <a:rPr lang="en-US">
                    <a:solidFill>
                      <a:srgbClr val="008000"/>
                    </a:solidFill>
                    <a:latin typeface="Consolas" panose="020B0609020204030204" pitchFamily="49" charset="0"/>
                  </a:rPr>
                  <a:t> je broj literala po klauzuli </a:t>
                </a:r>
              </a:p>
              <a:p>
                <a:pPr>
                  <a:buNone/>
                </a:pPr>
                <a:r>
                  <a:rPr lang="en-US" b="0">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all</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any</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lit</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&gt;</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0</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assignment</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abs</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lit</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lit</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clause</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clause</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a:t>
                </a:r>
                <a:endParaRPr lang="en-US">
                  <a:solidFill>
                    <a:srgbClr val="008000"/>
                  </a:solidFill>
                  <a:latin typeface="Consolas" panose="020B0609020204030204" pitchFamily="49" charset="0"/>
                </a:endParaRPr>
              </a:p>
              <a:p>
                <a:pPr>
                  <a:lnSpc>
                    <a:spcPct val="150000"/>
                  </a:lnSpc>
                  <a:buNone/>
                </a:pPr>
                <a:r>
                  <a:rPr lang="en-US" sz="1400">
                    <a:solidFill>
                      <a:srgbClr val="008000"/>
                    </a:solidFill>
                    <a:latin typeface="Consolas" panose="020B0609020204030204" pitchFamily="49" charset="0"/>
                  </a:rPr>
                  <a:t># Primjer sa 5 varijabli i 4 klauzule (kod 3SAT, broj literala po klauzuli je 3)</a:t>
                </a:r>
                <a:endParaRPr lang="en-US" sz="1400" b="1">
                  <a:solidFill>
                    <a:srgbClr val="001080"/>
                  </a:solidFill>
                  <a:effectLst/>
                  <a:latin typeface="Consolas" panose="020B0609020204030204" pitchFamily="49" charset="0"/>
                </a:endParaRPr>
              </a:p>
              <a:p>
                <a:pPr>
                  <a:buNone/>
                </a:pP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p>
              <a:p>
                <a:pPr>
                  <a:buNone/>
                </a:pP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(¬x1 OR  x2 OR  x3) AND </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(¬x1 OR ¬x2 OR ¬x3) AND</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 x2 OR ¬x3 OR  x4) AND</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5</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 x3 OR  x4 OR  x5)</a:t>
                </a:r>
                <a:endParaRPr lang="en-US" b="1">
                  <a:solidFill>
                    <a:srgbClr val="3B3B3B"/>
                  </a:solidFill>
                  <a:effectLst/>
                  <a:latin typeface="Consolas" panose="020B0609020204030204" pitchFamily="49" charset="0"/>
                </a:endParaRPr>
              </a:p>
              <a:p>
                <a:r>
                  <a:rPr lang="en-US" b="1">
                    <a:solidFill>
                      <a:srgbClr val="3B3B3B"/>
                    </a:solidFill>
                    <a:effectLst/>
                    <a:latin typeface="Consolas" panose="020B0609020204030204" pitchFamily="49" charset="0"/>
                  </a:rPr>
                  <a:t>]</a:t>
                </a:r>
              </a:p>
              <a:p>
                <a:pPr>
                  <a:buNone/>
                </a:pPr>
                <a:r>
                  <a:rPr lang="en-US" b="1">
                    <a:solidFill>
                      <a:srgbClr val="795E26"/>
                    </a:solidFill>
                    <a:effectLst/>
                    <a:latin typeface="Consolas" panose="020B0609020204030204" pitchFamily="49" charset="0"/>
                  </a:rPr>
                  <a:t>print</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verify_3sat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5</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False</a:t>
                </a:r>
                <a:endParaRPr lang="en-US" b="1">
                  <a:solidFill>
                    <a:srgbClr val="3B3B3B"/>
                  </a:solidFill>
                  <a:effectLst/>
                  <a:latin typeface="Consolas" panose="020B0609020204030204" pitchFamily="49" charset="0"/>
                </a:endParaRPr>
              </a:p>
              <a:p>
                <a:pPr>
                  <a:buNone/>
                </a:pPr>
                <a:r>
                  <a:rPr lang="en-US" b="1">
                    <a:solidFill>
                      <a:srgbClr val="795E26"/>
                    </a:solidFill>
                    <a:effectLst/>
                    <a:latin typeface="Consolas" panose="020B0609020204030204" pitchFamily="49" charset="0"/>
                  </a:rPr>
                  <a:t>print</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verify_3sat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5</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False</a:t>
                </a:r>
              </a:p>
              <a:p>
                <a:r>
                  <a:rPr lang="en-US" b="1">
                    <a:solidFill>
                      <a:srgbClr val="795E26"/>
                    </a:solidFill>
                    <a:effectLst/>
                    <a:latin typeface="Consolas" panose="020B0609020204030204" pitchFamily="49" charset="0"/>
                  </a:rPr>
                  <a:t>print</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verify_3sat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5</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False</a:t>
                </a:r>
                <a:endParaRPr lang="en-US" b="1">
                  <a:solidFill>
                    <a:srgbClr val="3B3B3B"/>
                  </a:solidFill>
                  <a:effectLst/>
                  <a:latin typeface="Consolas" panose="020B0609020204030204" pitchFamily="49" charset="0"/>
                </a:endParaRPr>
              </a:p>
              <a:p>
                <a:pPr>
                  <a:buNone/>
                </a:pPr>
                <a:r>
                  <a:rPr lang="en-US" b="1">
                    <a:solidFill>
                      <a:srgbClr val="795E26"/>
                    </a:solidFill>
                    <a:effectLst/>
                    <a:latin typeface="Consolas" panose="020B0609020204030204" pitchFamily="49" charset="0"/>
                  </a:rPr>
                  <a:t>print</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verify_3sat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5</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True</a:t>
                </a:r>
                <a:endParaRPr lang="en-US" b="1">
                  <a:solidFill>
                    <a:srgbClr val="3B3B3B"/>
                  </a:solidFill>
                  <a:effectLst/>
                  <a:latin typeface="Consolas" panose="020B0609020204030204" pitchFamily="49" charset="0"/>
                </a:endParaRPr>
              </a:p>
            </p:txBody>
          </p:sp>
        </mc:Choice>
        <mc:Fallback xmlns="">
          <p:sp>
            <p:nvSpPr>
              <p:cNvPr id="5" name="TextBox 4">
                <a:extLst>
                  <a:ext uri="{FF2B5EF4-FFF2-40B4-BE49-F238E27FC236}">
                    <a16:creationId xmlns:a16="http://schemas.microsoft.com/office/drawing/2014/main" id="{75F80D38-B5B3-79D2-DA34-2478AA805EDB}"/>
                  </a:ext>
                </a:extLst>
              </p:cNvPr>
              <p:cNvSpPr txBox="1">
                <a:spLocks noRot="1" noChangeAspect="1" noMove="1" noResize="1" noEditPoints="1" noAdjustHandles="1" noChangeArrowheads="1" noChangeShapeType="1" noTextEdit="1"/>
              </p:cNvSpPr>
              <p:nvPr/>
            </p:nvSpPr>
            <p:spPr>
              <a:xfrm>
                <a:off x="0" y="186375"/>
                <a:ext cx="12215203" cy="5909310"/>
              </a:xfrm>
              <a:prstGeom prst="rect">
                <a:avLst/>
              </a:prstGeom>
              <a:blipFill>
                <a:blip r:embed="rId2"/>
                <a:stretch>
                  <a:fillRect l="-349" t="-515" b="-1442"/>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232227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084290A-F254-06AB-139D-30FE9AFBB66A}"/>
                  </a:ext>
                </a:extLst>
              </p:cNvPr>
              <p:cNvSpPr txBox="1"/>
              <p:nvPr/>
            </p:nvSpPr>
            <p:spPr>
              <a:xfrm>
                <a:off x="-23203" y="0"/>
                <a:ext cx="12215203" cy="6529736"/>
              </a:xfrm>
              <a:prstGeom prst="rect">
                <a:avLst/>
              </a:prstGeom>
              <a:noFill/>
              <a:ln>
                <a:solidFill>
                  <a:schemeClr val="tx1"/>
                </a:solidFill>
              </a:ln>
            </p:spPr>
            <p:txBody>
              <a:bodyPr wrap="square" rtlCol="0">
                <a:spAutoFit/>
              </a:bodyPr>
              <a:lstStyle/>
              <a:p>
                <a:pPr>
                  <a:buNone/>
                </a:pPr>
                <a:r>
                  <a:rPr lang="en-US" sz="1400" b="1">
                    <a:solidFill>
                      <a:srgbClr val="0000FF"/>
                    </a:solidFill>
                    <a:effectLst/>
                    <a:latin typeface="Consolas" panose="020B0609020204030204" pitchFamily="49" charset="0"/>
                  </a:rPr>
                  <a:t>def</a:t>
                </a:r>
                <a:r>
                  <a:rPr lang="en-US" sz="1400" b="1">
                    <a:solidFill>
                      <a:srgbClr val="3B3B3B"/>
                    </a:solidFill>
                    <a:effectLst/>
                    <a:latin typeface="Consolas" panose="020B0609020204030204" pitchFamily="49" charset="0"/>
                  </a:rPr>
                  <a:t> </a:t>
                </a:r>
                <a:r>
                  <a:rPr lang="en-US" sz="1400" b="1">
                    <a:solidFill>
                      <a:srgbClr val="795E26"/>
                    </a:solidFill>
                    <a:effectLst/>
                    <a:latin typeface="Consolas" panose="020B0609020204030204" pitchFamily="49" charset="0"/>
                  </a:rPr>
                  <a:t>verify_3sat</a:t>
                </a:r>
                <a:r>
                  <a:rPr lang="en-US" sz="1400" b="1">
                    <a:solidFill>
                      <a:srgbClr val="3B3B3B"/>
                    </a:solidFill>
                    <a:effectLst/>
                    <a:latin typeface="Consolas" panose="020B0609020204030204" pitchFamily="49" charset="0"/>
                  </a:rPr>
                  <a:t>(</a:t>
                </a:r>
                <a:r>
                  <a:rPr lang="en-US" sz="1400" b="1">
                    <a:solidFill>
                      <a:srgbClr val="001080"/>
                    </a:solidFill>
                    <a:effectLst/>
                    <a:latin typeface="Consolas" panose="020B0609020204030204" pitchFamily="49" charset="0"/>
                  </a:rPr>
                  <a:t>formula</a:t>
                </a:r>
                <a:r>
                  <a:rPr lang="en-US" sz="1400" b="1">
                    <a:solidFill>
                      <a:srgbClr val="3B3B3B"/>
                    </a:solidFill>
                    <a:effectLst/>
                    <a:latin typeface="Consolas" panose="020B0609020204030204" pitchFamily="49" charset="0"/>
                  </a:rPr>
                  <a:t>, </a:t>
                </a:r>
                <a:r>
                  <a:rPr lang="en-US" sz="1400" b="1">
                    <a:solidFill>
                      <a:srgbClr val="001080"/>
                    </a:solidFill>
                    <a:effectLst/>
                    <a:latin typeface="Consolas" panose="020B0609020204030204" pitchFamily="49" charset="0"/>
                  </a:rPr>
                  <a:t>assignment</a:t>
                </a:r>
                <a:r>
                  <a:rPr lang="en-US" sz="1400" b="1">
                    <a:solidFill>
                      <a:srgbClr val="3B3B3B"/>
                    </a:solidFill>
                    <a:effectLst/>
                    <a:latin typeface="Consolas" panose="020B0609020204030204" pitchFamily="49" charset="0"/>
                  </a:rPr>
                  <a:t>):</a:t>
                </a:r>
              </a:p>
              <a:p>
                <a:pPr>
                  <a:buNone/>
                </a:pPr>
                <a:r>
                  <a:rPr lang="en-US" sz="1400" b="1">
                    <a:solidFill>
                      <a:srgbClr val="3B3B3B"/>
                    </a:solidFill>
                    <a:effectLst/>
                    <a:latin typeface="Consolas" panose="020B0609020204030204" pitchFamily="49" charset="0"/>
                  </a:rPr>
                  <a:t>    </a:t>
                </a:r>
                <a:r>
                  <a:rPr lang="en-US" sz="1400" b="1">
                    <a:solidFill>
                      <a:srgbClr val="AF00DB"/>
                    </a:solidFill>
                    <a:effectLst/>
                    <a:latin typeface="Consolas" panose="020B0609020204030204" pitchFamily="49" charset="0"/>
                  </a:rPr>
                  <a:t>return</a:t>
                </a:r>
                <a:r>
                  <a:rPr lang="en-US" sz="1400" b="1">
                    <a:solidFill>
                      <a:srgbClr val="3B3B3B"/>
                    </a:solidFill>
                    <a:effectLst/>
                    <a:latin typeface="Consolas" panose="020B0609020204030204" pitchFamily="49" charset="0"/>
                  </a:rPr>
                  <a:t> </a:t>
                </a:r>
                <a:r>
                  <a:rPr lang="en-US" sz="1400" b="1">
                    <a:solidFill>
                      <a:srgbClr val="795E26"/>
                    </a:solidFill>
                    <a:effectLst/>
                    <a:latin typeface="Consolas" panose="020B0609020204030204" pitchFamily="49" charset="0"/>
                  </a:rPr>
                  <a:t>all</a:t>
                </a:r>
                <a:r>
                  <a:rPr lang="en-US" sz="1400" b="1">
                    <a:solidFill>
                      <a:srgbClr val="3B3B3B"/>
                    </a:solidFill>
                    <a:effectLst/>
                    <a:latin typeface="Consolas" panose="020B0609020204030204" pitchFamily="49" charset="0"/>
                  </a:rPr>
                  <a:t>(</a:t>
                </a:r>
                <a:r>
                  <a:rPr lang="en-US" sz="1400" b="1">
                    <a:solidFill>
                      <a:srgbClr val="795E26"/>
                    </a:solidFill>
                    <a:effectLst/>
                    <a:latin typeface="Consolas" panose="020B0609020204030204" pitchFamily="49" charset="0"/>
                  </a:rPr>
                  <a:t>any</a:t>
                </a:r>
                <a:r>
                  <a:rPr lang="en-US" sz="1400" b="1">
                    <a:solidFill>
                      <a:srgbClr val="3B3B3B"/>
                    </a:solidFill>
                    <a:effectLst/>
                    <a:latin typeface="Consolas" panose="020B0609020204030204" pitchFamily="49" charset="0"/>
                  </a:rPr>
                  <a:t>((</a:t>
                </a:r>
                <a:r>
                  <a:rPr lang="en-US" sz="1400" b="1">
                    <a:solidFill>
                      <a:srgbClr val="001080"/>
                    </a:solidFill>
                    <a:effectLst/>
                    <a:latin typeface="Consolas" panose="020B0609020204030204" pitchFamily="49" charset="0"/>
                  </a:rPr>
                  <a:t>lit</a:t>
                </a:r>
                <a:r>
                  <a:rPr lang="en-US" sz="1400" b="1">
                    <a:solidFill>
                      <a:srgbClr val="3B3B3B"/>
                    </a:solidFill>
                    <a:effectLst/>
                    <a:latin typeface="Consolas" panose="020B0609020204030204" pitchFamily="49" charset="0"/>
                  </a:rPr>
                  <a:t> </a:t>
                </a:r>
                <a:r>
                  <a:rPr lang="en-US" sz="1400" b="1">
                    <a:solidFill>
                      <a:srgbClr val="000000"/>
                    </a:solidFill>
                    <a:effectLst/>
                    <a:latin typeface="Consolas" panose="020B0609020204030204" pitchFamily="49" charset="0"/>
                  </a:rPr>
                  <a:t>&gt;</a:t>
                </a:r>
                <a:r>
                  <a:rPr lang="en-US" sz="1400" b="1">
                    <a:solidFill>
                      <a:srgbClr val="3B3B3B"/>
                    </a:solidFill>
                    <a:effectLst/>
                    <a:latin typeface="Consolas" panose="020B0609020204030204" pitchFamily="49" charset="0"/>
                  </a:rPr>
                  <a:t> </a:t>
                </a:r>
                <a:r>
                  <a:rPr lang="en-US" sz="1400" b="1">
                    <a:solidFill>
                      <a:srgbClr val="098658"/>
                    </a:solidFill>
                    <a:effectLst/>
                    <a:latin typeface="Consolas" panose="020B0609020204030204" pitchFamily="49" charset="0"/>
                  </a:rPr>
                  <a:t>0</a:t>
                </a:r>
                <a:r>
                  <a:rPr lang="en-US" sz="1400" b="1">
                    <a:solidFill>
                      <a:srgbClr val="3B3B3B"/>
                    </a:solidFill>
                    <a:effectLst/>
                    <a:latin typeface="Consolas" panose="020B0609020204030204" pitchFamily="49" charset="0"/>
                  </a:rPr>
                  <a:t>) </a:t>
                </a:r>
                <a:r>
                  <a:rPr lang="en-US" sz="1400" b="1">
                    <a:solidFill>
                      <a:srgbClr val="000000"/>
                    </a:solidFill>
                    <a:effectLst/>
                    <a:latin typeface="Consolas" panose="020B0609020204030204" pitchFamily="49" charset="0"/>
                  </a:rPr>
                  <a:t>==</a:t>
                </a:r>
                <a:r>
                  <a:rPr lang="en-US" sz="1400" b="1">
                    <a:solidFill>
                      <a:srgbClr val="3B3B3B"/>
                    </a:solidFill>
                    <a:effectLst/>
                    <a:latin typeface="Consolas" panose="020B0609020204030204" pitchFamily="49" charset="0"/>
                  </a:rPr>
                  <a:t> </a:t>
                </a:r>
                <a:r>
                  <a:rPr lang="en-US" sz="1400" b="1">
                    <a:solidFill>
                      <a:srgbClr val="001080"/>
                    </a:solidFill>
                    <a:effectLst/>
                    <a:latin typeface="Consolas" panose="020B0609020204030204" pitchFamily="49" charset="0"/>
                  </a:rPr>
                  <a:t>assignment</a:t>
                </a:r>
                <a:r>
                  <a:rPr lang="en-US" sz="1400" b="1">
                    <a:solidFill>
                      <a:srgbClr val="3B3B3B"/>
                    </a:solidFill>
                    <a:effectLst/>
                    <a:latin typeface="Consolas" panose="020B0609020204030204" pitchFamily="49" charset="0"/>
                  </a:rPr>
                  <a:t>[</a:t>
                </a:r>
                <a:r>
                  <a:rPr lang="en-US" sz="1400" b="1">
                    <a:solidFill>
                      <a:srgbClr val="795E26"/>
                    </a:solidFill>
                    <a:effectLst/>
                    <a:latin typeface="Consolas" panose="020B0609020204030204" pitchFamily="49" charset="0"/>
                  </a:rPr>
                  <a:t>abs</a:t>
                </a:r>
                <a:r>
                  <a:rPr lang="en-US" sz="1400" b="1">
                    <a:solidFill>
                      <a:srgbClr val="3B3B3B"/>
                    </a:solidFill>
                    <a:effectLst/>
                    <a:latin typeface="Consolas" panose="020B0609020204030204" pitchFamily="49" charset="0"/>
                  </a:rPr>
                  <a:t>(</a:t>
                </a:r>
                <a:r>
                  <a:rPr lang="en-US" sz="1400" b="1">
                    <a:solidFill>
                      <a:srgbClr val="001080"/>
                    </a:solidFill>
                    <a:effectLst/>
                    <a:latin typeface="Consolas" panose="020B0609020204030204" pitchFamily="49" charset="0"/>
                  </a:rPr>
                  <a:t>lit</a:t>
                </a:r>
                <a:r>
                  <a:rPr lang="en-US" sz="1400" b="1">
                    <a:solidFill>
                      <a:srgbClr val="3B3B3B"/>
                    </a:solidFill>
                    <a:effectLst/>
                    <a:latin typeface="Consolas" panose="020B0609020204030204" pitchFamily="49" charset="0"/>
                  </a:rPr>
                  <a:t>)] </a:t>
                </a:r>
                <a:r>
                  <a:rPr lang="en-US" sz="1400" b="1">
                    <a:solidFill>
                      <a:srgbClr val="AF00DB"/>
                    </a:solidFill>
                    <a:effectLst/>
                    <a:latin typeface="Consolas" panose="020B0609020204030204" pitchFamily="49" charset="0"/>
                  </a:rPr>
                  <a:t>for</a:t>
                </a:r>
                <a:r>
                  <a:rPr lang="en-US" sz="1400" b="1">
                    <a:solidFill>
                      <a:srgbClr val="3B3B3B"/>
                    </a:solidFill>
                    <a:effectLst/>
                    <a:latin typeface="Consolas" panose="020B0609020204030204" pitchFamily="49" charset="0"/>
                  </a:rPr>
                  <a:t> </a:t>
                </a:r>
                <a:r>
                  <a:rPr lang="en-US" sz="1400" b="1">
                    <a:solidFill>
                      <a:srgbClr val="001080"/>
                    </a:solidFill>
                    <a:effectLst/>
                    <a:latin typeface="Consolas" panose="020B0609020204030204" pitchFamily="49" charset="0"/>
                  </a:rPr>
                  <a:t>lit</a:t>
                </a:r>
                <a:r>
                  <a:rPr lang="en-US" sz="1400" b="1">
                    <a:solidFill>
                      <a:srgbClr val="3B3B3B"/>
                    </a:solidFill>
                    <a:effectLst/>
                    <a:latin typeface="Consolas" panose="020B0609020204030204" pitchFamily="49" charset="0"/>
                  </a:rPr>
                  <a:t> </a:t>
                </a:r>
                <a:r>
                  <a:rPr lang="en-US" sz="1400" b="1">
                    <a:solidFill>
                      <a:srgbClr val="AF00DB"/>
                    </a:solidFill>
                    <a:effectLst/>
                    <a:latin typeface="Consolas" panose="020B0609020204030204" pitchFamily="49" charset="0"/>
                  </a:rPr>
                  <a:t>in</a:t>
                </a:r>
                <a:r>
                  <a:rPr lang="en-US" sz="1400" b="1">
                    <a:solidFill>
                      <a:srgbClr val="3B3B3B"/>
                    </a:solidFill>
                    <a:effectLst/>
                    <a:latin typeface="Consolas" panose="020B0609020204030204" pitchFamily="49" charset="0"/>
                  </a:rPr>
                  <a:t> </a:t>
                </a:r>
                <a:r>
                  <a:rPr lang="en-US" sz="1400" b="1">
                    <a:solidFill>
                      <a:srgbClr val="001080"/>
                    </a:solidFill>
                    <a:effectLst/>
                    <a:latin typeface="Consolas" panose="020B0609020204030204" pitchFamily="49" charset="0"/>
                  </a:rPr>
                  <a:t>clause</a:t>
                </a:r>
                <a:r>
                  <a:rPr lang="en-US" sz="1400" b="1">
                    <a:solidFill>
                      <a:srgbClr val="3B3B3B"/>
                    </a:solidFill>
                    <a:effectLst/>
                    <a:latin typeface="Consolas" panose="020B0609020204030204" pitchFamily="49" charset="0"/>
                  </a:rPr>
                  <a:t>) </a:t>
                </a:r>
                <a:r>
                  <a:rPr lang="en-US" sz="1400" b="1">
                    <a:solidFill>
                      <a:srgbClr val="AF00DB"/>
                    </a:solidFill>
                    <a:effectLst/>
                    <a:latin typeface="Consolas" panose="020B0609020204030204" pitchFamily="49" charset="0"/>
                  </a:rPr>
                  <a:t>for</a:t>
                </a:r>
                <a:r>
                  <a:rPr lang="en-US" sz="1400" b="1">
                    <a:solidFill>
                      <a:srgbClr val="3B3B3B"/>
                    </a:solidFill>
                    <a:effectLst/>
                    <a:latin typeface="Consolas" panose="020B0609020204030204" pitchFamily="49" charset="0"/>
                  </a:rPr>
                  <a:t> </a:t>
                </a:r>
                <a:r>
                  <a:rPr lang="en-US" sz="1400" b="1">
                    <a:solidFill>
                      <a:srgbClr val="001080"/>
                    </a:solidFill>
                    <a:effectLst/>
                    <a:latin typeface="Consolas" panose="020B0609020204030204" pitchFamily="49" charset="0"/>
                  </a:rPr>
                  <a:t>clause</a:t>
                </a:r>
                <a:r>
                  <a:rPr lang="en-US" sz="1400" b="1">
                    <a:solidFill>
                      <a:srgbClr val="3B3B3B"/>
                    </a:solidFill>
                    <a:effectLst/>
                    <a:latin typeface="Consolas" panose="020B0609020204030204" pitchFamily="49" charset="0"/>
                  </a:rPr>
                  <a:t> </a:t>
                </a:r>
                <a:r>
                  <a:rPr lang="en-US" sz="1400" b="1">
                    <a:solidFill>
                      <a:srgbClr val="AF00DB"/>
                    </a:solidFill>
                    <a:effectLst/>
                    <a:latin typeface="Consolas" panose="020B0609020204030204" pitchFamily="49" charset="0"/>
                  </a:rPr>
                  <a:t>in</a:t>
                </a:r>
                <a:r>
                  <a:rPr lang="en-US" sz="1400" b="1">
                    <a:solidFill>
                      <a:srgbClr val="3B3B3B"/>
                    </a:solidFill>
                    <a:effectLst/>
                    <a:latin typeface="Consolas" panose="020B0609020204030204" pitchFamily="49" charset="0"/>
                  </a:rPr>
                  <a:t> </a:t>
                </a:r>
                <a:r>
                  <a:rPr lang="en-US" sz="1400" b="1">
                    <a:solidFill>
                      <a:srgbClr val="001080"/>
                    </a:solidFill>
                    <a:effectLst/>
                    <a:latin typeface="Consolas" panose="020B0609020204030204" pitchFamily="49" charset="0"/>
                  </a:rPr>
                  <a:t>formula</a:t>
                </a:r>
                <a:r>
                  <a:rPr lang="en-US" sz="1400" b="1">
                    <a:solidFill>
                      <a:srgbClr val="3B3B3B"/>
                    </a:solidFill>
                    <a:effectLst/>
                    <a:latin typeface="Consolas" panose="020B0609020204030204" pitchFamily="49" charset="0"/>
                  </a:rPr>
                  <a:t>)</a:t>
                </a:r>
                <a:br>
                  <a:rPr lang="en-US" b="1">
                    <a:solidFill>
                      <a:srgbClr val="3B3B3B"/>
                    </a:solidFill>
                    <a:effectLst/>
                    <a:latin typeface="Consolas" panose="020B0609020204030204" pitchFamily="49" charset="0"/>
                  </a:rPr>
                </a:br>
                <a:r>
                  <a:rPr lang="en-US" b="1">
                    <a:solidFill>
                      <a:srgbClr val="0000FF"/>
                    </a:solidFill>
                    <a:effectLst/>
                    <a:latin typeface="Consolas" panose="020B0609020204030204" pitchFamily="49" charset="0"/>
                  </a:rPr>
                  <a:t>def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solve_3sat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a:t>
                </a:r>
              </a:p>
              <a:p>
                <a:pPr>
                  <a:buNone/>
                </a:pPr>
                <a:r>
                  <a:rPr lang="en-US" sz="1400" b="1">
                    <a:solidFill>
                      <a:srgbClr val="3B3B3B"/>
                    </a:solidFill>
                    <a:effectLst/>
                    <a:latin typeface="Consolas" panose="020B0609020204030204" pitchFamily="49" charset="0"/>
                  </a:rPr>
                  <a:t>    </a:t>
                </a:r>
                <a:r>
                  <a:rPr lang="en-US" sz="1400" b="1">
                    <a:solidFill>
                      <a:srgbClr val="A31515"/>
                    </a:solidFill>
                    <a:effectLst/>
                    <a:latin typeface="Consolas" panose="020B0609020204030204" pitchFamily="49" charset="0"/>
                  </a:rPr>
                  <a:t>"""</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Solve a 3SAT formula given as a list of clauses.</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Each clause is a list of integers. The integer absolute value is the variable index.</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If the integer is positive, the variable is unnegated; if negative, it is negated.</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Example clause: [1, -2, 3] represents (x1 OR ¬x2 OR x3)</a:t>
                </a:r>
                <a:endParaRPr lang="en-US" sz="1400" b="1">
                  <a:solidFill>
                    <a:srgbClr val="3B3B3B"/>
                  </a:solidFill>
                  <a:effectLst/>
                  <a:latin typeface="Consolas" panose="020B0609020204030204" pitchFamily="49" charset="0"/>
                </a:endParaRPr>
              </a:p>
              <a:p>
                <a:pPr>
                  <a:buNone/>
                </a:pPr>
                <a:r>
                  <a:rPr lang="en-US" sz="1400" b="1">
                    <a:solidFill>
                      <a:srgbClr val="A31515"/>
                    </a:solidFill>
                    <a:effectLst/>
                    <a:latin typeface="Consolas" panose="020B0609020204030204" pitchFamily="49" charset="0"/>
                  </a:rPr>
                  <a:t>    """</a:t>
                </a:r>
                <a:endParaRPr lang="en-US" sz="1400"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Extract all variable indices from the formula</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variables</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sorted</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abs</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lit</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clause</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lit</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clause</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n</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len</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variables</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Brute-force over all possible assignments (2^n possibilities)</a:t>
                </a:r>
              </a:p>
              <a:p>
                <a:r>
                  <a:rPr lang="en-US" b="1">
                    <a:solidFill>
                      <a:srgbClr val="008000"/>
                    </a:solidFill>
                    <a:latin typeface="Consolas" panose="020B0609020204030204" pitchFamily="49" charset="0"/>
                  </a:rPr>
                  <a:t>    # </a:t>
                </a:r>
                <a14:m>
                  <m:oMath xmlns:m="http://schemas.openxmlformats.org/officeDocument/2006/math">
                    <m:r>
                      <a:rPr lang="pt-BR" b="0" i="1" smtClean="0">
                        <a:solidFill>
                          <a:srgbClr val="008000"/>
                        </a:solidFill>
                        <a:effectLst/>
                        <a:latin typeface="Cambria Math" panose="02040503050406030204" pitchFamily="18" charset="0"/>
                      </a:rPr>
                      <m:t>𝑂</m:t>
                    </m:r>
                    <m:d>
                      <m:dPr>
                        <m:ctrlPr>
                          <a:rPr lang="pt-BR" i="1" smtClean="0">
                            <a:solidFill>
                              <a:srgbClr val="008000"/>
                            </a:solidFill>
                            <a:effectLst/>
                            <a:latin typeface="Cambria Math" panose="02040503050406030204" pitchFamily="18" charset="0"/>
                          </a:rPr>
                        </m:ctrlPr>
                      </m:dPr>
                      <m:e>
                        <m:sSup>
                          <m:sSupPr>
                            <m:ctrlPr>
                              <a:rPr lang="pt-BR" i="1" smtClean="0">
                                <a:solidFill>
                                  <a:srgbClr val="008000"/>
                                </a:solidFill>
                                <a:effectLst/>
                                <a:latin typeface="Cambria Math" panose="02040503050406030204" pitchFamily="18" charset="0"/>
                              </a:rPr>
                            </m:ctrlPr>
                          </m:sSupPr>
                          <m:e>
                            <m:r>
                              <a:rPr lang="pt-BR" b="0" i="1" smtClean="0">
                                <a:solidFill>
                                  <a:srgbClr val="008000"/>
                                </a:solidFill>
                                <a:effectLst/>
                                <a:latin typeface="Cambria Math" panose="02040503050406030204" pitchFamily="18" charset="0"/>
                              </a:rPr>
                              <m:t>2</m:t>
                            </m:r>
                          </m:e>
                          <m:sup>
                            <m:r>
                              <a:rPr lang="pt-BR" b="0" i="1" smtClean="0">
                                <a:solidFill>
                                  <a:srgbClr val="008000"/>
                                </a:solidFill>
                                <a:effectLst/>
                                <a:latin typeface="Cambria Math" panose="02040503050406030204" pitchFamily="18" charset="0"/>
                              </a:rPr>
                              <m:t>𝑛</m:t>
                            </m:r>
                          </m:sup>
                        </m:sSup>
                        <m:d>
                          <m:dPr>
                            <m:ctrlPr>
                              <a:rPr lang="en-US" i="1" smtClean="0">
                                <a:solidFill>
                                  <a:srgbClr val="008000"/>
                                </a:solidFill>
                                <a:effectLst/>
                                <a:latin typeface="Cambria Math" panose="02040503050406030204" pitchFamily="18" charset="0"/>
                              </a:rPr>
                            </m:ctrlPr>
                          </m:dPr>
                          <m:e>
                            <m:r>
                              <a:rPr lang="en-US" b="0" i="1" smtClean="0">
                                <a:solidFill>
                                  <a:srgbClr val="008000"/>
                                </a:solidFill>
                                <a:effectLst/>
                                <a:latin typeface="Cambria Math" panose="02040503050406030204" pitchFamily="18" charset="0"/>
                              </a:rPr>
                              <m:t>𝑛</m:t>
                            </m:r>
                            <m:r>
                              <a:rPr lang="en-US" b="0" i="1" smtClean="0">
                                <a:solidFill>
                                  <a:srgbClr val="008000"/>
                                </a:solidFill>
                                <a:effectLst/>
                                <a:latin typeface="Cambria Math" panose="02040503050406030204" pitchFamily="18" charset="0"/>
                              </a:rPr>
                              <m:t>+</m:t>
                            </m:r>
                            <m:r>
                              <a:rPr lang="en-US" b="0" i="1" smtClean="0">
                                <a:solidFill>
                                  <a:srgbClr val="008000"/>
                                </a:solidFill>
                                <a:effectLst/>
                                <a:latin typeface="Cambria Math" panose="02040503050406030204" pitchFamily="18" charset="0"/>
                              </a:rPr>
                              <m:t>𝐾𝐿</m:t>
                            </m:r>
                          </m:e>
                        </m:d>
                      </m:e>
                    </m:d>
                  </m:oMath>
                </a14:m>
                <a:r>
                  <a:rPr lang="en-US" b="1">
                    <a:solidFill>
                      <a:srgbClr val="3B3B3B"/>
                    </a:solidFill>
                    <a:effectLst/>
                    <a:latin typeface="Consolas" panose="020B0609020204030204" pitchFamily="49" charset="0"/>
                  </a:rPr>
                  <a:t> </a:t>
                </a:r>
                <a:r>
                  <a:rPr lang="en-US">
                    <a:solidFill>
                      <a:srgbClr val="008000"/>
                    </a:solidFill>
                    <a:latin typeface="Consolas" panose="020B0609020204030204" pitchFamily="49" charset="0"/>
                  </a:rPr>
                  <a:t>– </a:t>
                </a:r>
                <a14:m>
                  <m:oMath xmlns:m="http://schemas.openxmlformats.org/officeDocument/2006/math">
                    <m:r>
                      <a:rPr lang="en-US" b="0" i="1" smtClean="0">
                        <a:solidFill>
                          <a:srgbClr val="008000"/>
                        </a:solidFill>
                        <a:latin typeface="Cambria Math" panose="02040503050406030204" pitchFamily="18" charset="0"/>
                      </a:rPr>
                      <m:t>𝑛</m:t>
                    </m:r>
                  </m:oMath>
                </a14:m>
                <a:r>
                  <a:rPr lang="en-US">
                    <a:solidFill>
                      <a:srgbClr val="008000"/>
                    </a:solidFill>
                    <a:latin typeface="Consolas" panose="020B0609020204030204" pitchFamily="49" charset="0"/>
                  </a:rPr>
                  <a:t> je broj varijabli, </a:t>
                </a:r>
                <a14:m>
                  <m:oMath xmlns:m="http://schemas.openxmlformats.org/officeDocument/2006/math">
                    <m:r>
                      <a:rPr lang="en-US" b="0" i="1" smtClean="0">
                        <a:solidFill>
                          <a:srgbClr val="008000"/>
                        </a:solidFill>
                        <a:latin typeface="Cambria Math" panose="02040503050406030204" pitchFamily="18" charset="0"/>
                      </a:rPr>
                      <m:t>𝐾</m:t>
                    </m:r>
                  </m:oMath>
                </a14:m>
                <a:r>
                  <a:rPr lang="en-US">
                    <a:solidFill>
                      <a:srgbClr val="008000"/>
                    </a:solidFill>
                    <a:latin typeface="Consolas" panose="020B0609020204030204" pitchFamily="49" charset="0"/>
                  </a:rPr>
                  <a:t> je broj klauzula, </a:t>
                </a:r>
                <a14:m>
                  <m:oMath xmlns:m="http://schemas.openxmlformats.org/officeDocument/2006/math">
                    <m:r>
                      <a:rPr lang="en-US" b="0" i="1" smtClean="0">
                        <a:solidFill>
                          <a:srgbClr val="008000"/>
                        </a:solidFill>
                        <a:latin typeface="Cambria Math" panose="02040503050406030204" pitchFamily="18" charset="0"/>
                      </a:rPr>
                      <m:t>𝐿</m:t>
                    </m:r>
                  </m:oMath>
                </a14:m>
                <a:r>
                  <a:rPr lang="en-US">
                    <a:solidFill>
                      <a:srgbClr val="008000"/>
                    </a:solidFill>
                    <a:latin typeface="Consolas" panose="020B0609020204030204" pitchFamily="49" charset="0"/>
                  </a:rPr>
                  <a:t>=3 je broj literala po klauzuli </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bits</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267F99"/>
                    </a:solidFill>
                    <a:effectLst/>
                    <a:latin typeface="Consolas" panose="020B0609020204030204" pitchFamily="49" charset="0"/>
                  </a:rPr>
                  <a:t>range</a:t>
                </a:r>
                <a:r>
                  <a:rPr lang="en-US" b="1">
                    <a:solidFill>
                      <a:srgbClr val="3B3B3B"/>
                    </a:solidFill>
                    <a:effectLst/>
                    <a:latin typeface="Consolas" panose="020B0609020204030204" pitchFamily="49" charset="0"/>
                  </a:rPr>
                  <a:t>(</a:t>
                </a:r>
                <a:r>
                  <a:rPr lang="en-US" b="1">
                    <a:solidFill>
                      <a:srgbClr val="098658"/>
                    </a:solidFill>
                    <a:effectLst/>
                    <a:latin typeface="Consolas" panose="020B0609020204030204" pitchFamily="49" charset="0"/>
                  </a:rPr>
                  <a:t>2</a:t>
                </a:r>
                <a:r>
                  <a:rPr lang="en-US" b="1">
                    <a:solidFill>
                      <a:srgbClr val="000000"/>
                    </a:solidFill>
                    <a:effectLst/>
                    <a:latin typeface="Consolas" panose="020B0609020204030204" pitchFamily="49" charset="0"/>
                  </a:rPr>
                  <a:t>**</a:t>
                </a:r>
                <a:r>
                  <a:rPr lang="en-US" b="1">
                    <a:solidFill>
                      <a:srgbClr val="001080"/>
                    </a:solidFill>
                    <a:effectLst/>
                    <a:latin typeface="Consolas" panose="020B0609020204030204" pitchFamily="49" charset="0"/>
                  </a:rPr>
                  <a:t>n</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Build assignment: dictionary mapping variable -&gt; Boolean value</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assignment</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var</a:t>
                </a:r>
                <a:r>
                  <a:rPr lang="en-US" b="1">
                    <a:solidFill>
                      <a:srgbClr val="3B3B3B"/>
                    </a:solidFill>
                    <a:effectLst/>
                    <a:latin typeface="Consolas" panose="020B0609020204030204" pitchFamily="49" charset="0"/>
                  </a:rPr>
                  <a:t>: </a:t>
                </a:r>
                <a:r>
                  <a:rPr lang="en-US" b="1">
                    <a:solidFill>
                      <a:srgbClr val="267F99"/>
                    </a:solidFill>
                    <a:effectLst/>
                    <a:latin typeface="Consolas" panose="020B0609020204030204" pitchFamily="49" charset="0"/>
                  </a:rPr>
                  <a:t>bool</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bits</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&gt;&gt;</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i</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&amp;</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i</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var</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267F99"/>
                    </a:solidFill>
                    <a:effectLst/>
                    <a:latin typeface="Consolas" panose="020B0609020204030204" pitchFamily="49" charset="0"/>
                  </a:rPr>
                  <a:t>enumerate</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variables</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verify_3sat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assignment</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assignment</a:t>
                </a:r>
                <a:endParaRPr lang="en-US" b="1">
                  <a:solidFill>
                    <a:srgbClr val="3B3B3B"/>
                  </a:solidFill>
                  <a:effectLst/>
                  <a:latin typeface="Consolas" panose="020B0609020204030204" pitchFamily="49" charset="0"/>
                </a:endParaRPr>
              </a:p>
              <a:p>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None</a:t>
                </a:r>
              </a:p>
              <a:p>
                <a:r>
                  <a:rPr lang="en-US" sz="1600">
                    <a:solidFill>
                      <a:srgbClr val="008000"/>
                    </a:solidFill>
                    <a:latin typeface="Consolas" panose="020B0609020204030204" pitchFamily="49" charset="0"/>
                  </a:rPr>
                  <a:t># Primjer:</a:t>
                </a:r>
                <a:endParaRPr lang="en-US" sz="1600" b="1">
                  <a:solidFill>
                    <a:srgbClr val="0000FF"/>
                  </a:solidFill>
                  <a:effectLst/>
                  <a:latin typeface="Consolas" panose="020B0609020204030204" pitchFamily="49" charset="0"/>
                </a:endParaRPr>
              </a:p>
              <a:p>
                <a:r>
                  <a:rPr lang="en-US" b="1">
                    <a:solidFill>
                      <a:srgbClr val="008000"/>
                    </a:solidFill>
                    <a:effectLst/>
                    <a:latin typeface="Consolas" panose="020B0609020204030204" pitchFamily="49" charset="0"/>
                  </a:rPr>
                  <a:t># (¬x1 OR x2 OR x3) AND (¬x1 OR ¬x2 OR ¬x3) AND (x2 OR ¬x3 OR x4) AND (x3 OR x4 OR x5)</a:t>
                </a:r>
                <a:br>
                  <a:rPr lang="en-US" b="1">
                    <a:solidFill>
                      <a:srgbClr val="3B3B3B"/>
                    </a:solidFill>
                    <a:effectLst/>
                    <a:latin typeface="Consolas" panose="020B0609020204030204" pitchFamily="49" charset="0"/>
                  </a:rPr>
                </a:b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4</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5</a:t>
                </a:r>
                <a:r>
                  <a:rPr lang="en-US" b="1">
                    <a:solidFill>
                      <a:srgbClr val="3B3B3B"/>
                    </a:solidFill>
                    <a:effectLst/>
                    <a:latin typeface="Consolas" panose="020B0609020204030204" pitchFamily="49" charset="0"/>
                  </a:rPr>
                  <a:t>]]</a:t>
                </a:r>
              </a:p>
              <a:p>
                <a:pPr>
                  <a:buNone/>
                </a:pPr>
                <a:r>
                  <a:rPr lang="en-US" b="1">
                    <a:solidFill>
                      <a:srgbClr val="001080"/>
                    </a:solidFill>
                    <a:effectLst/>
                    <a:latin typeface="Consolas" panose="020B0609020204030204" pitchFamily="49" charset="0"/>
                  </a:rPr>
                  <a:t>solution</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solve_3sat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formula</a:t>
                </a:r>
                <a:r>
                  <a:rPr lang="en-US" b="1">
                    <a:solidFill>
                      <a:srgbClr val="3B3B3B"/>
                    </a:solidFill>
                    <a:effectLst/>
                    <a:latin typeface="Consolas" panose="020B0609020204030204" pitchFamily="49" charset="0"/>
                  </a:rPr>
                  <a:t>)</a:t>
                </a:r>
              </a:p>
              <a:p>
                <a:r>
                  <a:rPr lang="en-US" b="1">
                    <a:solidFill>
                      <a:srgbClr val="795E26"/>
                    </a:solidFill>
                    <a:effectLst/>
                    <a:latin typeface="Consolas" panose="020B0609020204030204" pitchFamily="49" charset="0"/>
                  </a:rPr>
                  <a:t>print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solution</a:t>
                </a:r>
                <a:r>
                  <a:rPr lang="en-US" b="1">
                    <a:solidFill>
                      <a:srgbClr val="3B3B3B"/>
                    </a:solidFill>
                    <a:effectLst/>
                    <a:latin typeface="Consolas" panose="020B0609020204030204" pitchFamily="49" charset="0"/>
                  </a:rPr>
                  <a:t>)</a:t>
                </a:r>
              </a:p>
            </p:txBody>
          </p:sp>
        </mc:Choice>
        <mc:Fallback xmlns="">
          <p:sp>
            <p:nvSpPr>
              <p:cNvPr id="5" name="TextBox 4">
                <a:extLst>
                  <a:ext uri="{FF2B5EF4-FFF2-40B4-BE49-F238E27FC236}">
                    <a16:creationId xmlns:a16="http://schemas.microsoft.com/office/drawing/2014/main" id="{1084290A-F254-06AB-139D-30FE9AFBB66A}"/>
                  </a:ext>
                </a:extLst>
              </p:cNvPr>
              <p:cNvSpPr txBox="1">
                <a:spLocks noRot="1" noChangeAspect="1" noMove="1" noResize="1" noEditPoints="1" noAdjustHandles="1" noChangeArrowheads="1" noChangeShapeType="1" noTextEdit="1"/>
              </p:cNvSpPr>
              <p:nvPr/>
            </p:nvSpPr>
            <p:spPr>
              <a:xfrm>
                <a:off x="-23203" y="0"/>
                <a:ext cx="12215203" cy="6529736"/>
              </a:xfrm>
              <a:prstGeom prst="rect">
                <a:avLst/>
              </a:prstGeom>
              <a:blipFill>
                <a:blip r:embed="rId2"/>
                <a:stretch>
                  <a:fillRect l="-349" t="-93" b="-466"/>
                </a:stretch>
              </a:blipFill>
              <a:ln>
                <a:solidFill>
                  <a:schemeClr val="tx1"/>
                </a:solidFill>
              </a:ln>
            </p:spPr>
            <p:txBody>
              <a:bodyPr/>
              <a:lstStyle/>
              <a:p>
                <a:r>
                  <a:rPr lang="en-US">
                    <a:noFill/>
                  </a:rPr>
                  <a:t> </a:t>
                </a:r>
              </a:p>
            </p:txBody>
          </p:sp>
        </mc:Fallback>
      </mc:AlternateContent>
      <p:sp>
        <p:nvSpPr>
          <p:cNvPr id="6" name="TextBox 5">
            <a:extLst>
              <a:ext uri="{FF2B5EF4-FFF2-40B4-BE49-F238E27FC236}">
                <a16:creationId xmlns:a16="http://schemas.microsoft.com/office/drawing/2014/main" id="{8136E244-7BD7-11A8-B9AF-11CD202DE9D5}"/>
              </a:ext>
            </a:extLst>
          </p:cNvPr>
          <p:cNvSpPr txBox="1"/>
          <p:nvPr/>
        </p:nvSpPr>
        <p:spPr>
          <a:xfrm>
            <a:off x="7691911" y="5986109"/>
            <a:ext cx="423776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da-DK" b="1"/>
              <a:t>{1: False, 2: True, 3: True, 4: False, 5: False}</a:t>
            </a:r>
            <a:endParaRPr lang="en-US" b="1"/>
          </a:p>
        </p:txBody>
      </p:sp>
    </p:spTree>
    <p:extLst>
      <p:ext uri="{BB962C8B-B14F-4D97-AF65-F5344CB8AC3E}">
        <p14:creationId xmlns:p14="http://schemas.microsoft.com/office/powerpoint/2010/main" val="973922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B3B6C-C48E-F3DC-A772-C6B6C6D9FA7F}"/>
              </a:ext>
            </a:extLst>
          </p:cNvPr>
          <p:cNvSpPr>
            <a:spLocks noGrp="1"/>
          </p:cNvSpPr>
          <p:nvPr>
            <p:ph type="title"/>
          </p:nvPr>
        </p:nvSpPr>
        <p:spPr/>
        <p:txBody>
          <a:bodyPr/>
          <a:lstStyle/>
          <a:p>
            <a:r>
              <a:rPr lang="en-US"/>
              <a:t>k-bojivost grafa (</a:t>
            </a:r>
            <a:r>
              <a:rPr lang="sr-Latn-BA"/>
              <a:t>kColor</a:t>
            </a:r>
            <a:r>
              <a:rPr lang="en-US"/>
              <a:t>)</a:t>
            </a:r>
            <a:endParaRPr lang="sr-Latn-BA"/>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DEB473-203B-1F7A-79E1-FACB4F205C0E}"/>
                  </a:ext>
                </a:extLst>
              </p:cNvPr>
              <p:cNvSpPr>
                <a:spLocks noGrp="1"/>
              </p:cNvSpPr>
              <p:nvPr>
                <p:ph idx="1"/>
              </p:nvPr>
            </p:nvSpPr>
            <p:spPr/>
            <p:txBody>
              <a:bodyPr>
                <a:normAutofit fontScale="92500"/>
              </a:bodyPr>
              <a:lstStyle/>
              <a:p>
                <a:pPr algn="just"/>
                <a:r>
                  <a:rPr lang="sr-Latn-BA"/>
                  <a:t>Neka je </a:t>
                </a:r>
                <a14:m>
                  <m:oMath xmlns:m="http://schemas.openxmlformats.org/officeDocument/2006/math">
                    <m:r>
                      <a:rPr lang="en-US" i="1" smtClean="0">
                        <a:latin typeface="Cambria Math" panose="02040503050406030204" pitchFamily="18" charset="0"/>
                      </a:rPr>
                      <m:t>𝑘</m:t>
                    </m:r>
                  </m:oMath>
                </a14:m>
                <a:r>
                  <a:rPr lang="en-US"/>
                  <a:t> prirodan broj i </a:t>
                </a:r>
                <a:r>
                  <a:rPr lang="sr-Latn-BA"/>
                  <a:t>neka je </a:t>
                </a:r>
                <a14:m>
                  <m:oMath xmlns:m="http://schemas.openxmlformats.org/officeDocument/2006/math">
                    <m:r>
                      <a:rPr lang="sr-Latn-BA" i="1">
                        <a:latin typeface="Cambria Math" panose="02040503050406030204" pitchFamily="18" charset="0"/>
                      </a:rPr>
                      <m:t>𝐺</m:t>
                    </m:r>
                  </m:oMath>
                </a14:m>
                <a:r>
                  <a:rPr lang="sr-Latn-BA"/>
                  <a:t> graf sa skupom čvorova </a:t>
                </a:r>
                <a14:m>
                  <m:oMath xmlns:m="http://schemas.openxmlformats.org/officeDocument/2006/math">
                    <m:r>
                      <a:rPr lang="sr-Latn-BA" i="1">
                        <a:latin typeface="Cambria Math" panose="02040503050406030204" pitchFamily="18" charset="0"/>
                      </a:rPr>
                      <m:t>𝑉</m:t>
                    </m:r>
                  </m:oMath>
                </a14:m>
                <a:r>
                  <a:rPr lang="sr-Latn-BA"/>
                  <a:t> i skupom ivica </a:t>
                </a:r>
                <a14:m>
                  <m:oMath xmlns:m="http://schemas.openxmlformats.org/officeDocument/2006/math">
                    <m:r>
                      <a:rPr lang="sr-Latn-BA" i="1">
                        <a:latin typeface="Cambria Math" panose="02040503050406030204" pitchFamily="18" charset="0"/>
                      </a:rPr>
                      <m:t>𝐸</m:t>
                    </m:r>
                  </m:oMath>
                </a14:m>
                <a:r>
                  <a:rPr lang="sr-Latn-BA"/>
                  <a:t>, </a:t>
                </a:r>
                <a14:m>
                  <m:oMath xmlns:m="http://schemas.openxmlformats.org/officeDocument/2006/math">
                    <m:r>
                      <a:rPr lang="sr-Latn-BA"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𝐸</m:t>
                    </m:r>
                    <m:r>
                      <a:rPr lang="en-US" i="1">
                        <a:latin typeface="Cambria Math" panose="02040503050406030204" pitchFamily="18" charset="0"/>
                      </a:rPr>
                      <m:t>)</m:t>
                    </m:r>
                  </m:oMath>
                </a14:m>
                <a:r>
                  <a:rPr lang="sr-Latn-BA"/>
                  <a:t>. </a:t>
                </a:r>
                <a:r>
                  <a:rPr lang="en-US"/>
                  <a:t>Ka</a:t>
                </a:r>
                <a:r>
                  <a:rPr lang="sr-Latn-BA"/>
                  <a:t>žemo da je graf </a:t>
                </a:r>
                <a14:m>
                  <m:oMath xmlns:m="http://schemas.openxmlformats.org/officeDocument/2006/math">
                    <m:r>
                      <a:rPr lang="sr-Latn-BA" i="1" smtClean="0">
                        <a:latin typeface="Cambria Math" panose="02040503050406030204" pitchFamily="18" charset="0"/>
                      </a:rPr>
                      <m:t>𝐺</m:t>
                    </m:r>
                  </m:oMath>
                </a14:m>
                <a:r>
                  <a:rPr lang="sr-Latn-BA"/>
                  <a:t> </a:t>
                </a:r>
                <a14:m>
                  <m:oMath xmlns:m="http://schemas.openxmlformats.org/officeDocument/2006/math">
                    <m:r>
                      <a:rPr lang="sr-Latn-BA" i="1" smtClean="0">
                        <a:latin typeface="Cambria Math" panose="02040503050406030204" pitchFamily="18" charset="0"/>
                      </a:rPr>
                      <m:t>𝑘</m:t>
                    </m:r>
                  </m:oMath>
                </a14:m>
                <a:r>
                  <a:rPr lang="sr-Latn-BA"/>
                  <a:t>-bojiv ako je moguće svakom čvoru</a:t>
                </a:r>
                <a:r>
                  <a:rPr lang="en-US"/>
                  <a:t>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sr-Latn-BA"/>
                  <a:t> dati boju </a:t>
                </a:r>
                <a14:m>
                  <m:oMath xmlns:m="http://schemas.openxmlformats.org/officeDocument/2006/math">
                    <m:r>
                      <a:rPr lang="en-US" b="0" i="1" smtClean="0">
                        <a:latin typeface="Cambria Math" panose="02040503050406030204" pitchFamily="18" charset="0"/>
                      </a:rPr>
                      <m:t>𝑐𝑜𝑙𝑜𝑟</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oMath>
                </a14:m>
                <a:r>
                  <a:rPr lang="en-US"/>
                  <a:t>, </a:t>
                </a:r>
                <a:r>
                  <a:rPr lang="sr-Latn-BA"/>
                  <a:t>tako da važe sljedeće tvrdnje:</a:t>
                </a:r>
                <a:endParaRPr lang="en-US"/>
              </a:p>
              <a:p>
                <a:pPr marL="514350" indent="-514350" algn="just">
                  <a:spcAft>
                    <a:spcPts val="1200"/>
                  </a:spcAft>
                  <a:buFont typeface="+mj-lt"/>
                  <a:buAutoNum type="arabicPeriod"/>
                </a:pPr>
                <a14:m>
                  <m:oMath xmlns:m="http://schemas.openxmlformats.org/officeDocument/2006/math">
                    <m:r>
                      <a:rPr lang="sr-Latn-BA"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𝑐𝑜𝑙𝑜𝑟</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𝑢</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𝑐𝑜𝑙𝑜𝑟</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𝑣</m:t>
                        </m:r>
                      </m:e>
                    </m:d>
                  </m:oMath>
                </a14:m>
                <a:endParaRPr lang="en-US" b="0">
                  <a:ea typeface="Cambria Math" panose="02040503050406030204" pitchFamily="18" charset="0"/>
                </a:endParaRPr>
              </a:p>
              <a:p>
                <a:pPr marL="514350" indent="-514350" algn="just">
                  <a:buFont typeface="+mj-lt"/>
                  <a:buAutoNum type="arabicPeriod"/>
                </a:pPr>
                <a14:m>
                  <m:oMath xmlns:m="http://schemas.openxmlformats.org/officeDocument/2006/math">
                    <m:d>
                      <m:dPr>
                        <m:begChr m:val="|"/>
                        <m:endChr m:val="}"/>
                        <m:ctrlPr>
                          <a:rPr lang="en-US" b="0" i="1" smtClean="0">
                            <a:latin typeface="Cambria Math" panose="02040503050406030204" pitchFamily="18" charset="0"/>
                            <a:ea typeface="Cambria Math" panose="02040503050406030204" pitchFamily="18" charset="0"/>
                          </a:rPr>
                        </m:ctrlPr>
                      </m:d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𝑐𝑜𝑙𝑜𝑟</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𝑢</m:t>
                                </m:r>
                              </m:e>
                            </m:d>
                          </m:e>
                        </m:d>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oMath>
                </a14:m>
                <a:endParaRPr lang="en-US" b="0">
                  <a:ea typeface="Cambria Math" panose="02040503050406030204" pitchFamily="18" charset="0"/>
                </a:endParaRPr>
              </a:p>
              <a:p>
                <a:pPr marL="0" indent="0" algn="ctr">
                  <a:buNone/>
                </a:pPr>
                <a14:m>
                  <m:oMath xmlns:m="http://schemas.openxmlformats.org/officeDocument/2006/math">
                    <m:r>
                      <a:rPr lang="sr-Latn-BA" i="1" smtClean="0">
                        <a:latin typeface="Cambria Math" panose="02040503050406030204" pitchFamily="18" charset="0"/>
                        <a:ea typeface="Cambria Math" panose="02040503050406030204" pitchFamily="18" charset="0"/>
                      </a:rPr>
                      <m:t>𝑘𝐶𝑜𝑙𝑜𝑟</m:t>
                    </m:r>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&gt; </m:t>
                        </m:r>
                      </m:e>
                    </m:d>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𝐺</m:t>
                    </m:r>
                    <m:r>
                      <a:rPr lang="en-US" i="1">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k</m:t>
                    </m:r>
                    <m:r>
                      <m:rPr>
                        <m:nor/>
                      </m:rPr>
                      <a:rPr lang="en-US" i="0">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bojiv</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graf</m:t>
                    </m:r>
                  </m:oMath>
                </a14:m>
                <a:r>
                  <a:rPr lang="en-US">
                    <a:ea typeface="Cambria Math" panose="02040503050406030204" pitchFamily="18" charset="0"/>
                  </a:rPr>
                  <a:t>}</a:t>
                </a:r>
              </a:p>
              <a:p>
                <a:pPr algn="just"/>
                <a:r>
                  <a:rPr lang="en-US">
                    <a:ea typeface="Cambria Math" panose="02040503050406030204" pitchFamily="18" charset="0"/>
                  </a:rPr>
                  <a:t>Problem odlu</a:t>
                </a:r>
                <a:r>
                  <a:rPr lang="sr-Latn-BA">
                    <a:ea typeface="Cambria Math" panose="02040503050406030204" pitchFamily="18" charset="0"/>
                  </a:rPr>
                  <a:t>čivanja da li je graf G </a:t>
                </a:r>
                <a14:m>
                  <m:oMath xmlns:m="http://schemas.openxmlformats.org/officeDocument/2006/math">
                    <m:r>
                      <a:rPr lang="sr-Latn-BA" i="1" smtClean="0">
                        <a:latin typeface="Cambria Math" panose="02040503050406030204" pitchFamily="18" charset="0"/>
                        <a:ea typeface="Cambria Math" panose="02040503050406030204" pitchFamily="18" charset="0"/>
                      </a:rPr>
                      <m:t>𝑘</m:t>
                    </m:r>
                  </m:oMath>
                </a14:m>
                <a:r>
                  <a:rPr lang="sr-Latn-BA">
                    <a:ea typeface="Cambria Math" panose="02040503050406030204" pitchFamily="18" charset="0"/>
                  </a:rPr>
                  <a:t>-bojiv:</a:t>
                </a:r>
                <a:r>
                  <a:rPr lang="en-US">
                    <a:ea typeface="Cambria Math" panose="02040503050406030204" pitchFamily="18" charset="0"/>
                  </a:rPr>
                  <a:t> Da li va</a:t>
                </a:r>
                <a:r>
                  <a:rPr lang="sr-Latn-BA">
                    <a:ea typeface="Cambria Math" panose="02040503050406030204" pitchFamily="18" charset="0"/>
                  </a:rPr>
                  <a:t>ži </a:t>
                </a:r>
                <a14:m>
                  <m:oMath xmlns:m="http://schemas.openxmlformats.org/officeDocument/2006/math">
                    <m:r>
                      <a:rPr lang="en-US" b="0" i="0" smtClean="0">
                        <a:latin typeface="Cambria Math" panose="02040503050406030204" pitchFamily="18" charset="0"/>
                        <a:ea typeface="Cambria Math" panose="02040503050406030204" pitchFamily="18" charset="0"/>
                      </a:rPr>
                      <m:t>&lt;</m:t>
                    </m:r>
                    <m:r>
                      <a:rPr lang="sr-Latn-BA"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&gt; ∈</m:t>
                    </m:r>
                    <m:r>
                      <a:rPr lang="en-US" b="0" i="1" smtClean="0">
                        <a:latin typeface="Cambria Math" panose="02040503050406030204" pitchFamily="18" charset="0"/>
                        <a:ea typeface="Cambria Math" panose="02040503050406030204" pitchFamily="18" charset="0"/>
                      </a:rPr>
                      <m:t>𝑘𝐶𝑜𝑙𝑜𝑟</m:t>
                    </m:r>
                  </m:oMath>
                </a14:m>
                <a:r>
                  <a:rPr lang="sr-Latn-BA">
                    <a:ea typeface="Cambria Math" panose="02040503050406030204" pitchFamily="18" charset="0"/>
                  </a:rPr>
                  <a:t>?</a:t>
                </a:r>
              </a:p>
              <a:p>
                <a:pPr algn="just"/>
                <a:r>
                  <a:rPr lang="en-US"/>
                  <a:t>Prakti</a:t>
                </a:r>
                <a:r>
                  <a:rPr lang="sr-Latn-BA"/>
                  <a:t>čne primjene: raspoređivanje</a:t>
                </a:r>
                <a:endParaRPr lang="en-US">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DEB473-203B-1F7A-79E1-FACB4F205C0E}"/>
                  </a:ext>
                </a:extLst>
              </p:cNvPr>
              <p:cNvSpPr>
                <a:spLocks noGrp="1" noRot="1" noChangeAspect="1" noMove="1" noResize="1" noEditPoints="1" noAdjustHandles="1" noChangeArrowheads="1" noChangeShapeType="1" noTextEdit="1"/>
              </p:cNvSpPr>
              <p:nvPr>
                <p:ph idx="1"/>
              </p:nvPr>
            </p:nvSpPr>
            <p:spPr>
              <a:blipFill>
                <a:blip r:embed="rId2"/>
                <a:stretch>
                  <a:fillRect l="-928" t="-2101" r="-986"/>
                </a:stretch>
              </a:blipFill>
            </p:spPr>
            <p:txBody>
              <a:bodyPr/>
              <a:lstStyle/>
              <a:p>
                <a:r>
                  <a:rPr lang="en-US">
                    <a:noFill/>
                  </a:rPr>
                  <a:t> </a:t>
                </a:r>
              </a:p>
            </p:txBody>
          </p:sp>
        </mc:Fallback>
      </mc:AlternateContent>
    </p:spTree>
    <p:extLst>
      <p:ext uri="{BB962C8B-B14F-4D97-AF65-F5344CB8AC3E}">
        <p14:creationId xmlns:p14="http://schemas.microsoft.com/office/powerpoint/2010/main" val="1100196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B3B6C-C48E-F3DC-A772-C6B6C6D9FA7F}"/>
              </a:ext>
            </a:extLst>
          </p:cNvPr>
          <p:cNvSpPr>
            <a:spLocks noGrp="1"/>
          </p:cNvSpPr>
          <p:nvPr>
            <p:ph type="title"/>
          </p:nvPr>
        </p:nvSpPr>
        <p:spPr/>
        <p:txBody>
          <a:bodyPr/>
          <a:lstStyle/>
          <a:p>
            <a:r>
              <a:rPr lang="en-US"/>
              <a:t>k-bojivost grafa (</a:t>
            </a:r>
            <a:r>
              <a:rPr lang="sr-Latn-BA"/>
              <a:t>kColor</a:t>
            </a:r>
            <a:r>
              <a:rPr lang="en-US"/>
              <a:t>)</a:t>
            </a:r>
            <a:endParaRPr lang="sr-Latn-BA"/>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DEB473-203B-1F7A-79E1-FACB4F205C0E}"/>
                  </a:ext>
                </a:extLst>
              </p:cNvPr>
              <p:cNvSpPr>
                <a:spLocks noGrp="1"/>
              </p:cNvSpPr>
              <p:nvPr>
                <p:ph idx="1"/>
              </p:nvPr>
            </p:nvSpPr>
            <p:spPr/>
            <p:txBody>
              <a:bodyPr>
                <a:normAutofit/>
              </a:bodyPr>
              <a:lstStyle/>
              <a:p>
                <a:pPr algn="just"/>
                <a:r>
                  <a:rPr lang="en-US"/>
                  <a:t>Da li je </a:t>
                </a:r>
                <a14:m>
                  <m:oMath xmlns:m="http://schemas.openxmlformats.org/officeDocument/2006/math">
                    <m:r>
                      <a:rPr lang="en-US" b="0" i="1" smtClean="0">
                        <a:latin typeface="Cambria Math" panose="02040503050406030204" pitchFamily="18" charset="0"/>
                        <a:ea typeface="Cambria Math" panose="02040503050406030204" pitchFamily="18" charset="0"/>
                      </a:rPr>
                      <m:t>𝑘𝐶𝑜𝑙𝑜𝑟</m:t>
                    </m:r>
                  </m:oMath>
                </a14:m>
                <a:r>
                  <a:rPr lang="en-US">
                    <a:ea typeface="Cambria Math" panose="02040503050406030204" pitchFamily="18" charset="0"/>
                  </a:rPr>
                  <a:t> problem odlu</a:t>
                </a:r>
                <a:r>
                  <a:rPr lang="sr-Latn-BA">
                    <a:ea typeface="Cambria Math" panose="02040503050406030204" pitchFamily="18" charset="0"/>
                  </a:rPr>
                  <a:t>čivanja rješiv u polinomijalnom vremenu na klasičnom računaru?</a:t>
                </a:r>
              </a:p>
              <a:p>
                <a:pPr algn="just"/>
                <a:r>
                  <a:rPr lang="sr-Latn-BA">
                    <a:ea typeface="Cambria Math" panose="02040503050406030204" pitchFamily="18" charset="0"/>
                  </a:rPr>
                  <a:t>Zavisi od </a:t>
                </a:r>
                <a14:m>
                  <m:oMath xmlns:m="http://schemas.openxmlformats.org/officeDocument/2006/math">
                    <m:r>
                      <a:rPr lang="sr-Latn-BA" i="1" smtClean="0">
                        <a:latin typeface="Cambria Math" panose="02040503050406030204" pitchFamily="18" charset="0"/>
                        <a:ea typeface="Cambria Math" panose="02040503050406030204" pitchFamily="18" charset="0"/>
                      </a:rPr>
                      <m:t>𝑘</m:t>
                    </m:r>
                  </m:oMath>
                </a14:m>
                <a:r>
                  <a:rPr lang="sr-Latn-BA">
                    <a:ea typeface="Cambria Math" panose="02040503050406030204" pitchFamily="18" charset="0"/>
                  </a:rPr>
                  <a:t>.</a:t>
                </a:r>
                <a:endParaRPr lang="en-US">
                  <a:ea typeface="Cambria Math" panose="02040503050406030204" pitchFamily="18" charset="0"/>
                </a:endParaRPr>
              </a:p>
              <a:p>
                <a:pPr algn="just"/>
                <a:r>
                  <a:rPr lang="sr-Latn-BA">
                    <a:ea typeface="Cambria Math" panose="02040503050406030204" pitchFamily="18" charset="0"/>
                  </a:rPr>
                  <a:t>Za </a:t>
                </a:r>
                <a14:m>
                  <m:oMath xmlns:m="http://schemas.openxmlformats.org/officeDocument/2006/math">
                    <m:r>
                      <a:rPr lang="sr-Latn-BA" i="1" smtClean="0">
                        <a:latin typeface="Cambria Math" panose="02040503050406030204" pitchFamily="18" charset="0"/>
                        <a:ea typeface="Cambria Math" panose="02040503050406030204" pitchFamily="18" charset="0"/>
                      </a:rPr>
                      <m:t>𝑘</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oMath>
                </a14:m>
                <a:r>
                  <a:rPr lang="en-US">
                    <a:ea typeface="Cambria Math" panose="02040503050406030204" pitchFamily="18" charset="0"/>
                  </a:rPr>
                  <a:t>?</a:t>
                </a:r>
              </a:p>
              <a:p>
                <a:pPr lvl="1" algn="just"/>
                <a:r>
                  <a:rPr lang="en-US">
                    <a:ea typeface="Cambria Math" panose="02040503050406030204" pitchFamily="18" charset="0"/>
                  </a:rPr>
                  <a:t>Provjera da li je bipartitivan graf.</a:t>
                </a:r>
                <a:endParaRPr lang="sr-Latn-BA">
                  <a:ea typeface="Cambria Math" panose="02040503050406030204" pitchFamily="18" charset="0"/>
                </a:endParaRPr>
              </a:p>
              <a:p>
                <a:pPr algn="just"/>
                <a:r>
                  <a:rPr lang="sr-Latn-BA">
                    <a:ea typeface="Cambria Math" panose="02040503050406030204" pitchFamily="18" charset="0"/>
                  </a:rPr>
                  <a:t>Za </a:t>
                </a:r>
                <a14:m>
                  <m:oMath xmlns:m="http://schemas.openxmlformats.org/officeDocument/2006/math">
                    <m:r>
                      <a:rPr lang="sr-Latn-BA" i="1" smtClean="0">
                        <a:latin typeface="Cambria Math" panose="02040503050406030204" pitchFamily="18" charset="0"/>
                        <a:ea typeface="Cambria Math" panose="02040503050406030204" pitchFamily="18" charset="0"/>
                      </a:rPr>
                      <m:t>𝑘</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a14:m>
                <a:r>
                  <a:rPr lang="en-US">
                    <a:ea typeface="Cambria Math" panose="02040503050406030204" pitchFamily="18" charset="0"/>
                  </a:rPr>
                  <a:t>? </a:t>
                </a:r>
              </a:p>
              <a:p>
                <a:pPr lvl="1" algn="just"/>
                <a:r>
                  <a:rPr lang="en-US">
                    <a:ea typeface="Cambria Math" panose="02040503050406030204" pitchFamily="18" charset="0"/>
                  </a:rPr>
                  <a:t>Vjeruje se da nije (nije dokazano).</a:t>
                </a:r>
              </a:p>
              <a:p>
                <a:pPr algn="just"/>
                <a:r>
                  <a:rPr lang="sr-Latn-BA">
                    <a:ea typeface="Cambria Math" panose="02040503050406030204" pitchFamily="18" charset="0"/>
                  </a:rPr>
                  <a:t>Za </a:t>
                </a:r>
                <a14:m>
                  <m:oMath xmlns:m="http://schemas.openxmlformats.org/officeDocument/2006/math">
                    <m:r>
                      <a:rPr lang="sr-Latn-BA" i="1" smtClean="0">
                        <a:latin typeface="Cambria Math" panose="02040503050406030204" pitchFamily="18" charset="0"/>
                        <a:ea typeface="Cambria Math" panose="02040503050406030204" pitchFamily="18" charset="0"/>
                      </a:rPr>
                      <m:t>𝑘</m:t>
                    </m:r>
                    <m:r>
                      <a:rPr lang="en-US" i="1" smtClean="0">
                        <a:latin typeface="Cambria Math" panose="02040503050406030204" pitchFamily="18" charset="0"/>
                        <a:ea typeface="Cambria Math" panose="02040503050406030204" pitchFamily="18" charset="0"/>
                      </a:rPr>
                      <m:t>=</m:t>
                    </m:r>
                  </m:oMath>
                </a14:m>
                <a:r>
                  <a:rPr lang="en-US">
                    <a:ea typeface="Cambria Math" panose="02040503050406030204" pitchFamily="18" charset="0"/>
                  </a:rPr>
                  <a:t> 1?</a:t>
                </a:r>
                <a:endParaRPr lang="sr-Latn-BA">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DEB473-203B-1F7A-79E1-FACB4F205C0E}"/>
                  </a:ext>
                </a:extLst>
              </p:cNvPr>
              <p:cNvSpPr>
                <a:spLocks noGrp="1" noRot="1" noChangeAspect="1" noMove="1" noResize="1" noEditPoints="1" noAdjustHandles="1" noChangeArrowheads="1" noChangeShapeType="1" noTextEdit="1"/>
              </p:cNvSpPr>
              <p:nvPr>
                <p:ph idx="1"/>
              </p:nvPr>
            </p:nvSpPr>
            <p:spPr>
              <a:blipFill>
                <a:blip r:embed="rId2"/>
                <a:stretch>
                  <a:fillRect l="-1043" t="-2241" r="-1159"/>
                </a:stretch>
              </a:blipFill>
            </p:spPr>
            <p:txBody>
              <a:bodyPr/>
              <a:lstStyle/>
              <a:p>
                <a:r>
                  <a:rPr lang="en-US">
                    <a:noFill/>
                  </a:rPr>
                  <a:t> </a:t>
                </a:r>
              </a:p>
            </p:txBody>
          </p:sp>
        </mc:Fallback>
      </mc:AlternateContent>
    </p:spTree>
    <p:extLst>
      <p:ext uri="{BB962C8B-B14F-4D97-AF65-F5344CB8AC3E}">
        <p14:creationId xmlns:p14="http://schemas.microsoft.com/office/powerpoint/2010/main" val="75313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D0390-C6F0-4621-FA97-94857CDBA8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30C540E-7B31-830F-70C7-AACB273F59DE}"/>
              </a:ext>
            </a:extLst>
          </p:cNvPr>
          <p:cNvSpPr txBox="1"/>
          <p:nvPr/>
        </p:nvSpPr>
        <p:spPr>
          <a:xfrm>
            <a:off x="-23203" y="0"/>
            <a:ext cx="12215203" cy="6463308"/>
          </a:xfrm>
          <a:prstGeom prst="rect">
            <a:avLst/>
          </a:prstGeom>
          <a:noFill/>
          <a:ln>
            <a:solidFill>
              <a:schemeClr val="tx1"/>
            </a:solidFill>
          </a:ln>
        </p:spPr>
        <p:txBody>
          <a:bodyPr wrap="square" rtlCol="0">
            <a:spAutoFit/>
          </a:bodyPr>
          <a:lstStyle/>
          <a:p>
            <a:pPr>
              <a:buNone/>
            </a:pPr>
            <a:r>
              <a:rPr lang="en-US" b="1">
                <a:solidFill>
                  <a:srgbClr val="0000FF"/>
                </a:solidFill>
                <a:effectLst/>
                <a:latin typeface="Consolas" panose="020B0609020204030204" pitchFamily="49" charset="0"/>
              </a:rPr>
              <a:t>def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verify_3color</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t>
            </a:r>
            <a:endParaRPr lang="en-US" b="1">
              <a:solidFill>
                <a:srgbClr val="3B3B3B"/>
              </a:solidFill>
              <a:effectLst/>
              <a:latin typeface="Consolas" panose="020B0609020204030204" pitchFamily="49" charset="0"/>
            </a:endParaRPr>
          </a:p>
          <a:p>
            <a:pPr>
              <a:buNone/>
            </a:pPr>
            <a:r>
              <a:rPr lang="en-US" b="1">
                <a:solidFill>
                  <a:srgbClr val="A31515"/>
                </a:solidFill>
                <a:effectLst/>
                <a:latin typeface="Consolas" panose="020B0609020204030204" pitchFamily="49" charset="0"/>
              </a:rPr>
              <a:t>    Verify whether a given coloring is a valid 3-coloring of the graph.</a:t>
            </a:r>
            <a:endParaRPr lang="en-US" b="1">
              <a:solidFill>
                <a:srgbClr val="3B3B3B"/>
              </a:solidFill>
              <a:effectLst/>
              <a:latin typeface="Consolas" panose="020B0609020204030204" pitchFamily="49" charset="0"/>
            </a:endParaRPr>
          </a:p>
          <a:p>
            <a:pPr>
              <a:buNone/>
            </a:pPr>
            <a:r>
              <a:rPr lang="en-US" b="1">
                <a:solidFill>
                  <a:srgbClr val="A31515"/>
                </a:solidFill>
                <a:effectLst/>
                <a:latin typeface="Consolas" panose="020B0609020204030204" pitchFamily="49" charset="0"/>
              </a:rPr>
              <a:t>    Parameters:</a:t>
            </a:r>
            <a:endParaRPr lang="en-US" b="1">
              <a:solidFill>
                <a:srgbClr val="3B3B3B"/>
              </a:solidFill>
              <a:effectLst/>
              <a:latin typeface="Consolas" panose="020B0609020204030204" pitchFamily="49" charset="0"/>
            </a:endParaRPr>
          </a:p>
          <a:p>
            <a:pPr>
              <a:buNone/>
            </a:pPr>
            <a:r>
              <a:rPr lang="en-US" b="1">
                <a:solidFill>
                  <a:srgbClr val="A31515"/>
                </a:solidFill>
                <a:effectLst/>
                <a:latin typeface="Consolas" panose="020B0609020204030204" pitchFamily="49" charset="0"/>
              </a:rPr>
              <a:t>      graph (dict): A dictionary mapping each vertex to a list of its neighbors.</a:t>
            </a:r>
            <a:endParaRPr lang="en-US" b="1">
              <a:solidFill>
                <a:srgbClr val="3B3B3B"/>
              </a:solidFill>
              <a:effectLst/>
              <a:latin typeface="Consolas" panose="020B0609020204030204" pitchFamily="49" charset="0"/>
            </a:endParaRPr>
          </a:p>
          <a:p>
            <a:pPr>
              <a:buNone/>
            </a:pPr>
            <a:r>
              <a:rPr lang="en-US" b="1">
                <a:solidFill>
                  <a:srgbClr val="A31515"/>
                </a:solidFill>
                <a:effectLst/>
                <a:latin typeface="Consolas" panose="020B0609020204030204" pitchFamily="49" charset="0"/>
              </a:rPr>
              <a:t>      coloring (dict): A dictionary mapping each vertex to a color (1, 2, or 3).</a:t>
            </a:r>
            <a:endParaRPr lang="en-US" b="1">
              <a:solidFill>
                <a:srgbClr val="3B3B3B"/>
              </a:solidFill>
              <a:effectLst/>
              <a:latin typeface="Consolas" panose="020B0609020204030204" pitchFamily="49" charset="0"/>
            </a:endParaRPr>
          </a:p>
          <a:p>
            <a:pPr>
              <a:buNone/>
            </a:pPr>
            <a:r>
              <a:rPr lang="en-US" b="1">
                <a:solidFill>
                  <a:srgbClr val="A31515"/>
                </a:solidFill>
                <a:effectLst/>
                <a:latin typeface="Consolas" panose="020B0609020204030204" pitchFamily="49" charset="0"/>
              </a:rPr>
              <a:t>    Returns:</a:t>
            </a:r>
            <a:endParaRPr lang="en-US" b="1">
              <a:solidFill>
                <a:srgbClr val="3B3B3B"/>
              </a:solidFill>
              <a:effectLst/>
              <a:latin typeface="Consolas" panose="020B0609020204030204" pitchFamily="49" charset="0"/>
            </a:endParaRPr>
          </a:p>
          <a:p>
            <a:pPr>
              <a:buNone/>
            </a:pPr>
            <a:r>
              <a:rPr lang="en-US" b="1">
                <a:solidFill>
                  <a:srgbClr val="A31515"/>
                </a:solidFill>
                <a:effectLst/>
                <a:latin typeface="Consolas" panose="020B0609020204030204" pitchFamily="49" charset="0"/>
              </a:rPr>
              <a:t>      bool: True if the coloring is valid, False otherwise.</a:t>
            </a:r>
            <a:endParaRPr lang="en-US" b="1">
              <a:solidFill>
                <a:srgbClr val="3B3B3B"/>
              </a:solidFill>
              <a:effectLst/>
              <a:latin typeface="Consolas" panose="020B0609020204030204" pitchFamily="49" charset="0"/>
            </a:endParaRPr>
          </a:p>
          <a:p>
            <a:pPr>
              <a:buNone/>
            </a:pPr>
            <a:r>
              <a:rPr lang="en-US" b="1">
                <a:solidFill>
                  <a:srgbClr val="A31515"/>
                </a:solidFill>
                <a:effectLst/>
                <a:latin typeface="Consolas" panose="020B0609020204030204" pitchFamily="49" charset="0"/>
              </a:rPr>
              <a:t>    """</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1. Check that each vertex is assigned one of the colors 1, 2, or 3</a:t>
            </a:r>
            <a:endParaRPr lang="sr-Latn-BA" b="1">
              <a:solidFill>
                <a:srgbClr val="008000"/>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if</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not</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not</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8000"/>
                </a:solidFill>
                <a:effectLst/>
                <a:latin typeface="Consolas" panose="020B0609020204030204" pitchFamily="49" charset="0"/>
              </a:rPr>
              <a:t># 2. Check that no adjacent vertices share the same color</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neighbors</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.items():</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w</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neighbors</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if</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.get(</a:t>
            </a:r>
            <a:r>
              <a:rPr lang="en-US" b="1">
                <a:solidFill>
                  <a:srgbClr val="001080"/>
                </a:solidFill>
                <a:effectLst/>
                <a:latin typeface="Consolas" panose="020B0609020204030204" pitchFamily="49" charset="0"/>
              </a:rPr>
              <a:t>w</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br>
              <a:rPr lang="en-US" b="1">
                <a:solidFill>
                  <a:srgbClr val="3B3B3B"/>
                </a:solidFill>
                <a:effectLst/>
                <a:latin typeface="Consolas" panose="020B0609020204030204" pitchFamily="49" charset="0"/>
              </a:rPr>
            </a:br>
            <a:r>
              <a:rPr lang="en-US" b="1">
                <a:solidFill>
                  <a:srgbClr val="008000"/>
                </a:solidFill>
                <a:effectLst/>
                <a:latin typeface="Consolas" panose="020B0609020204030204" pitchFamily="49" charset="0"/>
              </a:rPr>
              <a:t># Example usage:</a:t>
            </a:r>
            <a:endParaRPr lang="en-US" b="1">
              <a:solidFill>
                <a:srgbClr val="3B3B3B"/>
              </a:solidFill>
              <a:effectLst/>
              <a:latin typeface="Consolas" panose="020B0609020204030204" pitchFamily="49" charset="0"/>
            </a:endParaRPr>
          </a:p>
          <a:p>
            <a:pPr>
              <a:buNone/>
            </a:pPr>
            <a:r>
              <a:rPr lang="en-US" b="1">
                <a:solidFill>
                  <a:srgbClr val="001080"/>
                </a:solidFill>
                <a:effectLst/>
                <a:latin typeface="Consolas" panose="020B0609020204030204" pitchFamily="49" charset="0"/>
              </a:rPr>
              <a:t>graph_example</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'D'</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'D’</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'D'</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a:t>
            </a:r>
          </a:p>
          <a:p>
            <a:pPr>
              <a:buNone/>
            </a:pPr>
            <a:r>
              <a:rPr lang="en-US" b="1">
                <a:solidFill>
                  <a:srgbClr val="001080"/>
                </a:solidFill>
                <a:effectLst/>
                <a:latin typeface="Consolas" panose="020B0609020204030204" pitchFamily="49" charset="0"/>
              </a:rPr>
              <a:t>coloring_example</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'D'</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a:t>
            </a:r>
          </a:p>
          <a:p>
            <a:r>
              <a:rPr lang="en-US" b="1">
                <a:solidFill>
                  <a:srgbClr val="795E26"/>
                </a:solidFill>
                <a:effectLst/>
                <a:latin typeface="Consolas" panose="020B0609020204030204" pitchFamily="49" charset="0"/>
              </a:rPr>
              <a:t>print</a:t>
            </a:r>
            <a:r>
              <a:rPr lang="en-US" b="1">
                <a:solidFill>
                  <a:srgbClr val="3B3B3B"/>
                </a:solidFill>
                <a:effectLst/>
                <a:latin typeface="Consolas" panose="020B0609020204030204" pitchFamily="49" charset="0"/>
              </a:rPr>
              <a:t>(</a:t>
            </a:r>
            <a:r>
              <a:rPr lang="en-US" b="1">
                <a:solidFill>
                  <a:srgbClr val="A31515"/>
                </a:solidFill>
                <a:effectLst/>
                <a:latin typeface="Consolas" panose="020B0609020204030204" pitchFamily="49" charset="0"/>
              </a:rPr>
              <a:t>"Is valid 3-coloring?"</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verify_3color</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graph_example</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coloring_example</a:t>
            </a:r>
            <a:r>
              <a:rPr lang="en-US" b="1">
                <a:solidFill>
                  <a:srgbClr val="3B3B3B"/>
                </a:solidFill>
                <a:effectLst/>
                <a:latin typeface="Consolas" panose="020B0609020204030204" pitchFamily="49" charset="0"/>
              </a:rPr>
              <a: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A39830B-6B3A-C216-0ED9-698583C0D235}"/>
                  </a:ext>
                </a:extLst>
              </p:cNvPr>
              <p:cNvSpPr txBox="1"/>
              <p:nvPr/>
            </p:nvSpPr>
            <p:spPr>
              <a:xfrm>
                <a:off x="2463800" y="2748280"/>
                <a:ext cx="8864600" cy="404983"/>
              </a:xfrm>
              <a:prstGeom prst="rect">
                <a:avLst/>
              </a:prstGeom>
              <a:noFill/>
            </p:spPr>
            <p:txBody>
              <a:bodyPr wrap="square" rtlCol="0">
                <a:spAutoFit/>
              </a:bodyPr>
              <a:lstStyle/>
              <a:p>
                <a:r>
                  <a:rPr lang="en-US" b="1">
                    <a:solidFill>
                      <a:srgbClr val="008000"/>
                    </a:solidFill>
                    <a:latin typeface="Consolas" panose="020B0609020204030204" pitchFamily="49" charset="0"/>
                  </a:rPr>
                  <a:t># </a:t>
                </a:r>
                <a14:m>
                  <m:oMath xmlns:m="http://schemas.openxmlformats.org/officeDocument/2006/math">
                    <m:r>
                      <a:rPr lang="en-US" b="1" i="1">
                        <a:solidFill>
                          <a:srgbClr val="008000"/>
                        </a:solidFill>
                        <a:latin typeface="Cambria Math" panose="02040503050406030204" pitchFamily="18" charset="0"/>
                      </a:rPr>
                      <m:t>𝑶</m:t>
                    </m:r>
                    <m:d>
                      <m:dPr>
                        <m:ctrlPr>
                          <a:rPr lang="en-US" b="1" i="1">
                            <a:solidFill>
                              <a:srgbClr val="008000"/>
                            </a:solidFill>
                            <a:latin typeface="Cambria Math" panose="02040503050406030204" pitchFamily="18" charset="0"/>
                          </a:rPr>
                        </m:ctrlPr>
                      </m:dPr>
                      <m:e>
                        <m:d>
                          <m:dPr>
                            <m:begChr m:val="|"/>
                            <m:endChr m:val="|"/>
                            <m:ctrlPr>
                              <a:rPr lang="en-US" b="1" i="1" smtClean="0">
                                <a:solidFill>
                                  <a:srgbClr val="008000"/>
                                </a:solidFill>
                                <a:latin typeface="Cambria Math" panose="02040503050406030204" pitchFamily="18" charset="0"/>
                              </a:rPr>
                            </m:ctrlPr>
                          </m:dPr>
                          <m:e>
                            <m:r>
                              <a:rPr lang="en-US" b="1" i="1" smtClean="0">
                                <a:solidFill>
                                  <a:srgbClr val="008000"/>
                                </a:solidFill>
                                <a:latin typeface="Cambria Math" panose="02040503050406030204" pitchFamily="18" charset="0"/>
                              </a:rPr>
                              <m:t>𝑽</m:t>
                            </m:r>
                          </m:e>
                        </m:d>
                      </m:e>
                    </m:d>
                  </m:oMath>
                </a14:m>
                <a:r>
                  <a:rPr lang="en-US" b="1">
                    <a:solidFill>
                      <a:srgbClr val="008000"/>
                    </a:solidFill>
                    <a:latin typeface="Consolas" panose="020B0609020204030204" pitchFamily="49" charset="0"/>
                  </a:rPr>
                  <a:t> u prosjeku ili </a:t>
                </a:r>
                <a14:m>
                  <m:oMath xmlns:m="http://schemas.openxmlformats.org/officeDocument/2006/math">
                    <m:r>
                      <a:rPr lang="en-US" b="1" i="1">
                        <a:solidFill>
                          <a:srgbClr val="008000"/>
                        </a:solidFill>
                        <a:latin typeface="Cambria Math" panose="02040503050406030204" pitchFamily="18" charset="0"/>
                      </a:rPr>
                      <m:t>𝑶</m:t>
                    </m:r>
                    <m:d>
                      <m:dPr>
                        <m:ctrlPr>
                          <a:rPr lang="en-US" b="1" i="1">
                            <a:solidFill>
                              <a:srgbClr val="008000"/>
                            </a:solidFill>
                            <a:latin typeface="Cambria Math" panose="02040503050406030204" pitchFamily="18" charset="0"/>
                          </a:rPr>
                        </m:ctrlPr>
                      </m:dPr>
                      <m:e>
                        <m:sSup>
                          <m:sSupPr>
                            <m:ctrlPr>
                              <a:rPr lang="en-US" b="1" i="1">
                                <a:solidFill>
                                  <a:srgbClr val="008000"/>
                                </a:solidFill>
                                <a:latin typeface="Cambria Math" panose="02040503050406030204" pitchFamily="18" charset="0"/>
                              </a:rPr>
                            </m:ctrlPr>
                          </m:sSupPr>
                          <m:e>
                            <m:d>
                              <m:dPr>
                                <m:begChr m:val="|"/>
                                <m:endChr m:val="|"/>
                                <m:ctrlPr>
                                  <a:rPr lang="en-US" b="1" i="1">
                                    <a:solidFill>
                                      <a:srgbClr val="008000"/>
                                    </a:solidFill>
                                    <a:latin typeface="Cambria Math" panose="02040503050406030204" pitchFamily="18" charset="0"/>
                                  </a:rPr>
                                </m:ctrlPr>
                              </m:dPr>
                              <m:e>
                                <m:r>
                                  <a:rPr lang="en-US" b="1" i="1">
                                    <a:solidFill>
                                      <a:srgbClr val="008000"/>
                                    </a:solidFill>
                                    <a:latin typeface="Cambria Math" panose="02040503050406030204" pitchFamily="18" charset="0"/>
                                  </a:rPr>
                                  <m:t>𝑽</m:t>
                                </m:r>
                              </m:e>
                            </m:d>
                          </m:e>
                          <m:sup>
                            <m:r>
                              <a:rPr lang="en-US" b="1" i="1" smtClean="0">
                                <a:solidFill>
                                  <a:srgbClr val="008000"/>
                                </a:solidFill>
                                <a:latin typeface="Cambria Math" panose="02040503050406030204" pitchFamily="18" charset="0"/>
                              </a:rPr>
                              <m:t> </m:t>
                            </m:r>
                            <m:r>
                              <a:rPr lang="en-US" b="1" i="1">
                                <a:solidFill>
                                  <a:srgbClr val="008000"/>
                                </a:solidFill>
                                <a:latin typeface="Cambria Math" panose="02040503050406030204" pitchFamily="18" charset="0"/>
                              </a:rPr>
                              <m:t>𝟐</m:t>
                            </m:r>
                          </m:sup>
                        </m:sSup>
                      </m:e>
                    </m:d>
                  </m:oMath>
                </a14:m>
                <a:r>
                  <a:rPr lang="en-US" b="1">
                    <a:solidFill>
                      <a:srgbClr val="008000"/>
                    </a:solidFill>
                    <a:latin typeface="Consolas" panose="020B0609020204030204" pitchFamily="49" charset="0"/>
                  </a:rPr>
                  <a:t> u najgorem sl</a:t>
                </a:r>
                <a:r>
                  <a:rPr lang="sr-Latn-BA" b="1">
                    <a:solidFill>
                      <a:srgbClr val="008000"/>
                    </a:solidFill>
                    <a:latin typeface="Consolas" panose="020B0609020204030204" pitchFamily="49" charset="0"/>
                  </a:rPr>
                  <a:t>učaju (</a:t>
                </a:r>
                <a:r>
                  <a:rPr lang="sr-Latn-BA" b="1" i="1">
                    <a:solidFill>
                      <a:srgbClr val="008000"/>
                    </a:solidFill>
                    <a:latin typeface="Consolas" panose="020B0609020204030204" pitchFamily="49" charset="0"/>
                  </a:rPr>
                  <a:t>dictionary lookup</a:t>
                </a:r>
                <a:r>
                  <a:rPr lang="sr-Latn-BA" b="1">
                    <a:solidFill>
                      <a:srgbClr val="008000"/>
                    </a:solidFill>
                    <a:latin typeface="Consolas" panose="020B0609020204030204" pitchFamily="49" charset="0"/>
                  </a:rPr>
                  <a:t>)</a:t>
                </a:r>
                <a:endParaRPr lang="en-US" b="1">
                  <a:solidFill>
                    <a:srgbClr val="3B3B3B"/>
                  </a:solidFill>
                  <a:effectLst/>
                  <a:latin typeface="Consolas" panose="020B0609020204030204" pitchFamily="49" charset="0"/>
                </a:endParaRPr>
              </a:p>
            </p:txBody>
          </p:sp>
        </mc:Choice>
        <mc:Fallback xmlns="">
          <p:sp>
            <p:nvSpPr>
              <p:cNvPr id="2" name="TextBox 1">
                <a:extLst>
                  <a:ext uri="{FF2B5EF4-FFF2-40B4-BE49-F238E27FC236}">
                    <a16:creationId xmlns:a16="http://schemas.microsoft.com/office/drawing/2014/main" id="{AA39830B-6B3A-C216-0ED9-698583C0D235}"/>
                  </a:ext>
                </a:extLst>
              </p:cNvPr>
              <p:cNvSpPr txBox="1">
                <a:spLocks noRot="1" noChangeAspect="1" noMove="1" noResize="1" noEditPoints="1" noAdjustHandles="1" noChangeArrowheads="1" noChangeShapeType="1" noTextEdit="1"/>
              </p:cNvSpPr>
              <p:nvPr/>
            </p:nvSpPr>
            <p:spPr>
              <a:xfrm>
                <a:off x="2463800" y="2748280"/>
                <a:ext cx="8864600" cy="404983"/>
              </a:xfrm>
              <a:prstGeom prst="rect">
                <a:avLst/>
              </a:prstGeom>
              <a:blipFill>
                <a:blip r:embed="rId2"/>
                <a:stretch>
                  <a:fillRect l="-550" t="-3030" b="-212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5509349-9693-EABF-7E12-1EC3D1680CD5}"/>
                  </a:ext>
                </a:extLst>
              </p:cNvPr>
              <p:cNvSpPr txBox="1"/>
              <p:nvPr/>
            </p:nvSpPr>
            <p:spPr>
              <a:xfrm>
                <a:off x="3439160" y="4089400"/>
                <a:ext cx="8864600" cy="404983"/>
              </a:xfrm>
              <a:prstGeom prst="rect">
                <a:avLst/>
              </a:prstGeom>
              <a:noFill/>
            </p:spPr>
            <p:txBody>
              <a:bodyPr wrap="square" rtlCol="0">
                <a:spAutoFit/>
              </a:bodyPr>
              <a:lstStyle/>
              <a:p>
                <a:r>
                  <a:rPr lang="en-US" b="1">
                    <a:solidFill>
                      <a:srgbClr val="008000"/>
                    </a:solidFill>
                    <a:latin typeface="Consolas" panose="020B0609020204030204" pitchFamily="49" charset="0"/>
                  </a:rPr>
                  <a:t># </a:t>
                </a:r>
                <a14:m>
                  <m:oMath xmlns:m="http://schemas.openxmlformats.org/officeDocument/2006/math">
                    <m:r>
                      <a:rPr lang="en-US" b="1" i="1">
                        <a:solidFill>
                          <a:srgbClr val="008000"/>
                        </a:solidFill>
                        <a:latin typeface="Cambria Math" panose="02040503050406030204" pitchFamily="18" charset="0"/>
                      </a:rPr>
                      <m:t>𝑶</m:t>
                    </m:r>
                    <m:d>
                      <m:dPr>
                        <m:ctrlPr>
                          <a:rPr lang="en-US" b="1" i="1">
                            <a:solidFill>
                              <a:srgbClr val="008000"/>
                            </a:solidFill>
                            <a:latin typeface="Cambria Math" panose="02040503050406030204" pitchFamily="18" charset="0"/>
                          </a:rPr>
                        </m:ctrlPr>
                      </m:dPr>
                      <m:e>
                        <m:sSup>
                          <m:sSupPr>
                            <m:ctrlPr>
                              <a:rPr lang="en-US" b="1" i="1" smtClean="0">
                                <a:solidFill>
                                  <a:srgbClr val="008000"/>
                                </a:solidFill>
                                <a:latin typeface="Cambria Math" panose="02040503050406030204" pitchFamily="18" charset="0"/>
                              </a:rPr>
                            </m:ctrlPr>
                          </m:sSupPr>
                          <m:e>
                            <m:d>
                              <m:dPr>
                                <m:begChr m:val="|"/>
                                <m:endChr m:val="|"/>
                                <m:ctrlPr>
                                  <a:rPr lang="en-US" b="1" i="1" smtClean="0">
                                    <a:solidFill>
                                      <a:srgbClr val="008000"/>
                                    </a:solidFill>
                                    <a:latin typeface="Cambria Math" panose="02040503050406030204" pitchFamily="18" charset="0"/>
                                  </a:rPr>
                                </m:ctrlPr>
                              </m:dPr>
                              <m:e>
                                <m:r>
                                  <a:rPr lang="en-US" b="1" i="1" smtClean="0">
                                    <a:solidFill>
                                      <a:srgbClr val="008000"/>
                                    </a:solidFill>
                                    <a:latin typeface="Cambria Math" panose="02040503050406030204" pitchFamily="18" charset="0"/>
                                  </a:rPr>
                                  <m:t>𝑽</m:t>
                                </m:r>
                              </m:e>
                            </m:d>
                          </m:e>
                          <m:sup>
                            <m:r>
                              <a:rPr lang="en-US" b="1" i="1" smtClean="0">
                                <a:solidFill>
                                  <a:srgbClr val="008000"/>
                                </a:solidFill>
                                <a:latin typeface="Cambria Math" panose="02040503050406030204" pitchFamily="18" charset="0"/>
                              </a:rPr>
                              <m:t>𝟐</m:t>
                            </m:r>
                          </m:sup>
                        </m:sSup>
                      </m:e>
                    </m:d>
                  </m:oMath>
                </a14:m>
                <a:r>
                  <a:rPr lang="en-US" b="1">
                    <a:solidFill>
                      <a:srgbClr val="008000"/>
                    </a:solidFill>
                    <a:latin typeface="Consolas" panose="020B0609020204030204" pitchFamily="49" charset="0"/>
                  </a:rPr>
                  <a:t> u prosjeku ili </a:t>
                </a:r>
                <a14:m>
                  <m:oMath xmlns:m="http://schemas.openxmlformats.org/officeDocument/2006/math">
                    <m:r>
                      <a:rPr lang="en-US" b="1" i="1">
                        <a:solidFill>
                          <a:srgbClr val="008000"/>
                        </a:solidFill>
                        <a:latin typeface="Cambria Math" panose="02040503050406030204" pitchFamily="18" charset="0"/>
                      </a:rPr>
                      <m:t>𝑶</m:t>
                    </m:r>
                    <m:d>
                      <m:dPr>
                        <m:ctrlPr>
                          <a:rPr lang="en-US" b="1" i="1">
                            <a:solidFill>
                              <a:srgbClr val="008000"/>
                            </a:solidFill>
                            <a:latin typeface="Cambria Math" panose="02040503050406030204" pitchFamily="18" charset="0"/>
                          </a:rPr>
                        </m:ctrlPr>
                      </m:dPr>
                      <m:e>
                        <m:sSup>
                          <m:sSupPr>
                            <m:ctrlPr>
                              <a:rPr lang="en-US" b="1" i="1">
                                <a:solidFill>
                                  <a:srgbClr val="008000"/>
                                </a:solidFill>
                                <a:latin typeface="Cambria Math" panose="02040503050406030204" pitchFamily="18" charset="0"/>
                              </a:rPr>
                            </m:ctrlPr>
                          </m:sSupPr>
                          <m:e>
                            <m:d>
                              <m:dPr>
                                <m:begChr m:val="|"/>
                                <m:endChr m:val="|"/>
                                <m:ctrlPr>
                                  <a:rPr lang="en-US" b="1" i="1">
                                    <a:solidFill>
                                      <a:srgbClr val="008000"/>
                                    </a:solidFill>
                                    <a:latin typeface="Cambria Math" panose="02040503050406030204" pitchFamily="18" charset="0"/>
                                  </a:rPr>
                                </m:ctrlPr>
                              </m:dPr>
                              <m:e>
                                <m:r>
                                  <a:rPr lang="en-US" b="1" i="1">
                                    <a:solidFill>
                                      <a:srgbClr val="008000"/>
                                    </a:solidFill>
                                    <a:latin typeface="Cambria Math" panose="02040503050406030204" pitchFamily="18" charset="0"/>
                                  </a:rPr>
                                  <m:t>𝑽</m:t>
                                </m:r>
                              </m:e>
                            </m:d>
                          </m:e>
                          <m:sup>
                            <m:r>
                              <a:rPr lang="en-US" b="1" i="1" smtClean="0">
                                <a:solidFill>
                                  <a:srgbClr val="008000"/>
                                </a:solidFill>
                                <a:latin typeface="Cambria Math" panose="02040503050406030204" pitchFamily="18" charset="0"/>
                              </a:rPr>
                              <m:t> </m:t>
                            </m:r>
                            <m:r>
                              <a:rPr lang="en-US" b="1" i="1" smtClean="0">
                                <a:solidFill>
                                  <a:srgbClr val="008000"/>
                                </a:solidFill>
                                <a:latin typeface="Cambria Math" panose="02040503050406030204" pitchFamily="18" charset="0"/>
                              </a:rPr>
                              <m:t>𝟑</m:t>
                            </m:r>
                          </m:sup>
                        </m:sSup>
                      </m:e>
                    </m:d>
                  </m:oMath>
                </a14:m>
                <a:r>
                  <a:rPr lang="en-US" b="1">
                    <a:solidFill>
                      <a:srgbClr val="008000"/>
                    </a:solidFill>
                    <a:latin typeface="Consolas" panose="020B0609020204030204" pitchFamily="49" charset="0"/>
                  </a:rPr>
                  <a:t> u najgorem sl</a:t>
                </a:r>
                <a:r>
                  <a:rPr lang="sr-Latn-BA" b="1">
                    <a:solidFill>
                      <a:srgbClr val="008000"/>
                    </a:solidFill>
                    <a:latin typeface="Consolas" panose="020B0609020204030204" pitchFamily="49" charset="0"/>
                  </a:rPr>
                  <a:t>učaju</a:t>
                </a:r>
                <a:endParaRPr lang="en-US" b="1">
                  <a:solidFill>
                    <a:srgbClr val="3B3B3B"/>
                  </a:solidFill>
                  <a:effectLst/>
                  <a:latin typeface="Consolas" panose="020B0609020204030204" pitchFamily="49" charset="0"/>
                </a:endParaRPr>
              </a:p>
            </p:txBody>
          </p:sp>
        </mc:Choice>
        <mc:Fallback xmlns="">
          <p:sp>
            <p:nvSpPr>
              <p:cNvPr id="3" name="TextBox 2">
                <a:extLst>
                  <a:ext uri="{FF2B5EF4-FFF2-40B4-BE49-F238E27FC236}">
                    <a16:creationId xmlns:a16="http://schemas.microsoft.com/office/drawing/2014/main" id="{A5509349-9693-EABF-7E12-1EC3D1680CD5}"/>
                  </a:ext>
                </a:extLst>
              </p:cNvPr>
              <p:cNvSpPr txBox="1">
                <a:spLocks noRot="1" noChangeAspect="1" noMove="1" noResize="1" noEditPoints="1" noAdjustHandles="1" noChangeArrowheads="1" noChangeShapeType="1" noTextEdit="1"/>
              </p:cNvSpPr>
              <p:nvPr/>
            </p:nvSpPr>
            <p:spPr>
              <a:xfrm>
                <a:off x="3439160" y="4089400"/>
                <a:ext cx="8864600" cy="404983"/>
              </a:xfrm>
              <a:prstGeom prst="rect">
                <a:avLst/>
              </a:prstGeom>
              <a:blipFill>
                <a:blip r:embed="rId3"/>
                <a:stretch>
                  <a:fillRect l="-550" t="-3030" b="-21212"/>
                </a:stretch>
              </a:blipFill>
            </p:spPr>
            <p:txBody>
              <a:bodyPr/>
              <a:lstStyle/>
              <a:p>
                <a:r>
                  <a:rPr lang="en-US">
                    <a:noFill/>
                  </a:rPr>
                  <a:t> </a:t>
                </a:r>
              </a:p>
            </p:txBody>
          </p:sp>
        </mc:Fallback>
      </mc:AlternateContent>
    </p:spTree>
    <p:extLst>
      <p:ext uri="{BB962C8B-B14F-4D97-AF65-F5344CB8AC3E}">
        <p14:creationId xmlns:p14="http://schemas.microsoft.com/office/powerpoint/2010/main" val="66646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1FC86-D8C8-2EF4-17CA-E09BE9CF16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1539CE-E4D9-C320-9A98-0E0DCA8C0C71}"/>
              </a:ext>
            </a:extLst>
          </p:cNvPr>
          <p:cNvSpPr txBox="1"/>
          <p:nvPr/>
        </p:nvSpPr>
        <p:spPr>
          <a:xfrm>
            <a:off x="-11601" y="12680"/>
            <a:ext cx="12215203" cy="6647974"/>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buNone/>
            </a:pPr>
            <a:r>
              <a:rPr lang="en-US" b="1">
                <a:solidFill>
                  <a:srgbClr val="0000FF"/>
                </a:solidFill>
                <a:effectLst/>
                <a:latin typeface="Consolas" panose="020B0609020204030204" pitchFamily="49" charset="0"/>
              </a:rPr>
              <a:t>def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solve_3color</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a:t>
            </a:r>
          </a:p>
          <a:p>
            <a:pPr>
              <a:buNone/>
            </a:pPr>
            <a:r>
              <a:rPr lang="en-US" sz="1600" b="1">
                <a:solidFill>
                  <a:srgbClr val="3B3B3B"/>
                </a:solidFill>
                <a:effectLst/>
                <a:latin typeface="Consolas" panose="020B0609020204030204" pitchFamily="49" charset="0"/>
              </a:rPr>
              <a:t>    </a:t>
            </a:r>
            <a:r>
              <a:rPr lang="en-US" sz="1600" b="1">
                <a:solidFill>
                  <a:srgbClr val="A31515"/>
                </a:solidFill>
                <a:effectLst/>
                <a:latin typeface="Consolas" panose="020B0609020204030204" pitchFamily="49" charset="0"/>
              </a:rPr>
              <a:t>"""</a:t>
            </a:r>
            <a:endParaRPr lang="en-US" sz="1600" b="1">
              <a:solidFill>
                <a:srgbClr val="3B3B3B"/>
              </a:solidFill>
              <a:effectLst/>
              <a:latin typeface="Consolas" panose="020B0609020204030204" pitchFamily="49" charset="0"/>
            </a:endParaRPr>
          </a:p>
          <a:p>
            <a:pPr>
              <a:buNone/>
            </a:pPr>
            <a:r>
              <a:rPr lang="en-US" sz="1600" b="1">
                <a:solidFill>
                  <a:srgbClr val="A31515"/>
                </a:solidFill>
                <a:effectLst/>
                <a:latin typeface="Consolas" panose="020B0609020204030204" pitchFamily="49" charset="0"/>
              </a:rPr>
              <a:t>    Parameters:</a:t>
            </a:r>
            <a:endParaRPr lang="en-US" sz="1600" b="1">
              <a:solidFill>
                <a:srgbClr val="3B3B3B"/>
              </a:solidFill>
              <a:effectLst/>
              <a:latin typeface="Consolas" panose="020B0609020204030204" pitchFamily="49" charset="0"/>
            </a:endParaRPr>
          </a:p>
          <a:p>
            <a:pPr>
              <a:buNone/>
            </a:pPr>
            <a:r>
              <a:rPr lang="en-US" sz="1600" b="1">
                <a:solidFill>
                  <a:srgbClr val="A31515"/>
                </a:solidFill>
                <a:effectLst/>
                <a:latin typeface="Consolas" panose="020B0609020204030204" pitchFamily="49" charset="0"/>
              </a:rPr>
              <a:t>      graph (dict): A dictionary mapping each vertex to a list of its neighbors.</a:t>
            </a:r>
            <a:endParaRPr lang="en-US" sz="1600" b="1">
              <a:solidFill>
                <a:srgbClr val="3B3B3B"/>
              </a:solidFill>
              <a:effectLst/>
              <a:latin typeface="Consolas" panose="020B0609020204030204" pitchFamily="49" charset="0"/>
            </a:endParaRPr>
          </a:p>
          <a:p>
            <a:pPr>
              <a:buNone/>
            </a:pPr>
            <a:r>
              <a:rPr lang="en-US" sz="1600" b="1">
                <a:solidFill>
                  <a:srgbClr val="A31515"/>
                </a:solidFill>
                <a:effectLst/>
                <a:latin typeface="Consolas" panose="020B0609020204030204" pitchFamily="49" charset="0"/>
              </a:rPr>
              <a:t>    Returns:</a:t>
            </a:r>
            <a:endParaRPr lang="en-US" sz="1600" b="1">
              <a:solidFill>
                <a:srgbClr val="3B3B3B"/>
              </a:solidFill>
              <a:effectLst/>
              <a:latin typeface="Consolas" panose="020B0609020204030204" pitchFamily="49" charset="0"/>
            </a:endParaRPr>
          </a:p>
          <a:p>
            <a:pPr>
              <a:buNone/>
            </a:pPr>
            <a:r>
              <a:rPr lang="en-US" sz="1600" b="1">
                <a:solidFill>
                  <a:srgbClr val="A31515"/>
                </a:solidFill>
                <a:effectLst/>
                <a:latin typeface="Consolas" panose="020B0609020204030204" pitchFamily="49" charset="0"/>
              </a:rPr>
              <a:t>      dict: Map of vertices to colors (1, 2, 3) if a valid coloring exists, or None otherwise.</a:t>
            </a:r>
            <a:endParaRPr lang="en-US" sz="1600" b="1">
              <a:solidFill>
                <a:srgbClr val="3B3B3B"/>
              </a:solidFill>
              <a:effectLst/>
              <a:latin typeface="Consolas" panose="020B0609020204030204" pitchFamily="49" charset="0"/>
            </a:endParaRPr>
          </a:p>
          <a:p>
            <a:pPr>
              <a:buNone/>
            </a:pPr>
            <a:r>
              <a:rPr lang="en-US" sz="1600" b="1">
                <a:solidFill>
                  <a:srgbClr val="A31515"/>
                </a:solidFill>
                <a:effectLst/>
                <a:latin typeface="Consolas" panose="020B0609020204030204" pitchFamily="49" charset="0"/>
              </a:rPr>
              <a:t>    """</a:t>
            </a:r>
            <a:endParaRPr lang="en-US" sz="1600"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vertices</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267F99"/>
                </a:solidFill>
                <a:effectLst/>
                <a:latin typeface="Consolas" panose="020B0609020204030204" pitchFamily="49" charset="0"/>
              </a:rPr>
              <a:t>list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.keys())</a:t>
            </a:r>
          </a:p>
          <a:p>
            <a:pPr>
              <a:buNone/>
            </a:pP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p>
          <a:p>
            <a:pPr>
              <a:buNone/>
            </a:pPr>
            <a:r>
              <a:rPr lang="en-US" b="1">
                <a:solidFill>
                  <a:srgbClr val="3B3B3B"/>
                </a:solidFill>
                <a:latin typeface="Consolas" panose="020B0609020204030204" pitchFamily="49" charset="0"/>
              </a:rPr>
              <a:t>    </a:t>
            </a:r>
            <a:r>
              <a:rPr lang="en-US" b="1">
                <a:solidFill>
                  <a:srgbClr val="008000"/>
                </a:solidFill>
                <a:effectLst/>
                <a:latin typeface="Consolas" panose="020B0609020204030204" pitchFamily="49" charset="0"/>
              </a:rPr>
              <a:t># Backtracking – rekurzivna pretraga gdje se vidi </a:t>
            </a:r>
            <a:r>
              <a:rPr lang="sr-Latn-BA" b="1">
                <a:solidFill>
                  <a:srgbClr val="008000"/>
                </a:solidFill>
                <a:effectLst/>
                <a:latin typeface="Consolas" panose="020B0609020204030204" pitchFamily="49" charset="0"/>
              </a:rPr>
              <a:t>šta će dalje biti nakon jednog odabira,             </a:t>
            </a:r>
          </a:p>
          <a:p>
            <a:r>
              <a:rPr lang="sr-Latn-BA" b="1">
                <a:solidFill>
                  <a:srgbClr val="008000"/>
                </a:solidFill>
                <a:latin typeface="Consolas" panose="020B0609020204030204" pitchFamily="49" charset="0"/>
              </a:rPr>
              <a:t>                     </a:t>
            </a:r>
            <a:r>
              <a:rPr lang="sr-Latn-BA" b="1">
                <a:solidFill>
                  <a:srgbClr val="008000"/>
                </a:solidFill>
                <a:effectLst/>
                <a:latin typeface="Consolas" panose="020B0609020204030204" pitchFamily="49" charset="0"/>
              </a:rPr>
              <a:t>te se vraća unazad ukoliko taj odabir ne dovodi do rješenja </a:t>
            </a:r>
            <a:br>
              <a:rPr lang="en-US" b="1">
                <a:solidFill>
                  <a:srgbClr val="3B3B3B"/>
                </a:solidFill>
                <a:effectLst/>
                <a:latin typeface="Consolas" panose="020B0609020204030204" pitchFamily="49" charset="0"/>
              </a:rPr>
            </a:b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def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backtrack</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i</a:t>
            </a:r>
            <a:r>
              <a:rPr lang="en-US" b="1">
                <a:solidFill>
                  <a:srgbClr val="3B3B3B"/>
                </a:solidFill>
                <a:effectLst/>
                <a:latin typeface="Consolas" panose="020B0609020204030204" pitchFamily="49" charset="0"/>
              </a:rPr>
              <a:t>): </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if</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i</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len</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vertices</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vertices</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i</a:t>
            </a:r>
            <a:r>
              <a:rPr lang="en-US" b="1">
                <a:solidFill>
                  <a:srgbClr val="3B3B3B"/>
                </a:solidFill>
                <a:effectLst/>
                <a:latin typeface="Consolas" panose="020B0609020204030204" pitchFamily="49" charset="0"/>
              </a:rPr>
              <a:t>]</a:t>
            </a:r>
          </a:p>
          <a:p>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2</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3</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all</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a:t>
            </a:r>
            <a:r>
              <a:rPr lang="en-US" b="1">
                <a:solidFill>
                  <a:srgbClr val="795E26"/>
                </a:solidFill>
                <a:effectLst/>
                <a:latin typeface="Consolas" panose="020B0609020204030204" pitchFamily="49" charset="0"/>
              </a:rPr>
              <a:t>get</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neighbor</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for</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neighbor</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backtrack</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i</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098658"/>
                </a:solidFill>
                <a:effectLst/>
                <a:latin typeface="Consolas" panose="020B0609020204030204" pitchFamily="49" charset="0"/>
              </a:rPr>
              <a:t>1</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True</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del</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v</a:t>
            </a:r>
            <a:r>
              <a:rPr lang="en-US" b="1">
                <a:solidFill>
                  <a:srgbClr val="3B3B3B"/>
                </a:solidFill>
                <a:effectLst/>
                <a:latin typeface="Consolas" panose="020B0609020204030204" pitchFamily="49" charset="0"/>
              </a:rPr>
              <a:t>]</a:t>
            </a: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False</a:t>
            </a:r>
            <a:endParaRPr lang="en-US" b="1">
              <a:solidFill>
                <a:srgbClr val="3B3B3B"/>
              </a:solidFill>
              <a:effectLst/>
              <a:latin typeface="Consolas" panose="020B0609020204030204" pitchFamily="49" charset="0"/>
            </a:endParaRPr>
          </a:p>
          <a:p>
            <a:pPr>
              <a:buNone/>
            </a:pP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return</a:t>
            </a:r>
            <a:r>
              <a:rPr lang="en-US" b="1">
                <a:solidFill>
                  <a:srgbClr val="3B3B3B"/>
                </a:solidFill>
                <a:effectLst/>
                <a:latin typeface="Consolas" panose="020B0609020204030204" pitchFamily="49" charset="0"/>
              </a:rPr>
              <a:t> </a:t>
            </a:r>
            <a:r>
              <a:rPr lang="en-US" b="1">
                <a:solidFill>
                  <a:srgbClr val="001080"/>
                </a:solidFill>
                <a:effectLst/>
                <a:latin typeface="Consolas" panose="020B0609020204030204" pitchFamily="49" charset="0"/>
              </a:rPr>
              <a:t>coloring</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if</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backtrack</a:t>
            </a:r>
            <a:r>
              <a:rPr lang="en-US" b="1">
                <a:solidFill>
                  <a:srgbClr val="3B3B3B"/>
                </a:solidFill>
                <a:effectLst/>
                <a:latin typeface="Consolas" panose="020B0609020204030204" pitchFamily="49" charset="0"/>
              </a:rPr>
              <a:t>(</a:t>
            </a:r>
            <a:r>
              <a:rPr lang="en-US" b="1">
                <a:solidFill>
                  <a:srgbClr val="098658"/>
                </a:solidFill>
                <a:effectLst/>
                <a:latin typeface="Consolas" panose="020B0609020204030204" pitchFamily="49" charset="0"/>
              </a:rPr>
              <a:t>0</a:t>
            </a:r>
            <a:r>
              <a:rPr lang="en-US" b="1">
                <a:solidFill>
                  <a:srgbClr val="3B3B3B"/>
                </a:solidFill>
                <a:effectLst/>
                <a:latin typeface="Consolas" panose="020B0609020204030204" pitchFamily="49" charset="0"/>
              </a:rPr>
              <a:t>) </a:t>
            </a:r>
            <a:r>
              <a:rPr lang="en-US" b="1">
                <a:solidFill>
                  <a:srgbClr val="AF00DB"/>
                </a:solidFill>
                <a:effectLst/>
                <a:latin typeface="Consolas" panose="020B0609020204030204" pitchFamily="49" charset="0"/>
              </a:rPr>
              <a:t>else</a:t>
            </a:r>
            <a:r>
              <a:rPr lang="en-US" b="1">
                <a:solidFill>
                  <a:srgbClr val="3B3B3B"/>
                </a:solidFill>
                <a:effectLst/>
                <a:latin typeface="Consolas" panose="020B0609020204030204" pitchFamily="49" charset="0"/>
              </a:rPr>
              <a:t> </a:t>
            </a:r>
            <a:r>
              <a:rPr lang="en-US" b="1">
                <a:solidFill>
                  <a:srgbClr val="0000FF"/>
                </a:solidFill>
                <a:effectLst/>
                <a:latin typeface="Consolas" panose="020B0609020204030204" pitchFamily="49" charset="0"/>
              </a:rPr>
              <a:t>None</a:t>
            </a:r>
          </a:p>
          <a:p>
            <a:pPr>
              <a:lnSpc>
                <a:spcPct val="150000"/>
              </a:lnSpc>
              <a:buNone/>
            </a:pPr>
            <a:r>
              <a:rPr lang="en-US" sz="1600" b="1">
                <a:solidFill>
                  <a:srgbClr val="008000"/>
                </a:solidFill>
                <a:effectLst/>
                <a:latin typeface="Consolas" panose="020B0609020204030204" pitchFamily="49" charset="0"/>
              </a:rPr>
              <a:t># Example usage:</a:t>
            </a:r>
          </a:p>
          <a:p>
            <a:pPr>
              <a:buNone/>
            </a:pP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 </a:t>
            </a:r>
            <a:r>
              <a:rPr lang="en-US" b="1">
                <a:solidFill>
                  <a:srgbClr val="000000"/>
                </a:solidFill>
                <a:effectLst/>
                <a:latin typeface="Consolas" panose="020B0609020204030204" pitchFamily="49" charset="0"/>
              </a:rPr>
              <a:t>=</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'D’</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'A'</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'D’</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'D'</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'B'</a:t>
            </a:r>
            <a:r>
              <a:rPr lang="en-US" b="1">
                <a:solidFill>
                  <a:srgbClr val="3B3B3B"/>
                </a:solidFill>
                <a:effectLst/>
                <a:latin typeface="Consolas" panose="020B0609020204030204" pitchFamily="49" charset="0"/>
              </a:rPr>
              <a:t>, </a:t>
            </a:r>
            <a:r>
              <a:rPr lang="en-US" b="1">
                <a:solidFill>
                  <a:srgbClr val="A31515"/>
                </a:solidFill>
                <a:effectLst/>
                <a:latin typeface="Consolas" panose="020B0609020204030204" pitchFamily="49" charset="0"/>
              </a:rPr>
              <a:t>'C’</a:t>
            </a:r>
            <a:r>
              <a:rPr lang="en-US" b="1">
                <a:solidFill>
                  <a:srgbClr val="3B3B3B"/>
                </a:solidFill>
                <a:effectLst/>
                <a:latin typeface="Consolas" panose="020B0609020204030204" pitchFamily="49" charset="0"/>
              </a:rPr>
              <a:t>] }</a:t>
            </a:r>
          </a:p>
          <a:p>
            <a:r>
              <a:rPr lang="en-US" b="1">
                <a:solidFill>
                  <a:srgbClr val="795E26"/>
                </a:solidFill>
                <a:effectLst/>
                <a:latin typeface="Consolas" panose="020B0609020204030204" pitchFamily="49" charset="0"/>
              </a:rPr>
              <a:t>print</a:t>
            </a:r>
            <a:r>
              <a:rPr lang="en-US" b="1">
                <a:solidFill>
                  <a:srgbClr val="3B3B3B"/>
                </a:solidFill>
                <a:effectLst/>
                <a:latin typeface="Consolas" panose="020B0609020204030204" pitchFamily="49" charset="0"/>
              </a:rPr>
              <a:t>(</a:t>
            </a:r>
            <a:r>
              <a:rPr lang="en-US" b="1">
                <a:solidFill>
                  <a:srgbClr val="A31515"/>
                </a:solidFill>
                <a:effectLst/>
                <a:latin typeface="Consolas" panose="020B0609020204030204" pitchFamily="49" charset="0"/>
              </a:rPr>
              <a:t>"Coloring:"</a:t>
            </a:r>
            <a:r>
              <a:rPr lang="en-US" b="1">
                <a:solidFill>
                  <a:srgbClr val="3B3B3B"/>
                </a:solidFill>
                <a:effectLst/>
                <a:latin typeface="Consolas" panose="020B0609020204030204" pitchFamily="49" charset="0"/>
              </a:rPr>
              <a:t>, </a:t>
            </a:r>
            <a:r>
              <a:rPr lang="en-US" b="1">
                <a:solidFill>
                  <a:srgbClr val="795E26"/>
                </a:solidFill>
                <a:effectLst/>
                <a:latin typeface="Consolas" panose="020B0609020204030204" pitchFamily="49" charset="0"/>
              </a:rPr>
              <a:t>solve_3color</a:t>
            </a:r>
            <a:r>
              <a:rPr lang="en-US" b="1">
                <a:solidFill>
                  <a:srgbClr val="3B3B3B"/>
                </a:solidFill>
                <a:effectLst/>
                <a:latin typeface="Consolas" panose="020B0609020204030204" pitchFamily="49" charset="0"/>
              </a:rPr>
              <a:t>(</a:t>
            </a:r>
            <a:r>
              <a:rPr lang="en-US" b="1">
                <a:solidFill>
                  <a:srgbClr val="001080"/>
                </a:solidFill>
                <a:effectLst/>
                <a:latin typeface="Consolas" panose="020B0609020204030204" pitchFamily="49" charset="0"/>
              </a:rPr>
              <a:t>graph</a:t>
            </a:r>
            <a:r>
              <a:rPr lang="en-US" b="1">
                <a:solidFill>
                  <a:srgbClr val="3B3B3B"/>
                </a:solidFill>
                <a:effectLst/>
                <a:latin typeface="Consolas" panose="020B0609020204030204" pitchFamily="49" charset="0"/>
              </a:rPr>
              <a:t>))</a:t>
            </a:r>
          </a:p>
        </p:txBody>
      </p:sp>
      <p:sp>
        <p:nvSpPr>
          <p:cNvPr id="2" name="TextBox 1">
            <a:extLst>
              <a:ext uri="{FF2B5EF4-FFF2-40B4-BE49-F238E27FC236}">
                <a16:creationId xmlns:a16="http://schemas.microsoft.com/office/drawing/2014/main" id="{5861AE34-7A0B-4C3D-62C8-5B1C03AA3EE8}"/>
              </a:ext>
            </a:extLst>
          </p:cNvPr>
          <p:cNvSpPr txBox="1"/>
          <p:nvPr/>
        </p:nvSpPr>
        <p:spPr>
          <a:xfrm>
            <a:off x="8689118" y="6500941"/>
            <a:ext cx="350288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b="1"/>
              <a:t>Coloring: {'A': 1, 'B': 2, 'C': 3, 'D': 1}</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AFD400F-BDAC-BC2A-FE0C-CF65D8B6E478}"/>
                  </a:ext>
                </a:extLst>
              </p:cNvPr>
              <p:cNvSpPr txBox="1"/>
              <p:nvPr/>
            </p:nvSpPr>
            <p:spPr>
              <a:xfrm>
                <a:off x="2687320" y="2849880"/>
                <a:ext cx="3896360" cy="369332"/>
              </a:xfrm>
              <a:prstGeom prst="rect">
                <a:avLst/>
              </a:prstGeom>
              <a:noFill/>
            </p:spPr>
            <p:txBody>
              <a:bodyPr wrap="square" rtlCol="0">
                <a:spAutoFit/>
              </a:bodyPr>
              <a:lstStyle/>
              <a:p>
                <a:r>
                  <a:rPr lang="en-US" b="1">
                    <a:solidFill>
                      <a:srgbClr val="008000"/>
                    </a:solidFill>
                    <a:latin typeface="Consolas" panose="020B0609020204030204" pitchFamily="49" charset="0"/>
                  </a:rPr>
                  <a:t># </a:t>
                </a:r>
                <a14:m>
                  <m:oMath xmlns:m="http://schemas.openxmlformats.org/officeDocument/2006/math">
                    <m:r>
                      <a:rPr lang="en-US" b="1" i="1">
                        <a:solidFill>
                          <a:srgbClr val="008000"/>
                        </a:solidFill>
                        <a:latin typeface="Cambria Math" panose="02040503050406030204" pitchFamily="18" charset="0"/>
                      </a:rPr>
                      <m:t>𝑶</m:t>
                    </m:r>
                    <m:r>
                      <a:rPr lang="en-US" b="1" i="1">
                        <a:solidFill>
                          <a:srgbClr val="008000"/>
                        </a:solidFill>
                        <a:latin typeface="Cambria Math" panose="02040503050406030204" pitchFamily="18" charset="0"/>
                      </a:rPr>
                      <m:t>(</m:t>
                    </m:r>
                    <m:r>
                      <a:rPr lang="en-US" b="1" i="1">
                        <a:solidFill>
                          <a:srgbClr val="008000"/>
                        </a:solidFill>
                        <a:latin typeface="Cambria Math" panose="02040503050406030204" pitchFamily="18" charset="0"/>
                      </a:rPr>
                      <m:t>𝟑</m:t>
                    </m:r>
                    <m:r>
                      <m:rPr>
                        <m:nor/>
                      </m:rPr>
                      <a:rPr lang="en-US" b="1">
                        <a:solidFill>
                          <a:srgbClr val="008000"/>
                        </a:solidFill>
                        <a:latin typeface="Cambria Math" panose="02040503050406030204" pitchFamily="18" charset="0"/>
                      </a:rPr>
                      <m:t>C</m:t>
                    </m:r>
                    <m:r>
                      <m:rPr>
                        <m:nor/>
                      </m:rPr>
                      <a:rPr lang="en-US" b="1">
                        <a:solidFill>
                          <a:srgbClr val="008000"/>
                        </a:solidFill>
                        <a:latin typeface="Cambria Math" panose="02040503050406030204" pitchFamily="18" charset="0"/>
                      </a:rPr>
                      <m:t>(&lt;</m:t>
                    </m:r>
                    <m:r>
                      <m:rPr>
                        <m:nor/>
                      </m:rPr>
                      <a:rPr lang="en-US" b="1">
                        <a:solidFill>
                          <a:srgbClr val="008000"/>
                        </a:solidFill>
                        <a:latin typeface="Cambria Math" panose="02040503050406030204" pitchFamily="18" charset="0"/>
                      </a:rPr>
                      <m:t>backtrack</m:t>
                    </m:r>
                    <m:r>
                      <m:rPr>
                        <m:nor/>
                      </m:rPr>
                      <a:rPr lang="en-US" b="1">
                        <a:solidFill>
                          <a:srgbClr val="008000"/>
                        </a:solidFill>
                        <a:latin typeface="Cambria Math" panose="02040503050406030204" pitchFamily="18" charset="0"/>
                      </a:rPr>
                      <m:t>, </m:t>
                    </m:r>
                    <m:r>
                      <m:rPr>
                        <m:nor/>
                      </m:rPr>
                      <a:rPr lang="en-US" b="1">
                        <a:solidFill>
                          <a:srgbClr val="008000"/>
                        </a:solidFill>
                        <a:latin typeface="Cambria Math" panose="02040503050406030204" pitchFamily="18" charset="0"/>
                      </a:rPr>
                      <m:t>i</m:t>
                    </m:r>
                    <m:r>
                      <m:rPr>
                        <m:nor/>
                      </m:rPr>
                      <a:rPr lang="en-US" b="1">
                        <a:solidFill>
                          <a:srgbClr val="008000"/>
                        </a:solidFill>
                        <a:latin typeface="Cambria Math" panose="02040503050406030204" pitchFamily="18" charset="0"/>
                      </a:rPr>
                      <m:t>+1&gt;</m:t>
                    </m:r>
                    <m:r>
                      <a:rPr lang="en-US" b="1" i="1">
                        <a:solidFill>
                          <a:srgbClr val="008000"/>
                        </a:solidFill>
                        <a:latin typeface="Cambria Math" panose="02040503050406030204" pitchFamily="18" charset="0"/>
                      </a:rPr>
                      <m:t>))=</m:t>
                    </m:r>
                    <m:r>
                      <a:rPr lang="en-US" b="1" i="1">
                        <a:solidFill>
                          <a:srgbClr val="008000"/>
                        </a:solidFill>
                        <a:latin typeface="Cambria Math" panose="02040503050406030204" pitchFamily="18" charset="0"/>
                      </a:rPr>
                      <m:t>𝑶</m:t>
                    </m:r>
                    <m:r>
                      <a:rPr lang="en-US" b="1" i="1">
                        <a:solidFill>
                          <a:srgbClr val="008000"/>
                        </a:solidFill>
                        <a:latin typeface="Cambria Math" panose="02040503050406030204" pitchFamily="18" charset="0"/>
                      </a:rPr>
                      <m:t>(</m:t>
                    </m:r>
                    <m:sSup>
                      <m:sSupPr>
                        <m:ctrlPr>
                          <a:rPr lang="en-US" b="1" i="1">
                            <a:solidFill>
                              <a:srgbClr val="008000"/>
                            </a:solidFill>
                            <a:latin typeface="Cambria Math" panose="02040503050406030204" pitchFamily="18" charset="0"/>
                          </a:rPr>
                        </m:ctrlPr>
                      </m:sSupPr>
                      <m:e>
                        <m:r>
                          <a:rPr lang="en-US" b="1" i="1">
                            <a:solidFill>
                              <a:srgbClr val="008000"/>
                            </a:solidFill>
                            <a:latin typeface="Cambria Math" panose="02040503050406030204" pitchFamily="18" charset="0"/>
                          </a:rPr>
                          <m:t>𝟑</m:t>
                        </m:r>
                      </m:e>
                      <m:sup>
                        <m:r>
                          <a:rPr lang="en-US" b="1" i="1">
                            <a:solidFill>
                              <a:srgbClr val="008000"/>
                            </a:solidFill>
                            <a:latin typeface="Cambria Math" panose="02040503050406030204" pitchFamily="18" charset="0"/>
                          </a:rPr>
                          <m:t>𝒏</m:t>
                        </m:r>
                      </m:sup>
                    </m:sSup>
                    <m:r>
                      <a:rPr lang="en-US" b="1" i="1">
                        <a:solidFill>
                          <a:srgbClr val="008000"/>
                        </a:solidFill>
                        <a:latin typeface="Cambria Math" panose="02040503050406030204" pitchFamily="18" charset="0"/>
                      </a:rPr>
                      <m:t>)</m:t>
                    </m:r>
                  </m:oMath>
                </a14:m>
                <a:endParaRPr lang="en-US" b="1">
                  <a:solidFill>
                    <a:srgbClr val="3B3B3B"/>
                  </a:solidFill>
                  <a:effectLst/>
                  <a:latin typeface="Consolas" panose="020B0609020204030204" pitchFamily="49" charset="0"/>
                </a:endParaRPr>
              </a:p>
            </p:txBody>
          </p:sp>
        </mc:Choice>
        <mc:Fallback xmlns="">
          <p:sp>
            <p:nvSpPr>
              <p:cNvPr id="3" name="TextBox 2">
                <a:extLst>
                  <a:ext uri="{FF2B5EF4-FFF2-40B4-BE49-F238E27FC236}">
                    <a16:creationId xmlns:a16="http://schemas.microsoft.com/office/drawing/2014/main" id="{5AFD400F-BDAC-BC2A-FE0C-CF65D8B6E478}"/>
                  </a:ext>
                </a:extLst>
              </p:cNvPr>
              <p:cNvSpPr txBox="1">
                <a:spLocks noRot="1" noChangeAspect="1" noMove="1" noResize="1" noEditPoints="1" noAdjustHandles="1" noChangeArrowheads="1" noChangeShapeType="1" noTextEdit="1"/>
              </p:cNvSpPr>
              <p:nvPr/>
            </p:nvSpPr>
            <p:spPr>
              <a:xfrm>
                <a:off x="2687320" y="2849880"/>
                <a:ext cx="3896360" cy="369332"/>
              </a:xfrm>
              <a:prstGeom prst="rect">
                <a:avLst/>
              </a:prstGeom>
              <a:blipFill>
                <a:blip r:embed="rId2"/>
                <a:stretch>
                  <a:fillRect l="-1408" t="-10000" r="-313" b="-2500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1689CC19-0902-A79B-FEE7-CBC00710722C}"/>
              </a:ext>
            </a:extLst>
          </p:cNvPr>
          <p:cNvSpPr txBox="1"/>
          <p:nvPr/>
        </p:nvSpPr>
        <p:spPr>
          <a:xfrm>
            <a:off x="7918616" y="4254611"/>
            <a:ext cx="3896360" cy="1200329"/>
          </a:xfrm>
          <a:prstGeom prst="rect">
            <a:avLst/>
          </a:prstGeom>
          <a:noFill/>
        </p:spPr>
        <p:txBody>
          <a:bodyPr wrap="square" rtlCol="0">
            <a:spAutoFit/>
          </a:bodyPr>
          <a:lstStyle/>
          <a:p>
            <a:r>
              <a:rPr lang="sr-Latn-BA" b="1">
                <a:solidFill>
                  <a:srgbClr val="008000"/>
                </a:solidFill>
                <a:latin typeface="Consolas" panose="020B0609020204030204" pitchFamily="49" charset="0"/>
              </a:rPr>
              <a:t># Algoritam za verifikaciju bi se mogao modifikovati tako da se on koristi ovdje, ali ovako je jednostavnije</a:t>
            </a:r>
            <a:endParaRPr lang="en-US" b="1">
              <a:solidFill>
                <a:srgbClr val="3B3B3B"/>
              </a:solidFill>
              <a:effectLst/>
              <a:latin typeface="Consolas" panose="020B0609020204030204" pitchFamily="49" charset="0"/>
            </a:endParaRPr>
          </a:p>
        </p:txBody>
      </p:sp>
      <p:cxnSp>
        <p:nvCxnSpPr>
          <p:cNvPr id="8" name="Straight Arrow Connector 7">
            <a:extLst>
              <a:ext uri="{FF2B5EF4-FFF2-40B4-BE49-F238E27FC236}">
                <a16:creationId xmlns:a16="http://schemas.microsoft.com/office/drawing/2014/main" id="{8CF40B3B-9BA0-FFB9-CC5C-4083BA5856DC}"/>
              </a:ext>
            </a:extLst>
          </p:cNvPr>
          <p:cNvCxnSpPr>
            <a:cxnSpLocks/>
          </p:cNvCxnSpPr>
          <p:nvPr/>
        </p:nvCxnSpPr>
        <p:spPr>
          <a:xfrm flipH="1" flipV="1">
            <a:off x="5307496" y="4333239"/>
            <a:ext cx="2611120" cy="39333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01458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3791</TotalTime>
  <Words>2440</Words>
  <Application>Microsoft Office PowerPoint</Application>
  <PresentationFormat>Widescreen</PresentationFormat>
  <Paragraphs>192</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 Math</vt:lpstr>
      <vt:lpstr>Consolas</vt:lpstr>
      <vt:lpstr>Office Theme</vt:lpstr>
      <vt:lpstr>Formalne metode u softverskom inženjerstvu</vt:lpstr>
      <vt:lpstr>Problemi izračunavanja</vt:lpstr>
      <vt:lpstr>Relacija enkodovanja</vt:lpstr>
      <vt:lpstr>Odlučivost i nabrojivost</vt:lpstr>
      <vt:lpstr>Problemi odlučivanja</vt:lpstr>
      <vt:lpstr>Problem zaustavljanja (Halting problem)</vt:lpstr>
      <vt:lpstr>P vs NP</vt:lpstr>
      <vt:lpstr>Funkcijski problemi</vt:lpstr>
      <vt:lpstr>Aritmetičke operacije</vt:lpstr>
      <vt:lpstr>Matrično množenje</vt:lpstr>
      <vt:lpstr>Problem zadovoljivosti logičke formule (Satisfiability, SAT)</vt:lpstr>
      <vt:lpstr>PowerPoint Presentation</vt:lpstr>
      <vt:lpstr>PowerPoint Presentation</vt:lpstr>
      <vt:lpstr>k-bojivost grafa (kColor)</vt:lpstr>
      <vt:lpstr>k-bojivost grafa (kColor)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Formalne metode u softverskom inženjerstvu</dc:title>
  <dc:creator>Stefan Novaković</dc:creator>
  <cp:lastModifiedBy>Stefan Novaković</cp:lastModifiedBy>
  <cp:revision>13</cp:revision>
  <dcterms:created xsi:type="dcterms:W3CDTF">2021-09-29T13:55:43Z</dcterms:created>
  <dcterms:modified xsi:type="dcterms:W3CDTF">2025-03-12T17:17:06Z</dcterms:modified>
</cp:coreProperties>
</file>