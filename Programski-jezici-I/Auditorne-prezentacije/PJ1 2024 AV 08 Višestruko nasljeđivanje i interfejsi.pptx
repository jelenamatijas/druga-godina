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3" r:id="rId2"/>
    <p:sldId id="354" r:id="rId3"/>
    <p:sldId id="365" r:id="rId4"/>
    <p:sldId id="367" r:id="rId5"/>
    <p:sldId id="368" r:id="rId6"/>
    <p:sldId id="372" r:id="rId7"/>
    <p:sldId id="373" r:id="rId8"/>
    <p:sldId id="382" r:id="rId9"/>
    <p:sldId id="334" r:id="rId10"/>
    <p:sldId id="352" r:id="rId11"/>
    <p:sldId id="374" r:id="rId12"/>
    <p:sldId id="375" r:id="rId13"/>
    <p:sldId id="377" r:id="rId14"/>
    <p:sldId id="369" r:id="rId15"/>
    <p:sldId id="378" r:id="rId16"/>
    <p:sldId id="3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šestruko nasljeđivanje, interfejsi i principi OO programiranja" id="{D57E6939-19FC-4C9D-9D79-1DF6DFA69FA8}">
          <p14:sldIdLst>
            <p14:sldId id="353"/>
            <p14:sldId id="354"/>
            <p14:sldId id="365"/>
            <p14:sldId id="367"/>
            <p14:sldId id="368"/>
            <p14:sldId id="372"/>
            <p14:sldId id="373"/>
            <p14:sldId id="382"/>
            <p14:sldId id="334"/>
            <p14:sldId id="352"/>
            <p14:sldId id="374"/>
            <p14:sldId id="375"/>
            <p14:sldId id="377"/>
            <p14:sldId id="369"/>
            <p14:sldId id="378"/>
            <p14:sldId id="3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F99"/>
    <a:srgbClr val="008000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45EE3-867A-4F39-9B53-14893C0F959D}" v="987" dt="2024-12-15T17:54:30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C4145EE3-867A-4F39-9B53-14893C0F959D}"/>
    <pc:docChg chg="undo custSel addSld delSld modSld modSection">
      <pc:chgData name="Stefan Novaković" userId="48d5634ac72bd80c" providerId="LiveId" clId="{C4145EE3-867A-4F39-9B53-14893C0F959D}" dt="2024-12-15T17:54:30.851" v="1319" actId="20577"/>
      <pc:docMkLst>
        <pc:docMk/>
      </pc:docMkLst>
      <pc:sldChg chg="modSp mod modAnim">
        <pc:chgData name="Stefan Novaković" userId="48d5634ac72bd80c" providerId="LiveId" clId="{C4145EE3-867A-4F39-9B53-14893C0F959D}" dt="2024-12-12T13:09:13.123" v="991" actId="20577"/>
        <pc:sldMkLst>
          <pc:docMk/>
          <pc:sldMk cId="4262760282" sldId="352"/>
        </pc:sldMkLst>
        <pc:spChg chg="mod">
          <ac:chgData name="Stefan Novaković" userId="48d5634ac72bd80c" providerId="LiveId" clId="{C4145EE3-867A-4F39-9B53-14893C0F959D}" dt="2024-12-12T13:09:13.123" v="991" actId="20577"/>
          <ac:spMkLst>
            <pc:docMk/>
            <pc:sldMk cId="4262760282" sldId="352"/>
            <ac:spMk id="3" creationId="{150A8FF6-B1B5-4D6D-B338-6EE3969AFC07}"/>
          </ac:spMkLst>
        </pc:spChg>
      </pc:sldChg>
      <pc:sldChg chg="modSp">
        <pc:chgData name="Stefan Novaković" userId="48d5634ac72bd80c" providerId="LiveId" clId="{C4145EE3-867A-4F39-9B53-14893C0F959D}" dt="2024-12-15T17:54:30.851" v="1319" actId="20577"/>
        <pc:sldMkLst>
          <pc:docMk/>
          <pc:sldMk cId="3417624599" sldId="353"/>
        </pc:sldMkLst>
        <pc:spChg chg="mod">
          <ac:chgData name="Stefan Novaković" userId="48d5634ac72bd80c" providerId="LiveId" clId="{C4145EE3-867A-4F39-9B53-14893C0F959D}" dt="2024-12-15T17:54:30.851" v="1319" actId="20577"/>
          <ac:spMkLst>
            <pc:docMk/>
            <pc:sldMk cId="3417624599" sldId="353"/>
            <ac:spMk id="3" creationId="{8035EEB5-5D68-4E7E-B791-D67A4F98FCC3}"/>
          </ac:spMkLst>
        </pc:spChg>
      </pc:sldChg>
      <pc:sldChg chg="modSp">
        <pc:chgData name="Stefan Novaković" userId="48d5634ac72bd80c" providerId="LiveId" clId="{C4145EE3-867A-4F39-9B53-14893C0F959D}" dt="2024-12-12T12:12:49.307" v="1" actId="123"/>
        <pc:sldMkLst>
          <pc:docMk/>
          <pc:sldMk cId="3042940520" sldId="354"/>
        </pc:sldMkLst>
        <pc:spChg chg="mod">
          <ac:chgData name="Stefan Novaković" userId="48d5634ac72bd80c" providerId="LiveId" clId="{C4145EE3-867A-4F39-9B53-14893C0F959D}" dt="2024-12-12T12:12:49.307" v="1" actId="123"/>
          <ac:spMkLst>
            <pc:docMk/>
            <pc:sldMk cId="3042940520" sldId="354"/>
            <ac:spMk id="3" creationId="{150A8FF6-B1B5-4D6D-B338-6EE3969AFC07}"/>
          </ac:spMkLst>
        </pc:spChg>
      </pc:sldChg>
      <pc:sldChg chg="modSp">
        <pc:chgData name="Stefan Novaković" userId="48d5634ac72bd80c" providerId="LiveId" clId="{C4145EE3-867A-4F39-9B53-14893C0F959D}" dt="2024-12-12T12:12:51.673" v="2" actId="123"/>
        <pc:sldMkLst>
          <pc:docMk/>
          <pc:sldMk cId="2953002181" sldId="365"/>
        </pc:sldMkLst>
        <pc:spChg chg="mod">
          <ac:chgData name="Stefan Novaković" userId="48d5634ac72bd80c" providerId="LiveId" clId="{C4145EE3-867A-4F39-9B53-14893C0F959D}" dt="2024-12-12T12:12:51.673" v="2" actId="123"/>
          <ac:spMkLst>
            <pc:docMk/>
            <pc:sldMk cId="2953002181" sldId="365"/>
            <ac:spMk id="3" creationId="{92B2EB11-CE66-4058-83F5-B1FF7CD85C65}"/>
          </ac:spMkLst>
        </pc:spChg>
      </pc:sldChg>
      <pc:sldChg chg="modSp">
        <pc:chgData name="Stefan Novaković" userId="48d5634ac72bd80c" providerId="LiveId" clId="{C4145EE3-867A-4F39-9B53-14893C0F959D}" dt="2024-12-12T12:12:55.071" v="3" actId="123"/>
        <pc:sldMkLst>
          <pc:docMk/>
          <pc:sldMk cId="1688607279" sldId="367"/>
        </pc:sldMkLst>
        <pc:spChg chg="mod">
          <ac:chgData name="Stefan Novaković" userId="48d5634ac72bd80c" providerId="LiveId" clId="{C4145EE3-867A-4F39-9B53-14893C0F959D}" dt="2024-12-12T12:12:55.071" v="3" actId="123"/>
          <ac:spMkLst>
            <pc:docMk/>
            <pc:sldMk cId="1688607279" sldId="367"/>
            <ac:spMk id="3" creationId="{B9176303-8679-4144-86C3-445F01715A98}"/>
          </ac:spMkLst>
        </pc:spChg>
      </pc:sldChg>
      <pc:sldChg chg="modSp">
        <pc:chgData name="Stefan Novaković" userId="48d5634ac72bd80c" providerId="LiveId" clId="{C4145EE3-867A-4F39-9B53-14893C0F959D}" dt="2024-12-12T12:12:58.141" v="4" actId="123"/>
        <pc:sldMkLst>
          <pc:docMk/>
          <pc:sldMk cId="3929842329" sldId="368"/>
        </pc:sldMkLst>
        <pc:spChg chg="mod">
          <ac:chgData name="Stefan Novaković" userId="48d5634ac72bd80c" providerId="LiveId" clId="{C4145EE3-867A-4F39-9B53-14893C0F959D}" dt="2024-12-12T12:12:58.141" v="4" actId="123"/>
          <ac:spMkLst>
            <pc:docMk/>
            <pc:sldMk cId="3929842329" sldId="368"/>
            <ac:spMk id="3" creationId="{150A8FF6-B1B5-4D6D-B338-6EE3969AFC07}"/>
          </ac:spMkLst>
        </pc:spChg>
      </pc:sldChg>
      <pc:sldChg chg="modSp mod modAnim">
        <pc:chgData name="Stefan Novaković" userId="48d5634ac72bd80c" providerId="LiveId" clId="{C4145EE3-867A-4F39-9B53-14893C0F959D}" dt="2024-12-12T13:08:21.640" v="985" actId="20577"/>
        <pc:sldMkLst>
          <pc:docMk/>
          <pc:sldMk cId="2896073410" sldId="369"/>
        </pc:sldMkLst>
        <pc:spChg chg="mod">
          <ac:chgData name="Stefan Novaković" userId="48d5634ac72bd80c" providerId="LiveId" clId="{C4145EE3-867A-4F39-9B53-14893C0F959D}" dt="2024-12-12T13:08:21.640" v="985" actId="20577"/>
          <ac:spMkLst>
            <pc:docMk/>
            <pc:sldMk cId="2896073410" sldId="369"/>
            <ac:spMk id="3" creationId="{43C78C87-9710-469E-89F7-79F988E93B59}"/>
          </ac:spMkLst>
        </pc:spChg>
      </pc:sldChg>
      <pc:sldChg chg="modSp">
        <pc:chgData name="Stefan Novaković" userId="48d5634ac72bd80c" providerId="LiveId" clId="{C4145EE3-867A-4F39-9B53-14893C0F959D}" dt="2024-12-12T12:13:01.659" v="5" actId="123"/>
        <pc:sldMkLst>
          <pc:docMk/>
          <pc:sldMk cId="3722779149" sldId="372"/>
        </pc:sldMkLst>
        <pc:spChg chg="mod">
          <ac:chgData name="Stefan Novaković" userId="48d5634ac72bd80c" providerId="LiveId" clId="{C4145EE3-867A-4F39-9B53-14893C0F959D}" dt="2024-12-12T12:13:01.659" v="5" actId="123"/>
          <ac:spMkLst>
            <pc:docMk/>
            <pc:sldMk cId="3722779149" sldId="372"/>
            <ac:spMk id="3" creationId="{150A8FF6-B1B5-4D6D-B338-6EE3969AFC07}"/>
          </ac:spMkLst>
        </pc:spChg>
      </pc:sldChg>
      <pc:sldChg chg="modSp">
        <pc:chgData name="Stefan Novaković" userId="48d5634ac72bd80c" providerId="LiveId" clId="{C4145EE3-867A-4F39-9B53-14893C0F959D}" dt="2024-12-12T12:13:06.586" v="6" actId="123"/>
        <pc:sldMkLst>
          <pc:docMk/>
          <pc:sldMk cId="1954911218" sldId="373"/>
        </pc:sldMkLst>
        <pc:spChg chg="mod">
          <ac:chgData name="Stefan Novaković" userId="48d5634ac72bd80c" providerId="LiveId" clId="{C4145EE3-867A-4F39-9B53-14893C0F959D}" dt="2024-12-12T12:13:06.586" v="6" actId="123"/>
          <ac:spMkLst>
            <pc:docMk/>
            <pc:sldMk cId="1954911218" sldId="373"/>
            <ac:spMk id="3" creationId="{8D562634-A128-4360-AAA6-15CE06EF280E}"/>
          </ac:spMkLst>
        </pc:spChg>
      </pc:sldChg>
      <pc:sldChg chg="modSp mod modAnim">
        <pc:chgData name="Stefan Novaković" userId="48d5634ac72bd80c" providerId="LiveId" clId="{C4145EE3-867A-4F39-9B53-14893C0F959D}" dt="2024-12-12T13:53:01.649" v="1274" actId="20577"/>
        <pc:sldMkLst>
          <pc:docMk/>
          <pc:sldMk cId="3802070583" sldId="374"/>
        </pc:sldMkLst>
        <pc:spChg chg="mod">
          <ac:chgData name="Stefan Novaković" userId="48d5634ac72bd80c" providerId="LiveId" clId="{C4145EE3-867A-4F39-9B53-14893C0F959D}" dt="2024-12-12T13:53:01.649" v="1274" actId="20577"/>
          <ac:spMkLst>
            <pc:docMk/>
            <pc:sldMk cId="3802070583" sldId="374"/>
            <ac:spMk id="3" creationId="{150A8FF6-B1B5-4D6D-B338-6EE3969AFC07}"/>
          </ac:spMkLst>
        </pc:spChg>
      </pc:sldChg>
      <pc:sldChg chg="addSp delSp modSp mod">
        <pc:chgData name="Stefan Novaković" userId="48d5634ac72bd80c" providerId="LiveId" clId="{C4145EE3-867A-4F39-9B53-14893C0F959D}" dt="2024-12-12T13:53:20.695" v="1300" actId="20577"/>
        <pc:sldMkLst>
          <pc:docMk/>
          <pc:sldMk cId="290816360" sldId="375"/>
        </pc:sldMkLst>
        <pc:spChg chg="mod">
          <ac:chgData name="Stefan Novaković" userId="48d5634ac72bd80c" providerId="LiveId" clId="{C4145EE3-867A-4F39-9B53-14893C0F959D}" dt="2024-12-12T13:53:20.695" v="1300" actId="20577"/>
          <ac:spMkLst>
            <pc:docMk/>
            <pc:sldMk cId="290816360" sldId="375"/>
            <ac:spMk id="4" creationId="{5BBE4415-DF32-448E-8881-6B5DEDB623A2}"/>
          </ac:spMkLst>
        </pc:spChg>
      </pc:sldChg>
      <pc:sldChg chg="addSp delSp modSp mod">
        <pc:chgData name="Stefan Novaković" userId="48d5634ac72bd80c" providerId="LiveId" clId="{C4145EE3-867A-4F39-9B53-14893C0F959D}" dt="2024-12-12T13:04:56.900" v="830"/>
        <pc:sldMkLst>
          <pc:docMk/>
          <pc:sldMk cId="2745716790" sldId="377"/>
        </pc:sldMkLst>
        <pc:spChg chg="add mod">
          <ac:chgData name="Stefan Novaković" userId="48d5634ac72bd80c" providerId="LiveId" clId="{C4145EE3-867A-4F39-9B53-14893C0F959D}" dt="2024-12-12T13:04:56.900" v="830"/>
          <ac:spMkLst>
            <pc:docMk/>
            <pc:sldMk cId="2745716790" sldId="377"/>
            <ac:spMk id="3" creationId="{5BBE4415-DF32-448E-8881-6B5DEDB623A2}"/>
          </ac:spMkLst>
        </pc:spChg>
      </pc:sldChg>
      <pc:sldChg chg="modSp">
        <pc:chgData name="Stefan Novaković" userId="48d5634ac72bd80c" providerId="LiveId" clId="{C4145EE3-867A-4F39-9B53-14893C0F959D}" dt="2024-12-12T12:13:39.651" v="11" actId="123"/>
        <pc:sldMkLst>
          <pc:docMk/>
          <pc:sldMk cId="1107579282" sldId="378"/>
        </pc:sldMkLst>
        <pc:spChg chg="mod">
          <ac:chgData name="Stefan Novaković" userId="48d5634ac72bd80c" providerId="LiveId" clId="{C4145EE3-867A-4F39-9B53-14893C0F959D}" dt="2024-12-12T12:13:39.651" v="11" actId="123"/>
          <ac:spMkLst>
            <pc:docMk/>
            <pc:sldMk cId="1107579282" sldId="378"/>
            <ac:spMk id="3" creationId="{68D67229-2857-4D55-8650-12CDC1F1F651}"/>
          </ac:spMkLst>
        </pc:spChg>
      </pc:sldChg>
      <pc:sldChg chg="modSp">
        <pc:chgData name="Stefan Novaković" userId="48d5634ac72bd80c" providerId="LiveId" clId="{C4145EE3-867A-4F39-9B53-14893C0F959D}" dt="2024-12-12T12:13:41.064" v="12" actId="123"/>
        <pc:sldMkLst>
          <pc:docMk/>
          <pc:sldMk cId="974810881" sldId="379"/>
        </pc:sldMkLst>
        <pc:spChg chg="mod">
          <ac:chgData name="Stefan Novaković" userId="48d5634ac72bd80c" providerId="LiveId" clId="{C4145EE3-867A-4F39-9B53-14893C0F959D}" dt="2024-12-12T12:13:41.064" v="12" actId="123"/>
          <ac:spMkLst>
            <pc:docMk/>
            <pc:sldMk cId="974810881" sldId="379"/>
            <ac:spMk id="3" creationId="{68D67229-2857-4D55-8650-12CDC1F1F651}"/>
          </ac:spMkLst>
        </pc:spChg>
      </pc:sldChg>
      <pc:sldChg chg="modSp">
        <pc:chgData name="Stefan Novaković" userId="48d5634ac72bd80c" providerId="LiveId" clId="{C4145EE3-867A-4F39-9B53-14893C0F959D}" dt="2024-12-12T12:13:09.069" v="7" actId="123"/>
        <pc:sldMkLst>
          <pc:docMk/>
          <pc:sldMk cId="3234610730" sldId="382"/>
        </pc:sldMkLst>
        <pc:spChg chg="mod">
          <ac:chgData name="Stefan Novaković" userId="48d5634ac72bd80c" providerId="LiveId" clId="{C4145EE3-867A-4F39-9B53-14893C0F959D}" dt="2024-12-12T12:13:09.069" v="7" actId="123"/>
          <ac:spMkLst>
            <pc:docMk/>
            <pc:sldMk cId="3234610730" sldId="382"/>
            <ac:spMk id="3" creationId="{150A8FF6-B1B5-4D6D-B338-6EE3969AFC07}"/>
          </ac:spMkLst>
        </pc:spChg>
      </pc:sldChg>
      <pc:sldChg chg="add del">
        <pc:chgData name="Stefan Novaković" userId="48d5634ac72bd80c" providerId="LiveId" clId="{C4145EE3-867A-4F39-9B53-14893C0F959D}" dt="2024-12-15T17:54:10.444" v="1301" actId="47"/>
        <pc:sldMkLst>
          <pc:docMk/>
          <pc:sldMk cId="2468337027" sldId="383"/>
        </pc:sldMkLst>
      </pc:sldChg>
    </pc:docChg>
  </pc:docChgLst>
  <pc:docChgLst>
    <pc:chgData name="Stefan Novaković" userId="48d5634ac72bd80c" providerId="LiveId" clId="{1E16D6EE-4773-45E2-A1C6-F53D5C73697B}"/>
    <pc:docChg chg="modSld">
      <pc:chgData name="Stefan Novaković" userId="48d5634ac72bd80c" providerId="LiveId" clId="{1E16D6EE-4773-45E2-A1C6-F53D5C73697B}" dt="2024-12-12T15:38:28.665" v="1"/>
      <pc:docMkLst>
        <pc:docMk/>
      </pc:docMkLst>
      <pc:sldChg chg="modSp mod">
        <pc:chgData name="Stefan Novaković" userId="48d5634ac72bd80c" providerId="LiveId" clId="{1E16D6EE-4773-45E2-A1C6-F53D5C73697B}" dt="2024-12-12T15:38:28.665" v="1"/>
        <pc:sldMkLst>
          <pc:docMk/>
          <pc:sldMk cId="290816360" sldId="375"/>
        </pc:sldMkLst>
        <pc:spChg chg="mod">
          <ac:chgData name="Stefan Novaković" userId="48d5634ac72bd80c" providerId="LiveId" clId="{1E16D6EE-4773-45E2-A1C6-F53D5C73697B}" dt="2024-12-12T15:38:28.665" v="1"/>
          <ac:spMkLst>
            <pc:docMk/>
            <pc:sldMk cId="290816360" sldId="375"/>
            <ac:spMk id="4" creationId="{5BBE4415-DF32-448E-8881-6B5DEDB623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c;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12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0311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920653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sz="2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 {}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data; }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28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A() : X(1) {}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28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sr-Latn-BA" sz="2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sr-Latn-BA" sz="2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c;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28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sr-Latn-BA" sz="2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12</a:t>
            </a:r>
            <a:endParaRPr lang="sr-Latn-BA" sz="28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579436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c;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99342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c;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5881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52767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0580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039776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00885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952474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61128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15.12.2024.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sr-Latn-BA" b="1"/>
              <a:t>Višestruko nasljeđivanje</a:t>
            </a:r>
            <a:r>
              <a:rPr lang="en-US" b="1"/>
              <a:t> i interfejsi</a:t>
            </a:r>
            <a:endParaRPr lang="sr-Latn-BA" b="1"/>
          </a:p>
          <a:p>
            <a:pPr algn="l"/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2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Višestruko nasljeđivanje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n-US"/>
              <a:t>Javno izvo</a:t>
            </a:r>
            <a:r>
              <a:rPr lang="sr-Latn-BA"/>
              <a:t>đenje kod kojeg</a:t>
            </a:r>
            <a:r>
              <a:rPr lang="en-US"/>
              <a:t>a</a:t>
            </a:r>
            <a:r>
              <a:rPr lang="sr-Latn-BA"/>
              <a:t> se klasa javno izvodi iz više baznih klasa</a:t>
            </a:r>
          </a:p>
          <a:p>
            <a:pPr algn="just"/>
            <a:r>
              <a:rPr lang="sr-Latn-BA"/>
              <a:t>Za svaku baznu klasu, objekat izvedene klase sadrži podobjekat </a:t>
            </a:r>
            <a:endParaRPr lang="en-US"/>
          </a:p>
          <a:p>
            <a:pPr algn="just"/>
            <a:endParaRPr lang="sr-Latn-BA"/>
          </a:p>
          <a:p>
            <a:pPr algn="just"/>
            <a:endParaRPr lang="sr-Latn-BA"/>
          </a:p>
          <a:p>
            <a:pPr algn="just"/>
            <a:endParaRPr lang="sr-Latn-BA"/>
          </a:p>
          <a:p>
            <a:pPr algn="just"/>
            <a:endParaRPr lang="sr-Latn-B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F6354-C526-46B1-8CA9-4F82ED5A267C}"/>
              </a:ext>
            </a:extLst>
          </p:cNvPr>
          <p:cNvSpPr txBox="1"/>
          <p:nvPr/>
        </p:nvSpPr>
        <p:spPr>
          <a:xfrm>
            <a:off x="2106706" y="2955328"/>
            <a:ext cx="797858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85C3E8A4-09AF-4715-AEC7-C0AAA0232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83" y="4442571"/>
            <a:ext cx="5641520" cy="2050304"/>
          </a:xfrm>
          <a:prstGeom prst="rect">
            <a:avLst/>
          </a:prstGeom>
          <a:ln>
            <a:noFill/>
          </a:ln>
        </p:spPr>
      </p:pic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19FDAFA4-0FD0-4060-ADAD-4F46DF694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659" y="4442571"/>
            <a:ext cx="5106658" cy="20503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294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AE65-958F-43D9-BB66-8FFA2CAE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Dijamant šema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2EB11-CE66-4058-83F5-B1FF7CD85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1198" cy="4351338"/>
          </a:xfrm>
        </p:spPr>
        <p:txBody>
          <a:bodyPr/>
          <a:lstStyle/>
          <a:p>
            <a:pPr algn="just"/>
            <a:r>
              <a:rPr lang="sr-Latn-BA"/>
              <a:t>Neka je </a:t>
            </a:r>
            <a:r>
              <a:rPr lang="sr-Latn-BA" b="1">
                <a:latin typeface="Consolas" panose="020B0609020204030204" pitchFamily="49" charset="0"/>
              </a:rPr>
              <a:t>X</a:t>
            </a:r>
            <a:r>
              <a:rPr lang="sr-Latn-BA"/>
              <a:t> bazna klasa za </a:t>
            </a:r>
            <a:r>
              <a:rPr lang="sr-Latn-BA" b="1">
                <a:latin typeface="Consolas" panose="020B0609020204030204" pitchFamily="49" charset="0"/>
              </a:rPr>
              <a:t>A</a:t>
            </a:r>
            <a:r>
              <a:rPr lang="sr-Latn-BA"/>
              <a:t> i </a:t>
            </a:r>
            <a:r>
              <a:rPr lang="sr-Latn-BA" b="1">
                <a:latin typeface="Consolas" panose="020B0609020204030204" pitchFamily="49" charset="0"/>
              </a:rPr>
              <a:t>B</a:t>
            </a:r>
          </a:p>
          <a:p>
            <a:pPr algn="just"/>
            <a:r>
              <a:rPr lang="sr-Latn-BA"/>
              <a:t>Neka je klasa </a:t>
            </a:r>
            <a:r>
              <a:rPr lang="sr-Latn-BA" b="1">
                <a:latin typeface="Consolas" panose="020B0609020204030204" pitchFamily="49" charset="0"/>
              </a:rPr>
              <a:t>C</a:t>
            </a:r>
            <a:r>
              <a:rPr lang="sr-Latn-BA"/>
              <a:t> izvedena iz </a:t>
            </a:r>
            <a:r>
              <a:rPr lang="sr-Latn-BA" b="1">
                <a:latin typeface="Consolas" panose="020B0609020204030204" pitchFamily="49" charset="0"/>
              </a:rPr>
              <a:t>A</a:t>
            </a:r>
            <a:r>
              <a:rPr lang="sr-Latn-BA"/>
              <a:t> i </a:t>
            </a:r>
            <a:r>
              <a:rPr lang="sr-Latn-BA" b="1">
                <a:latin typeface="Consolas" panose="020B0609020204030204" pitchFamily="49" charset="0"/>
              </a:rPr>
              <a:t>B</a:t>
            </a:r>
            <a:r>
              <a:rPr lang="sr-Latn-BA"/>
              <a:t> </a:t>
            </a:r>
          </a:p>
          <a:p>
            <a:pPr algn="just"/>
            <a:r>
              <a:rPr lang="sr-Latn-BA"/>
              <a:t>Tada je klasa </a:t>
            </a:r>
            <a:r>
              <a:rPr lang="sr-Latn-BA" b="1">
                <a:latin typeface="Consolas" panose="020B0609020204030204" pitchFamily="49" charset="0"/>
              </a:rPr>
              <a:t>X</a:t>
            </a:r>
            <a:r>
              <a:rPr lang="sr-Latn-BA"/>
              <a:t> višestruka indirektna bazna klasa klase </a:t>
            </a:r>
            <a:r>
              <a:rPr lang="sr-Latn-BA" b="1">
                <a:latin typeface="Consolas" panose="020B0609020204030204" pitchFamily="49" charset="0"/>
              </a:rPr>
              <a:t>C</a:t>
            </a:r>
            <a:endParaRPr lang="sr-Latn-BA"/>
          </a:p>
          <a:p>
            <a:pPr algn="just"/>
            <a:endParaRPr lang="sr-Latn-BA"/>
          </a:p>
        </p:txBody>
      </p:sp>
      <p:pic>
        <p:nvPicPr>
          <p:cNvPr id="7" name="Picture 6" descr="Chart, box and whisker chart&#10;&#10;Description automatically generated">
            <a:extLst>
              <a:ext uri="{FF2B5EF4-FFF2-40B4-BE49-F238E27FC236}">
                <a16:creationId xmlns:a16="http://schemas.microsoft.com/office/drawing/2014/main" id="{EFE6FB57-070D-46A7-A312-B15CF4901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308" y="1690688"/>
            <a:ext cx="4978492" cy="4953786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AF41867E-0A34-4C4B-ACD4-B429D480A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120" y="3861484"/>
            <a:ext cx="2273268" cy="272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0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A601-9A80-4BBF-8578-96451AB0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Dijamant šema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76303-8679-4144-86C3-445F01715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r-Latn-BA"/>
              <a:t>Objekat klase</a:t>
            </a:r>
            <a:r>
              <a:rPr lang="en-US"/>
              <a:t> C ima dva</a:t>
            </a:r>
            <a:r>
              <a:rPr lang="sr-Latn-BA"/>
              <a:t> podobjekta tipa </a:t>
            </a:r>
            <a:r>
              <a:rPr lang="sr-Latn-BA" b="1"/>
              <a:t>X</a:t>
            </a:r>
          </a:p>
          <a:p>
            <a:pPr algn="just"/>
            <a:r>
              <a:rPr lang="sr-Latn-BA"/>
              <a:t>Pristup članovima </a:t>
            </a:r>
            <a:r>
              <a:rPr lang="sr-Latn-BA" b="1">
                <a:latin typeface="Consolas" panose="020B0609020204030204" pitchFamily="49" charset="0"/>
              </a:rPr>
              <a:t>X</a:t>
            </a:r>
            <a:r>
              <a:rPr lang="sr-Latn-BA"/>
              <a:t> mora da se vrši preko operatora </a:t>
            </a:r>
            <a:r>
              <a:rPr lang="sr-Latn-BA" sz="2000" b="1">
                <a:latin typeface="Consolas" panose="020B0609020204030204" pitchFamily="49" charset="0"/>
              </a:rPr>
              <a:t>::</a:t>
            </a:r>
            <a:endParaRPr lang="sr-Latn-BA" b="1">
              <a:latin typeface="Consolas" panose="020B0609020204030204" pitchFamily="49" charset="0"/>
            </a:endParaRPr>
          </a:p>
          <a:p>
            <a:pPr algn="just"/>
            <a:r>
              <a:rPr lang="en-US" sz="2400"/>
              <a:t>Poziv</a:t>
            </a:r>
            <a:r>
              <a:rPr lang="en-US" sz="2400" b="1"/>
              <a:t> </a:t>
            </a:r>
            <a:r>
              <a:rPr lang="sr-Latn-BA" sz="2400" b="1">
                <a:solidFill>
                  <a:srgbClr val="795E26"/>
                </a:solidFill>
                <a:latin typeface="Consolas" panose="020B0609020204030204" pitchFamily="49" charset="0"/>
              </a:rPr>
              <a:t>func</a:t>
            </a:r>
            <a:r>
              <a:rPr lang="sr-Latn-BA" sz="2400"/>
              <a:t> nad </a:t>
            </a:r>
            <a:r>
              <a:rPr lang="sr-Latn-BA" sz="2400" b="1">
                <a:latin typeface="Consolas" panose="020B0609020204030204" pitchFamily="49" charset="0"/>
              </a:rPr>
              <a:t>X</a:t>
            </a:r>
            <a:r>
              <a:rPr lang="sr-Latn-BA" sz="2400"/>
              <a:t> podobjektom </a:t>
            </a:r>
            <a:r>
              <a:rPr lang="sr-Latn-BA" sz="2400" b="1">
                <a:latin typeface="Consolas" panose="020B0609020204030204" pitchFamily="49" charset="0"/>
              </a:rPr>
              <a:t>A</a:t>
            </a:r>
            <a:r>
              <a:rPr lang="sr-Latn-BA" sz="2400"/>
              <a:t> podobjekta trenutnog </a:t>
            </a:r>
            <a:r>
              <a:rPr lang="sr-Latn-BA" sz="2400" b="1">
                <a:latin typeface="Consolas" panose="020B0609020204030204" pitchFamily="49" charset="0"/>
              </a:rPr>
              <a:t>C</a:t>
            </a:r>
            <a:r>
              <a:rPr lang="sr-Latn-BA" sz="2400"/>
              <a:t> objekta</a:t>
            </a:r>
          </a:p>
          <a:p>
            <a:pPr algn="just"/>
            <a:endParaRPr lang="sr-Latn-BA" sz="2400"/>
          </a:p>
          <a:p>
            <a:pPr algn="just"/>
            <a:r>
              <a:rPr lang="en-US" sz="2400"/>
              <a:t>Poziv</a:t>
            </a:r>
            <a:r>
              <a:rPr lang="en-US" sz="2400" b="1"/>
              <a:t> </a:t>
            </a:r>
            <a:r>
              <a:rPr lang="sr-Latn-BA" sz="2400" b="1">
                <a:solidFill>
                  <a:srgbClr val="795E26"/>
                </a:solidFill>
                <a:latin typeface="Consolas" panose="020B0609020204030204" pitchFamily="49" charset="0"/>
              </a:rPr>
              <a:t>func</a:t>
            </a:r>
            <a:r>
              <a:rPr lang="sr-Latn-BA" sz="2400"/>
              <a:t> nad </a:t>
            </a:r>
            <a:r>
              <a:rPr lang="sr-Latn-BA" sz="2400" b="1">
                <a:latin typeface="Consolas" panose="020B0609020204030204" pitchFamily="49" charset="0"/>
              </a:rPr>
              <a:t>X</a:t>
            </a:r>
            <a:r>
              <a:rPr lang="sr-Latn-BA" sz="2400"/>
              <a:t> podobjektom </a:t>
            </a:r>
            <a:r>
              <a:rPr lang="sr-Latn-BA" sz="2400" b="1">
                <a:latin typeface="Consolas" panose="020B0609020204030204" pitchFamily="49" charset="0"/>
              </a:rPr>
              <a:t>B</a:t>
            </a:r>
            <a:r>
              <a:rPr lang="sr-Latn-BA" sz="2400"/>
              <a:t> podobjekta trenutnog </a:t>
            </a:r>
            <a:r>
              <a:rPr lang="sr-Latn-BA" sz="2400" b="1">
                <a:latin typeface="Consolas" panose="020B0609020204030204" pitchFamily="49" charset="0"/>
              </a:rPr>
              <a:t>C</a:t>
            </a:r>
            <a:r>
              <a:rPr lang="sr-Latn-BA" sz="2400"/>
              <a:t> objekta</a:t>
            </a:r>
          </a:p>
          <a:p>
            <a:pPr marL="0" indent="0" algn="just">
              <a:buNone/>
            </a:pPr>
            <a:endParaRPr lang="sr-Latn-BA" sz="2400"/>
          </a:p>
          <a:p>
            <a:pPr algn="just"/>
            <a:endParaRPr lang="sr-Latn-BA" sz="2400"/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F050845-807A-47D4-8574-DEEC579AD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11" y="4576526"/>
            <a:ext cx="3952773" cy="1982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8C2C5-D318-455D-A9FD-B4CAFC23C1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5521" y="1265495"/>
            <a:ext cx="2723995" cy="46119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6CB86F-9D7A-4202-980E-53352EAF228B}"/>
              </a:ext>
            </a:extLst>
          </p:cNvPr>
          <p:cNvSpPr txBox="1"/>
          <p:nvPr/>
        </p:nvSpPr>
        <p:spPr>
          <a:xfrm>
            <a:off x="4629593" y="334062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r-Latn-BA" sz="2400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sr-Latn-BA" sz="2400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sz="2400" b="1">
                <a:solidFill>
                  <a:srgbClr val="795E26"/>
                </a:solidFill>
                <a:latin typeface="Consolas" panose="020B0609020204030204" pitchFamily="49" charset="0"/>
              </a:rPr>
              <a:t>func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A45F6-093F-4B5C-B131-8427CC335813}"/>
              </a:ext>
            </a:extLst>
          </p:cNvPr>
          <p:cNvSpPr txBox="1"/>
          <p:nvPr/>
        </p:nvSpPr>
        <p:spPr>
          <a:xfrm>
            <a:off x="4629593" y="4297126"/>
            <a:ext cx="3124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400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sr-Latn-BA" sz="2400" b="1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sz="2400" b="1">
                <a:solidFill>
                  <a:srgbClr val="795E26"/>
                </a:solidFill>
                <a:latin typeface="Consolas" panose="020B0609020204030204" pitchFamily="49" charset="0"/>
              </a:rPr>
              <a:t>func</a:t>
            </a:r>
            <a:r>
              <a:rPr lang="sr-Latn-BA" sz="2400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68860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Virtuelne bazne klase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71614" cy="4351338"/>
          </a:xfrm>
        </p:spPr>
        <p:txBody>
          <a:bodyPr>
            <a:normAutofit/>
          </a:bodyPr>
          <a:lstStyle/>
          <a:p>
            <a:pPr algn="just"/>
            <a:r>
              <a:rPr lang="sr-Latn-BA" sz="2400" b="1"/>
              <a:t>Virtuelno izvođenje </a:t>
            </a:r>
            <a:r>
              <a:rPr lang="sr-Latn-BA" sz="2400"/>
              <a:t>– eliminacija višestruke pojave podobjekta višestruke indirektne bazne klase, pri višestrukom izvođenju</a:t>
            </a:r>
            <a:endParaRPr lang="en-US" sz="2400"/>
          </a:p>
          <a:p>
            <a:pPr algn="just"/>
            <a:r>
              <a:rPr lang="sr-Latn-BA" sz="2200"/>
              <a:t>U objektu izvedene klase </a:t>
            </a:r>
            <a:r>
              <a:rPr lang="sr-Latn-BA" sz="2200" b="1">
                <a:latin typeface="Consolas" panose="020B0609020204030204" pitchFamily="49" charset="0"/>
              </a:rPr>
              <a:t>C</a:t>
            </a:r>
            <a:r>
              <a:rPr lang="sr-Latn-BA" sz="2200"/>
              <a:t> u čijoj hijerarhiji izvođenja je bar jednom izvršeno virtuelno izvođenje iz klase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postoji tačno jedan podobjekat tipa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koji se koristi kao zajednički podobjekat klase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za </a:t>
            </a:r>
            <a:r>
              <a:rPr lang="en-US" sz="2200"/>
              <a:t>svako virtuelno izvo</a:t>
            </a:r>
            <a:r>
              <a:rPr lang="sr-Latn-BA" sz="2200"/>
              <a:t>đenje iz klase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u toj hijerarhiji izvođenja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0A7A33-C492-4928-ABA0-08AF83A9A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8289" y="1265495"/>
            <a:ext cx="2718459" cy="4611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0B6B9C-FB03-4867-AA94-9B9996B5D183}"/>
              </a:ext>
            </a:extLst>
          </p:cNvPr>
          <p:cNvSpPr txBox="1"/>
          <p:nvPr/>
        </p:nvSpPr>
        <p:spPr>
          <a:xfrm>
            <a:off x="5386394" y="4899335"/>
            <a:ext cx="424239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074BB5-4207-4B3E-A5E6-F2EEFD806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911" y="4671118"/>
            <a:ext cx="3952772" cy="198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4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Virtuelne bazne klase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71614" cy="4351338"/>
          </a:xfrm>
        </p:spPr>
        <p:txBody>
          <a:bodyPr>
            <a:normAutofit/>
          </a:bodyPr>
          <a:lstStyle/>
          <a:p>
            <a:pPr algn="just"/>
            <a:r>
              <a:rPr lang="sr-Latn-BA" sz="2400" b="1"/>
              <a:t>Virtuelno izvođenje </a:t>
            </a:r>
            <a:r>
              <a:rPr lang="sr-Latn-BA" sz="2400"/>
              <a:t>– eliminacija višestruke pojave podobjekta višestruke indirektne bazne klase, pri višestrukom izvođenju</a:t>
            </a:r>
            <a:endParaRPr lang="en-US" sz="2400"/>
          </a:p>
          <a:p>
            <a:pPr algn="just"/>
            <a:r>
              <a:rPr lang="sr-Latn-BA" sz="2200"/>
              <a:t>U objektu izvedene klase </a:t>
            </a:r>
            <a:r>
              <a:rPr lang="sr-Latn-BA" sz="2200" b="1">
                <a:latin typeface="Consolas" panose="020B0609020204030204" pitchFamily="49" charset="0"/>
              </a:rPr>
              <a:t>C</a:t>
            </a:r>
            <a:r>
              <a:rPr lang="sr-Latn-BA" sz="2200"/>
              <a:t> u čijoj hijerarhiji izvođenja je bar jednom izvršeno virtuelno izvođenje iz klase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postoji tačno jedan podobjekat tipa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koji se koristi kao zajednički podobjekat klase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za </a:t>
            </a:r>
            <a:r>
              <a:rPr lang="en-US" sz="2200"/>
              <a:t>svako virtuelno izvo</a:t>
            </a:r>
            <a:r>
              <a:rPr lang="sr-Latn-BA" sz="2200"/>
              <a:t>đenje iz klase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 u toj hijerarhiji izvođenja</a:t>
            </a:r>
          </a:p>
          <a:p>
            <a:pPr algn="just"/>
            <a:r>
              <a:rPr lang="sr-Latn-BA" sz="2200"/>
              <a:t>Ako je neka klasa </a:t>
            </a:r>
            <a:r>
              <a:rPr lang="sr-Latn-BA" sz="2200" b="1">
                <a:latin typeface="Consolas" panose="020B0609020204030204" pitchFamily="49" charset="0"/>
              </a:rPr>
              <a:t>D</a:t>
            </a:r>
            <a:r>
              <a:rPr lang="sr-Latn-BA" sz="2200"/>
              <a:t> u toj hijerarhiji nevirtuelno izvedena iz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  <a:r>
              <a:rPr lang="sr-Latn-BA" sz="2200"/>
              <a:t>, onda ona opet sadrži sopstvenu kopiju podobjekta </a:t>
            </a:r>
            <a:r>
              <a:rPr lang="sr-Latn-BA" sz="2200" b="1">
                <a:latin typeface="Consolas" panose="020B0609020204030204" pitchFamily="49" charset="0"/>
              </a:rPr>
              <a:t>X</a:t>
            </a:r>
          </a:p>
          <a:p>
            <a:pPr algn="just"/>
            <a:endParaRPr lang="sr-Latn-BA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0A7A33-C492-4928-ABA0-08AF83A9A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8289" y="1265495"/>
            <a:ext cx="2718459" cy="4611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0B6B9C-FB03-4867-AA94-9B9996B5D183}"/>
              </a:ext>
            </a:extLst>
          </p:cNvPr>
          <p:cNvSpPr txBox="1"/>
          <p:nvPr/>
        </p:nvSpPr>
        <p:spPr>
          <a:xfrm>
            <a:off x="4422260" y="4935210"/>
            <a:ext cx="5476653" cy="175432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  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func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{};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{};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{};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074BB5-4207-4B3E-A5E6-F2EEFD806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101" y="4706993"/>
            <a:ext cx="3952772" cy="19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7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56D3-A92A-4B44-86AF-C4560270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Virtuelne bazne klase</a:t>
            </a:r>
            <a:r>
              <a:rPr lang="en-US"/>
              <a:t> – primjer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62634-A128-4360-AAA6-15CE06EF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8805" cy="4351338"/>
          </a:xfrm>
        </p:spPr>
        <p:txBody>
          <a:bodyPr/>
          <a:lstStyle/>
          <a:p>
            <a:pPr algn="just"/>
            <a:r>
              <a:rPr lang="en-US"/>
              <a:t>Nema smisla da demonstator ima posebne JMB/ime kao nastavnik, a poseb</a:t>
            </a:r>
            <a:r>
              <a:rPr lang="sr-Latn-BA"/>
              <a:t>ne</a:t>
            </a:r>
            <a:r>
              <a:rPr lang="en-US"/>
              <a:t> JMB</a:t>
            </a:r>
            <a:r>
              <a:rPr lang="sr-Latn-BA"/>
              <a:t>/ime</a:t>
            </a:r>
            <a:r>
              <a:rPr lang="en-US"/>
              <a:t> kao student!</a:t>
            </a:r>
            <a:endParaRPr lang="sr-Latn-BA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23CC8F-C0C3-4803-A33A-A97A5A8755D3}"/>
              </a:ext>
            </a:extLst>
          </p:cNvPr>
          <p:cNvSpPr txBox="1"/>
          <p:nvPr/>
        </p:nvSpPr>
        <p:spPr>
          <a:xfrm>
            <a:off x="1882281" y="3182659"/>
            <a:ext cx="341064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Osoba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... };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Nastavnik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Osoba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... };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Osoba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... };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Demonstrator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Nastavnik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... };</a:t>
            </a:r>
            <a:endParaRPr lang="sr-Latn-BA" b="1"/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0B9CCBF4-4411-4CC7-8575-78BC4ED5E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346" y="1594996"/>
            <a:ext cx="4356411" cy="5080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15CD4-38A5-400A-8474-5799D47BBBA0}"/>
              </a:ext>
            </a:extLst>
          </p:cNvPr>
          <p:cNvSpPr txBox="1"/>
          <p:nvPr/>
        </p:nvSpPr>
        <p:spPr>
          <a:xfrm>
            <a:off x="6908202" y="2809933"/>
            <a:ext cx="91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i="1"/>
              <a:t>(virtual)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80EE04-ED49-431C-8C9E-B9F55BA6B700}"/>
              </a:ext>
            </a:extLst>
          </p:cNvPr>
          <p:cNvSpPr txBox="1"/>
          <p:nvPr/>
        </p:nvSpPr>
        <p:spPr>
          <a:xfrm>
            <a:off x="9991061" y="2809933"/>
            <a:ext cx="91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i="1"/>
              <a:t>(virtual)</a:t>
            </a:r>
          </a:p>
        </p:txBody>
      </p:sp>
    </p:spTree>
    <p:extLst>
      <p:ext uri="{BB962C8B-B14F-4D97-AF65-F5344CB8AC3E}">
        <p14:creationId xmlns:p14="http://schemas.microsoft.com/office/powerpoint/2010/main" val="195491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Redoslijed konstrukcije i uništavanja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00414" cy="474529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sr-Latn-BA"/>
              <a:t>Konstruktori virtuelnih baznih klasa (bilo gdje u hijerarhiji izvođenja) se pozivaju samo jednom, pri konstrukciji najizvedenije klase</a:t>
            </a:r>
          </a:p>
          <a:p>
            <a:pPr algn="just"/>
            <a:r>
              <a:rPr lang="sr-Latn-BA"/>
              <a:t>Podobjekti virtuelnih baznih klasa iz kojih se izvodi bilo gdje u hijerarhiji izvođenja se konstruišu prije svih objekata nevirtuelnih baznih klasa iz kojih se izvodi bilo gdje u hijerarhiji izvođenja</a:t>
            </a:r>
          </a:p>
          <a:p>
            <a:pPr algn="just"/>
            <a:r>
              <a:rPr lang="sr-Latn-BA"/>
              <a:t>Moguće je specificirati inicijalizatore za podobjekte virtuelnih baznih klasa iz kojih se izvodi bilo gdje u hijerarhiji izvođenja, u inicijalizatorskoj listi konstruktora najizvedenije klase</a:t>
            </a:r>
          </a:p>
          <a:p>
            <a:pPr algn="just"/>
            <a:r>
              <a:rPr lang="sr-Latn-BA"/>
              <a:t>Konstrukcija podobjekata virtuelnih baznih klasa</a:t>
            </a:r>
            <a:r>
              <a:rPr lang="en-US"/>
              <a:t> bilo gdje u hijerarhiji izvo</a:t>
            </a:r>
            <a:r>
              <a:rPr lang="sr-Latn-BA"/>
              <a:t>đenja: redoslijed pojavljivanja pri dubinskom obilasku stabla izvođenja</a:t>
            </a:r>
            <a:r>
              <a:rPr lang="en-US"/>
              <a:t> za svaku direktnu baznu klasu</a:t>
            </a:r>
            <a:r>
              <a:rPr lang="sr-Latn-BA"/>
              <a:t>, slijeva nadesno prema redoslijedu navođenja imena baznih klasa</a:t>
            </a:r>
            <a:r>
              <a:rPr lang="en-US"/>
              <a:t> – po</a:t>
            </a:r>
            <a:r>
              <a:rPr lang="sr-Latn-BA"/>
              <a:t>čevši od objekta najizvedenije klase</a:t>
            </a:r>
          </a:p>
          <a:p>
            <a:pPr algn="just"/>
            <a:r>
              <a:rPr lang="sr-Latn-BA"/>
              <a:t>Konstrukcija podobjekata nevirtuelnih baznih klasa: s lijeva na desno</a:t>
            </a:r>
          </a:p>
          <a:p>
            <a:pPr algn="just"/>
            <a:r>
              <a:rPr lang="sr-Latn-BA"/>
              <a:t>Uništavanje – obrnut redoslijed</a:t>
            </a:r>
          </a:p>
          <a:p>
            <a:pPr algn="just"/>
            <a:endParaRPr lang="sr-Latn-BA"/>
          </a:p>
          <a:p>
            <a:pPr algn="just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23461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sr-Latn-BA" b="1"/>
              <a:t>Interfejsi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Interfejsi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179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/>
              <a:t>I</a:t>
            </a:r>
            <a:r>
              <a:rPr lang="sr-Latn-BA" b="1"/>
              <a:t>nterfejs</a:t>
            </a:r>
            <a:r>
              <a:rPr lang="en-US" b="1"/>
              <a:t> je </a:t>
            </a:r>
            <a:r>
              <a:rPr lang="sr-Latn-BA" b="1"/>
              <a:t>apstraktna </a:t>
            </a:r>
            <a:r>
              <a:rPr lang="en-US" b="1"/>
              <a:t>klasa bez podataka </a:t>
            </a:r>
            <a:r>
              <a:rPr lang="sr-Latn-BA" b="1"/>
              <a:t>članova čije su metode isključivo apstraktne javne metode</a:t>
            </a:r>
            <a:r>
              <a:rPr lang="en-US"/>
              <a:t>.</a:t>
            </a:r>
            <a:endParaRPr lang="sr-Latn-BA"/>
          </a:p>
          <a:p>
            <a:pPr algn="just"/>
            <a:r>
              <a:rPr lang="sr-Latn-BA" b="1"/>
              <a:t>Prema tome, nema implementacionih detalja u interfejsu</a:t>
            </a:r>
            <a:r>
              <a:rPr lang="en-US" b="1"/>
              <a:t>.</a:t>
            </a:r>
            <a:endParaRPr lang="sr-Latn-BA" b="1"/>
          </a:p>
          <a:p>
            <a:pPr algn="just"/>
            <a:r>
              <a:rPr lang="sr-Latn-BA"/>
              <a:t>Interfejs predstavlja ugovor koji konkretna klasa potpisuje: obavezuje se da implementira metode propisane tim interfejsom – </a:t>
            </a:r>
            <a:r>
              <a:rPr lang="sr-Latn-BA" b="1"/>
              <a:t>javni interfejs te klase mora da sadrži metode iz implementiranog interfejsa</a:t>
            </a:r>
            <a:r>
              <a:rPr lang="en-US"/>
              <a:t>.</a:t>
            </a:r>
            <a:endParaRPr lang="sr-Latn-BA"/>
          </a:p>
          <a:p>
            <a:pPr algn="just"/>
            <a:r>
              <a:rPr lang="sr-Latn-BA"/>
              <a:t>Za klasu izvedenu iz interfejsa</a:t>
            </a:r>
            <a:r>
              <a:rPr lang="en-US"/>
              <a:t>, koja implementira sve metode tog interfejsa,</a:t>
            </a:r>
            <a:r>
              <a:rPr lang="sr-Latn-BA"/>
              <a:t> kaže </a:t>
            </a:r>
            <a:r>
              <a:rPr lang="en-US"/>
              <a:t>se </a:t>
            </a:r>
            <a:r>
              <a:rPr lang="sr-Latn-BA"/>
              <a:t>da implementira (realizuje) taj interfejs</a:t>
            </a:r>
            <a:r>
              <a:rPr lang="en-US"/>
              <a:t>.</a:t>
            </a:r>
          </a:p>
          <a:p>
            <a:pPr algn="just"/>
            <a:r>
              <a:rPr lang="en-US"/>
              <a:t>Ideja je da napravimo da druge klase u programskom kodu zavise od ovakvog interfejsa, a ne od konkretnih implementacija tog interfejsa, koje se naknadno ubrizgaju.</a:t>
            </a:r>
          </a:p>
          <a:p>
            <a:pPr algn="just"/>
            <a:r>
              <a:rPr lang="en-US"/>
              <a:t>Onda se kasnije odabir konkretne implementacije mo</a:t>
            </a:r>
            <a:r>
              <a:rPr lang="sr-Latn-BA"/>
              <a:t>že lako </a:t>
            </a:r>
            <a:r>
              <a:rPr lang="en-US"/>
              <a:t>mijenjati.</a:t>
            </a:r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6276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FF49-2E2F-4B0D-A98C-3607447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Interfejsi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8FF6-B1B5-4D6D-B338-6EE3969A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17102" cy="5032375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Interfejs može biti izveden iz drugog interfejsa (tada se kaže da on proširuje taj drugi interfejs).</a:t>
            </a:r>
          </a:p>
          <a:p>
            <a:pPr algn="just"/>
            <a:r>
              <a:rPr lang="sr-Latn-BA"/>
              <a:t>Najčešće pravilo: interfejs sadrži bar virtuelni destruktor i naziv mu počinje sa </a:t>
            </a:r>
            <a:r>
              <a:rPr lang="sr-Latn-BA" b="1">
                <a:latin typeface="Consolas" panose="020B0609020204030204" pitchFamily="49" charset="0"/>
              </a:rPr>
              <a:t>I</a:t>
            </a:r>
            <a:r>
              <a:rPr lang="sr-Latn-BA"/>
              <a:t>.</a:t>
            </a:r>
            <a:endParaRPr lang="sr-Latn-BA" b="1">
              <a:latin typeface="Consolas" panose="020B0609020204030204" pitchFamily="49" charset="0"/>
            </a:endParaRPr>
          </a:p>
          <a:p>
            <a:pPr algn="just"/>
            <a:r>
              <a:rPr lang="sr-Latn-BA"/>
              <a:t>Višestruko nasljeđivanje se najčešće koristi za izvođenje iz </a:t>
            </a:r>
            <a:r>
              <a:rPr lang="en-US"/>
              <a:t>vi</a:t>
            </a:r>
            <a:r>
              <a:rPr lang="sr-Latn-BA"/>
              <a:t>še interfejsa.</a:t>
            </a:r>
          </a:p>
          <a:p>
            <a:pPr algn="just"/>
            <a:r>
              <a:rPr lang="en-US"/>
              <a:t>Odstupanja od idealnog interfejsa:</a:t>
            </a:r>
          </a:p>
          <a:p>
            <a:pPr lvl="1" algn="just"/>
            <a:r>
              <a:rPr lang="en-US"/>
              <a:t>Interfejsi </a:t>
            </a:r>
            <a:r>
              <a:rPr lang="sr-Latn-BA"/>
              <a:t>nekad </a:t>
            </a:r>
            <a:r>
              <a:rPr lang="en-US"/>
              <a:t>mogu da sadr</a:t>
            </a:r>
            <a:r>
              <a:rPr lang="sr-Latn-BA"/>
              <a:t>že podrazumijevana ponašanja (implementirane metode) koja zavise od apstraktnih metoda</a:t>
            </a:r>
          </a:p>
          <a:p>
            <a:pPr lvl="1" algn="just"/>
            <a:r>
              <a:rPr lang="sr-Latn-BA"/>
              <a:t>Interfejsi nekad mogu da sadrže zaštićene čisto virtuelne metode</a:t>
            </a:r>
          </a:p>
        </p:txBody>
      </p:sp>
    </p:spTree>
    <p:extLst>
      <p:ext uri="{BB962C8B-B14F-4D97-AF65-F5344CB8AC3E}">
        <p14:creationId xmlns:p14="http://schemas.microsoft.com/office/powerpoint/2010/main" val="380207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52DF-8AA1-446B-8D1F-9B58D0EA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Interfejsi – primjeri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E4415-DF32-448E-8881-6B5DEDB623A2}"/>
              </a:ext>
            </a:extLst>
          </p:cNvPr>
          <p:cNvSpPr txBox="1"/>
          <p:nvPr/>
        </p:nvSpPr>
        <p:spPr>
          <a:xfrm>
            <a:off x="1672076" y="2349490"/>
            <a:ext cx="8847848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IPrintable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~IPrintable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IPrintable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816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52DF-8AA1-446B-8D1F-9B58D0EA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Interfejsi – primjeri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BE4415-DF32-448E-8881-6B5DEDB623A2}"/>
              </a:ext>
            </a:extLst>
          </p:cNvPr>
          <p:cNvSpPr txBox="1"/>
          <p:nvPr/>
        </p:nvSpPr>
        <p:spPr>
          <a:xfrm>
            <a:off x="1672077" y="2354453"/>
            <a:ext cx="8847847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StringSet </a:t>
            </a:r>
            <a:endParaRPr lang="sr-Latn-BA" b="1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std::string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std::string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std::string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)(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std::string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r-Latn-BA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StringSet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71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C296-8DB4-4C94-8B6B-7E6589B0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</a:t>
            </a:r>
            <a:r>
              <a:rPr lang="en-US"/>
              <a:t>rincipi u programiranj</a:t>
            </a:r>
            <a:r>
              <a:rPr lang="sr-Latn-BA"/>
              <a:t>u i najbolje prakse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8C87-9710-469E-89F7-79F988E93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668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sr-Latn-BA" sz="2400" b="1"/>
              <a:t>Kompozicija: podobjekat je dio cjeline</a:t>
            </a:r>
            <a:endParaRPr lang="sr-Latn-BA" sz="2400"/>
          </a:p>
          <a:p>
            <a:pPr algn="just"/>
            <a:r>
              <a:rPr lang="sr-Latn-BA" sz="2400" b="1"/>
              <a:t>Nasljeđivanje: tip cjeline je podtip tipa podobjekta</a:t>
            </a:r>
            <a:r>
              <a:rPr lang="en-US" sz="2400" b="1"/>
              <a:t> i </a:t>
            </a:r>
            <a:r>
              <a:rPr lang="sr-Latn-BA" sz="2400" b="1"/>
              <a:t>podtip može zamijeniti nadtip</a:t>
            </a:r>
          </a:p>
          <a:p>
            <a:pPr algn="just"/>
            <a:r>
              <a:rPr lang="sr-Latn-BA" sz="2400"/>
              <a:t>Preferirati kompoziciju nad nasljeđivanjem ako je samo potrebna ponovna upotreba koda</a:t>
            </a:r>
            <a:r>
              <a:rPr lang="en-US" sz="2400"/>
              <a:t> (DRY)</a:t>
            </a:r>
          </a:p>
          <a:p>
            <a:pPr algn="just"/>
            <a:r>
              <a:rPr lang="sr-Latn-BA" sz="2400"/>
              <a:t>DRY – Don</a:t>
            </a:r>
            <a:r>
              <a:rPr lang="en-US" sz="2400"/>
              <a:t>’t Repeat Yourself</a:t>
            </a:r>
            <a:endParaRPr lang="sr-Latn-BA" sz="2400"/>
          </a:p>
          <a:p>
            <a:pPr algn="just"/>
            <a:r>
              <a:rPr lang="sr-Latn-BA" sz="2400"/>
              <a:t>Nasljeđivanje koristiti samo ako postoji potreba za polimorfizmom, pri čemu se ponašanje bazne klase proširuje</a:t>
            </a:r>
          </a:p>
          <a:p>
            <a:pPr algn="just"/>
            <a:r>
              <a:rPr lang="sr-Latn-BA" sz="2400"/>
              <a:t>Odluke o dizajnu – neki problem je moguće riješiti na više načina, neke hijerarhije klasa je moguće modelirati na različite načine – odabrati rješenje prilagođeno za dati problem</a:t>
            </a:r>
          </a:p>
          <a:p>
            <a:pPr algn="just"/>
            <a:r>
              <a:rPr lang="sr-Latn-BA" sz="2400"/>
              <a:t>Konfliktni zahtjevi – softverski zahtjevi nekad biti međusobno nekonzistentni</a:t>
            </a:r>
          </a:p>
          <a:p>
            <a:pPr lvl="1" algn="just"/>
            <a:r>
              <a:rPr lang="sr-Latn-BA" sz="2000"/>
              <a:t>Istaknuti ih i ponuditi alternativno rješenje</a:t>
            </a:r>
          </a:p>
          <a:p>
            <a:pPr algn="just"/>
            <a:r>
              <a:rPr lang="en-US" sz="2400"/>
              <a:t>KISS – Keep it Simple, Stupid</a:t>
            </a:r>
          </a:p>
          <a:p>
            <a:pPr algn="just"/>
            <a:r>
              <a:rPr lang="en-US" sz="2400"/>
              <a:t>YAGNI – You Aren’t Gonna Need It (mogu</a:t>
            </a:r>
            <a:r>
              <a:rPr lang="sr-Latn-BA" sz="2400"/>
              <a:t>ćnosti programa i/ili jezika</a:t>
            </a:r>
            <a:r>
              <a:rPr lang="en-US" sz="2400"/>
              <a:t>)</a:t>
            </a:r>
            <a:endParaRPr lang="sr-Latn-BA" sz="2400"/>
          </a:p>
          <a:p>
            <a:pPr algn="just"/>
            <a:r>
              <a:rPr lang="sr-Latn-BA" sz="2400"/>
              <a:t>Labava spregnutost komponenti sistema </a:t>
            </a:r>
            <a:r>
              <a:rPr lang="en-US" sz="2400"/>
              <a:t>(npr. bazne klase ne treba da, u kodu, zavise od izvedenih)</a:t>
            </a:r>
          </a:p>
        </p:txBody>
      </p:sp>
    </p:spTree>
    <p:extLst>
      <p:ext uri="{BB962C8B-B14F-4D97-AF65-F5344CB8AC3E}">
        <p14:creationId xmlns:p14="http://schemas.microsoft.com/office/powerpoint/2010/main" val="289607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7229-2857-4D55-8650-12CDC1F1F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7614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sr-Latn-BA"/>
              <a:t>Da li je pravilno da se…</a:t>
            </a:r>
            <a:endParaRPr lang="en-US"/>
          </a:p>
          <a:p>
            <a:pPr algn="just"/>
            <a:r>
              <a:rPr lang="en-US"/>
              <a:t>K</a:t>
            </a:r>
            <a:r>
              <a:rPr lang="sr-Latn-BA"/>
              <a:t>lasa </a:t>
            </a:r>
            <a:r>
              <a:rPr lang="sr-Latn-BA" b="1">
                <a:latin typeface="Consolas" panose="020B0609020204030204" pitchFamily="49" charset="0"/>
              </a:rPr>
              <a:t>RadnoMjesto</a:t>
            </a:r>
            <a:r>
              <a:rPr lang="sr-Latn-BA"/>
              <a:t> izvede iz klase </a:t>
            </a:r>
            <a:r>
              <a:rPr lang="sr-Latn-BA" b="1">
                <a:latin typeface="Consolas" panose="020B0609020204030204" pitchFamily="49" charset="0"/>
              </a:rPr>
              <a:t>Radnik</a:t>
            </a:r>
            <a:r>
              <a:rPr lang="sr-Latn-BA"/>
              <a:t>?</a:t>
            </a:r>
          </a:p>
          <a:p>
            <a:pPr algn="just"/>
            <a:r>
              <a:rPr lang="en-US"/>
              <a:t>K</a:t>
            </a:r>
            <a:r>
              <a:rPr lang="sr-Latn-BA"/>
              <a:t>lasa </a:t>
            </a:r>
            <a:r>
              <a:rPr lang="sr-Latn-BA" b="1">
                <a:latin typeface="Consolas" panose="020B0609020204030204" pitchFamily="49" charset="0"/>
              </a:rPr>
              <a:t>Radnik</a:t>
            </a:r>
            <a:r>
              <a:rPr lang="sr-Latn-BA"/>
              <a:t> izvede iz klase </a:t>
            </a:r>
            <a:r>
              <a:rPr lang="sr-Latn-BA" b="1">
                <a:latin typeface="Consolas" panose="020B0609020204030204" pitchFamily="49" charset="0"/>
              </a:rPr>
              <a:t>RadnoMjesto</a:t>
            </a:r>
            <a:r>
              <a:rPr lang="sr-Latn-BA"/>
              <a:t>?</a:t>
            </a:r>
          </a:p>
          <a:p>
            <a:pPr algn="just"/>
            <a:r>
              <a:rPr lang="en-US"/>
              <a:t>K</a:t>
            </a:r>
            <a:r>
              <a:rPr lang="sr-Latn-BA"/>
              <a:t>lasa </a:t>
            </a:r>
            <a:r>
              <a:rPr lang="sr-Latn-BA" b="1">
                <a:latin typeface="Consolas" panose="020B0609020204030204" pitchFamily="49" charset="0"/>
              </a:rPr>
              <a:t>Firma</a:t>
            </a:r>
            <a:r>
              <a:rPr lang="sr-Latn-BA"/>
              <a:t> izvede iz klasa </a:t>
            </a:r>
            <a:r>
              <a:rPr lang="sr-Latn-BA" b="1">
                <a:latin typeface="Consolas" panose="020B0609020204030204" pitchFamily="49" charset="0"/>
              </a:rPr>
              <a:t>RadnoMjesto</a:t>
            </a:r>
            <a:r>
              <a:rPr lang="sr-Latn-BA" b="1"/>
              <a:t> </a:t>
            </a:r>
            <a:r>
              <a:rPr lang="sr-Latn-BA"/>
              <a:t>i </a:t>
            </a:r>
            <a:r>
              <a:rPr lang="sr-Latn-BA" b="1">
                <a:latin typeface="Consolas" panose="020B0609020204030204" pitchFamily="49" charset="0"/>
              </a:rPr>
              <a:t>Radnik</a:t>
            </a:r>
            <a:r>
              <a:rPr lang="sr-Latn-BA"/>
              <a:t>?</a:t>
            </a:r>
          </a:p>
          <a:p>
            <a:pPr algn="just"/>
            <a:r>
              <a:rPr lang="en-US"/>
              <a:t>Klasa </a:t>
            </a:r>
            <a:r>
              <a:rPr lang="en-US" b="1">
                <a:latin typeface="Consolas" panose="020B0609020204030204" pitchFamily="49" charset="0"/>
              </a:rPr>
              <a:t>Radnik</a:t>
            </a:r>
            <a:r>
              <a:rPr lang="en-US"/>
              <a:t> izvede iz klase </a:t>
            </a:r>
            <a:r>
              <a:rPr lang="en-US" b="1">
                <a:latin typeface="Consolas" panose="020B0609020204030204" pitchFamily="49" charset="0"/>
              </a:rPr>
              <a:t>Osoba</a:t>
            </a:r>
            <a:r>
              <a:rPr lang="en-US"/>
              <a:t>?</a:t>
            </a:r>
          </a:p>
          <a:p>
            <a:pPr algn="just"/>
            <a:r>
              <a:rPr lang="en-US"/>
              <a:t>Klasa </a:t>
            </a:r>
            <a:r>
              <a:rPr lang="en-US" b="1">
                <a:latin typeface="Consolas" panose="020B0609020204030204" pitchFamily="49" charset="0"/>
              </a:rPr>
              <a:t>Osoba</a:t>
            </a:r>
            <a:r>
              <a:rPr lang="en-US"/>
              <a:t> izvede iz kla</a:t>
            </a:r>
            <a:r>
              <a:rPr lang="sr-Latn-BA"/>
              <a:t>sa</a:t>
            </a:r>
            <a:r>
              <a:rPr lang="en-US"/>
              <a:t> </a:t>
            </a:r>
            <a:r>
              <a:rPr lang="en-US" b="1">
                <a:latin typeface="Consolas" panose="020B0609020204030204" pitchFamily="49" charset="0"/>
              </a:rPr>
              <a:t>Radnik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Mušterija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Konsultant</a:t>
            </a:r>
            <a:r>
              <a:rPr lang="sr-Latn-BA"/>
              <a:t>, ...</a:t>
            </a:r>
            <a:r>
              <a:rPr lang="en-US"/>
              <a:t>?</a:t>
            </a:r>
            <a:endParaRPr lang="sr-Latn-BA"/>
          </a:p>
          <a:p>
            <a:pPr algn="just"/>
            <a:r>
              <a:rPr lang="sr-Latn-BA"/>
              <a:t>Ako je </a:t>
            </a:r>
            <a:r>
              <a:rPr lang="sr-Latn-BA" b="1">
                <a:latin typeface="Consolas" panose="020B0609020204030204" pitchFamily="49" charset="0"/>
              </a:rPr>
              <a:t>Radnik</a:t>
            </a:r>
            <a:r>
              <a:rPr lang="sr-Latn-BA"/>
              <a:t> podtip tipa </a:t>
            </a:r>
            <a:r>
              <a:rPr lang="sr-Latn-BA" b="1">
                <a:latin typeface="Consolas" panose="020B0609020204030204" pitchFamily="49" charset="0"/>
              </a:rPr>
              <a:t>Osoba</a:t>
            </a:r>
            <a:r>
              <a:rPr lang="sr-Latn-BA"/>
              <a:t>, da li onda </a:t>
            </a:r>
            <a:r>
              <a:rPr lang="sr-Latn-BA" b="1">
                <a:latin typeface="Consolas" panose="020B0609020204030204" pitchFamily="49" charset="0"/>
              </a:rPr>
              <a:t>ListaRadnika</a:t>
            </a:r>
            <a:r>
              <a:rPr lang="sr-Latn-BA"/>
              <a:t> treba biti podtip tipa </a:t>
            </a:r>
            <a:r>
              <a:rPr lang="sr-Latn-BA" b="1">
                <a:latin typeface="Consolas" panose="020B0609020204030204" pitchFamily="49" charset="0"/>
              </a:rPr>
              <a:t>ListaOsoba</a:t>
            </a:r>
            <a:r>
              <a:rPr lang="sr-Latn-BA"/>
              <a:t>?</a:t>
            </a:r>
          </a:p>
          <a:p>
            <a:pPr algn="just"/>
            <a:r>
              <a:rPr lang="sr-Latn-BA"/>
              <a:t>Ako je </a:t>
            </a:r>
            <a:r>
              <a:rPr lang="sr-Latn-BA" b="1">
                <a:latin typeface="Consolas" panose="020B0609020204030204" pitchFamily="49" charset="0"/>
              </a:rPr>
              <a:t>Automobil</a:t>
            </a:r>
            <a:r>
              <a:rPr lang="sr-Latn-BA"/>
              <a:t> podtip tipa </a:t>
            </a:r>
            <a:r>
              <a:rPr lang="sr-Latn-BA" b="1">
                <a:latin typeface="Consolas" panose="020B0609020204030204" pitchFamily="49" charset="0"/>
              </a:rPr>
              <a:t>Vozilo</a:t>
            </a:r>
            <a:r>
              <a:rPr lang="sr-Latn-BA"/>
              <a:t>, da li onda </a:t>
            </a:r>
            <a:r>
              <a:rPr lang="sr-Latn-BA" b="1">
                <a:latin typeface="Consolas" panose="020B0609020204030204" pitchFamily="49" charset="0"/>
              </a:rPr>
              <a:t>ListaAutomobila</a:t>
            </a:r>
            <a:r>
              <a:rPr lang="sr-Latn-BA"/>
              <a:t> treba biti podtip tipa </a:t>
            </a:r>
            <a:r>
              <a:rPr lang="sr-Latn-BA" b="1">
                <a:latin typeface="Consolas" panose="020B0609020204030204" pitchFamily="49" charset="0"/>
              </a:rPr>
              <a:t>ListaVozila</a:t>
            </a:r>
            <a:r>
              <a:rPr lang="sr-Latn-BA"/>
              <a:t>?</a:t>
            </a:r>
            <a:endParaRPr lang="sr-Latn-BA" b="1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250478-9D7E-45D9-B4E5-B001B313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Pitanja za vje</a:t>
            </a:r>
            <a:r>
              <a:rPr lang="sr-Latn-BA"/>
              <a:t>žbu</a:t>
            </a:r>
          </a:p>
        </p:txBody>
      </p:sp>
    </p:spTree>
    <p:extLst>
      <p:ext uri="{BB962C8B-B14F-4D97-AF65-F5344CB8AC3E}">
        <p14:creationId xmlns:p14="http://schemas.microsoft.com/office/powerpoint/2010/main" val="110757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7229-2857-4D55-8650-12CDC1F1F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7614" cy="4351338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Da li je pravilno da se…</a:t>
            </a:r>
            <a:endParaRPr lang="en-US"/>
          </a:p>
          <a:p>
            <a:pPr algn="just"/>
            <a:r>
              <a:rPr lang="en-US"/>
              <a:t>K</a:t>
            </a:r>
            <a:r>
              <a:rPr lang="sr-Latn-BA"/>
              <a:t>lasa </a:t>
            </a:r>
            <a:r>
              <a:rPr lang="sr-Latn-BA" b="1">
                <a:latin typeface="Consolas" panose="020B0609020204030204" pitchFamily="49" charset="0"/>
              </a:rPr>
              <a:t>Circle</a:t>
            </a:r>
            <a:r>
              <a:rPr lang="sr-Latn-BA"/>
              <a:t> izvede iz klase </a:t>
            </a:r>
            <a:r>
              <a:rPr lang="sr-Latn-BA" b="1">
                <a:latin typeface="Consolas" panose="020B0609020204030204" pitchFamily="49" charset="0"/>
              </a:rPr>
              <a:t>Ellipse</a:t>
            </a:r>
            <a:r>
              <a:rPr lang="sr-Latn-BA"/>
              <a:t>?</a:t>
            </a:r>
          </a:p>
          <a:p>
            <a:pPr algn="just"/>
            <a:r>
              <a:rPr lang="en-US"/>
              <a:t>K</a:t>
            </a:r>
            <a:r>
              <a:rPr lang="sr-Latn-BA"/>
              <a:t>lasa </a:t>
            </a:r>
            <a:r>
              <a:rPr lang="sr-Latn-BA" b="1">
                <a:latin typeface="Consolas" panose="020B0609020204030204" pitchFamily="49" charset="0"/>
              </a:rPr>
              <a:t>Ellipse</a:t>
            </a:r>
            <a:r>
              <a:rPr lang="sr-Latn-BA"/>
              <a:t> izvede iz klase </a:t>
            </a:r>
            <a:r>
              <a:rPr lang="sr-Latn-BA" b="1">
                <a:latin typeface="Consolas" panose="020B0609020204030204" pitchFamily="49" charset="0"/>
              </a:rPr>
              <a:t>Circle</a:t>
            </a:r>
            <a:r>
              <a:rPr lang="sr-Latn-BA"/>
              <a:t>?</a:t>
            </a:r>
          </a:p>
          <a:p>
            <a:pPr algn="just"/>
            <a:r>
              <a:rPr lang="en-US"/>
              <a:t>K</a:t>
            </a:r>
            <a:r>
              <a:rPr lang="sr-Latn-BA"/>
              <a:t>lasa </a:t>
            </a:r>
            <a:r>
              <a:rPr lang="sr-Latn-BA" b="1">
                <a:latin typeface="Consolas" panose="020B0609020204030204" pitchFamily="49" charset="0"/>
              </a:rPr>
              <a:t>Vector2D</a:t>
            </a:r>
            <a:r>
              <a:rPr lang="sr-Latn-BA"/>
              <a:t> izvede iz klase </a:t>
            </a:r>
            <a:r>
              <a:rPr lang="sr-Latn-BA" b="1">
                <a:latin typeface="Consolas" panose="020B0609020204030204" pitchFamily="49" charset="0"/>
              </a:rPr>
              <a:t>Vector3D</a:t>
            </a:r>
            <a:r>
              <a:rPr lang="sr-Latn-BA"/>
              <a:t>?</a:t>
            </a:r>
          </a:p>
          <a:p>
            <a:pPr algn="just"/>
            <a:r>
              <a:rPr lang="en-US"/>
              <a:t>K</a:t>
            </a:r>
            <a:r>
              <a:rPr lang="sr-Latn-BA"/>
              <a:t>lasa </a:t>
            </a:r>
            <a:r>
              <a:rPr lang="sr-Latn-BA" b="1">
                <a:latin typeface="Consolas" panose="020B0609020204030204" pitchFamily="49" charset="0"/>
              </a:rPr>
              <a:t>Vector</a:t>
            </a:r>
            <a:r>
              <a:rPr lang="en-US" b="1">
                <a:latin typeface="Consolas" panose="020B0609020204030204" pitchFamily="49" charset="0"/>
              </a:rPr>
              <a:t>4</a:t>
            </a:r>
            <a:r>
              <a:rPr lang="sr-Latn-BA" b="1">
                <a:latin typeface="Consolas" panose="020B0609020204030204" pitchFamily="49" charset="0"/>
              </a:rPr>
              <a:t>D</a:t>
            </a:r>
            <a:r>
              <a:rPr lang="sr-Latn-BA"/>
              <a:t> izvede iz klase </a:t>
            </a:r>
            <a:r>
              <a:rPr lang="sr-Latn-BA" b="1">
                <a:latin typeface="Consolas" panose="020B0609020204030204" pitchFamily="49" charset="0"/>
              </a:rPr>
              <a:t>Vector</a:t>
            </a:r>
            <a:r>
              <a:rPr lang="en-US" b="1">
                <a:latin typeface="Consolas" panose="020B0609020204030204" pitchFamily="49" charset="0"/>
              </a:rPr>
              <a:t>3</a:t>
            </a:r>
            <a:r>
              <a:rPr lang="sr-Latn-BA" b="1">
                <a:latin typeface="Consolas" panose="020B0609020204030204" pitchFamily="49" charset="0"/>
              </a:rPr>
              <a:t>D</a:t>
            </a:r>
            <a:r>
              <a:rPr lang="sr-Latn-BA"/>
              <a:t>?</a:t>
            </a:r>
          </a:p>
          <a:p>
            <a:pPr algn="just"/>
            <a:r>
              <a:rPr lang="en-US"/>
              <a:t>K</a:t>
            </a:r>
            <a:r>
              <a:rPr lang="sr-Latn-BA"/>
              <a:t>las</a:t>
            </a:r>
            <a:r>
              <a:rPr lang="en-US"/>
              <a:t>a</a:t>
            </a:r>
            <a:r>
              <a:rPr lang="sr-Latn-BA"/>
              <a:t> </a:t>
            </a:r>
            <a:r>
              <a:rPr lang="sr-Latn-BA" b="1">
                <a:latin typeface="Consolas" panose="020B0609020204030204" pitchFamily="49" charset="0"/>
              </a:rPr>
              <a:t>SortedArray</a:t>
            </a:r>
            <a:r>
              <a:rPr lang="sr-Latn-BA"/>
              <a:t> izvede iz klase </a:t>
            </a:r>
            <a:r>
              <a:rPr lang="sr-Latn-BA" b="1">
                <a:latin typeface="Consolas" panose="020B0609020204030204" pitchFamily="49" charset="0"/>
              </a:rPr>
              <a:t>Array</a:t>
            </a:r>
            <a:r>
              <a:rPr lang="sr-Latn-BA"/>
              <a:t>?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250478-9D7E-45D9-B4E5-B001B313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Pitanja za vje</a:t>
            </a:r>
            <a:r>
              <a:rPr lang="sr-Latn-BA"/>
              <a:t>žbu</a:t>
            </a:r>
          </a:p>
        </p:txBody>
      </p:sp>
    </p:spTree>
    <p:extLst>
      <p:ext uri="{BB962C8B-B14F-4D97-AF65-F5344CB8AC3E}">
        <p14:creationId xmlns:p14="http://schemas.microsoft.com/office/powerpoint/2010/main" val="97481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1679</Words>
  <Application>Microsoft Office PowerPoint</Application>
  <PresentationFormat>Widescreen</PresentationFormat>
  <Paragraphs>259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Programski jezici 1</vt:lpstr>
      <vt:lpstr>Višestruko nasljeđivanje</vt:lpstr>
      <vt:lpstr>Dijamant šema</vt:lpstr>
      <vt:lpstr>Dijamant šema</vt:lpstr>
      <vt:lpstr>Virtuelne bazne klase</vt:lpstr>
      <vt:lpstr>Virtuelne bazne klase</vt:lpstr>
      <vt:lpstr>Virtuelne bazne klase – primjer</vt:lpstr>
      <vt:lpstr>Redoslijed konstrukcije i uništavanja</vt:lpstr>
      <vt:lpstr>Programski jezici 1</vt:lpstr>
      <vt:lpstr>Interfejsi</vt:lpstr>
      <vt:lpstr>Interfejsi</vt:lpstr>
      <vt:lpstr>Interfejsi – primjeri</vt:lpstr>
      <vt:lpstr>Interfejsi – primjeri</vt:lpstr>
      <vt:lpstr>Principi u programiranju i najbolje prakse</vt:lpstr>
      <vt:lpstr>Pitanja za vježbu</vt:lpstr>
      <vt:lpstr>Pitanja za vježbu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2</cp:revision>
  <dcterms:created xsi:type="dcterms:W3CDTF">2021-09-29T13:55:43Z</dcterms:created>
  <dcterms:modified xsi:type="dcterms:W3CDTF">2024-12-15T17:54:32Z</dcterms:modified>
</cp:coreProperties>
</file>