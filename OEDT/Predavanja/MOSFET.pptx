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3" r:id="rId2"/>
    <p:sldId id="325" r:id="rId3"/>
    <p:sldId id="282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30" r:id="rId19"/>
    <p:sldId id="360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68" r:id="rId28"/>
    <p:sldId id="369" r:id="rId29"/>
    <p:sldId id="370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551F-ACEA-4288-B4AB-7BBADD2E1C23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AE798-E2FD-46F8-B6E0-8F35712B15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551F-ACEA-4288-B4AB-7BBADD2E1C23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AE798-E2FD-46F8-B6E0-8F35712B15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551F-ACEA-4288-B4AB-7BBADD2E1C23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AE798-E2FD-46F8-B6E0-8F35712B15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551F-ACEA-4288-B4AB-7BBADD2E1C23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AE798-E2FD-46F8-B6E0-8F35712B15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551F-ACEA-4288-B4AB-7BBADD2E1C23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AE798-E2FD-46F8-B6E0-8F35712B15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551F-ACEA-4288-B4AB-7BBADD2E1C23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AE798-E2FD-46F8-B6E0-8F35712B15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551F-ACEA-4288-B4AB-7BBADD2E1C23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AE798-E2FD-46F8-B6E0-8F35712B15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551F-ACEA-4288-B4AB-7BBADD2E1C23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AE798-E2FD-46F8-B6E0-8F35712B15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551F-ACEA-4288-B4AB-7BBADD2E1C23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AE798-E2FD-46F8-B6E0-8F35712B15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551F-ACEA-4288-B4AB-7BBADD2E1C23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AE798-E2FD-46F8-B6E0-8F35712B15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551F-ACEA-4288-B4AB-7BBADD2E1C23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AE798-E2FD-46F8-B6E0-8F35712B15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5551F-ACEA-4288-B4AB-7BBADD2E1C23}" type="datetimeFigureOut">
              <a:rPr lang="en-US" smtClean="0"/>
              <a:pPr/>
              <a:t>11/15/2024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AE798-E2FD-46F8-B6E0-8F35712B153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UNIPOLARNI</a:t>
            </a:r>
            <a:r>
              <a:rPr lang="sr-Latn-RS" b="1" dirty="0" smtClean="0">
                <a:latin typeface="Times New Roman" pitchFamily="18" charset="0"/>
                <a:cs typeface="Times New Roman" pitchFamily="18" charset="0"/>
              </a:rPr>
              <a:t> TRANZISTORI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</a:t>
            </a:r>
            <a:r>
              <a:rPr lang="sr-Latn-RS" dirty="0" smtClean="0">
                <a:solidFill>
                  <a:srgbClr val="FF0000"/>
                </a:solidFill>
              </a:rPr>
              <a:t>rof. dr Tatjana </a:t>
            </a:r>
            <a:r>
              <a:rPr lang="sr-Latn-RS" dirty="0" smtClean="0">
                <a:solidFill>
                  <a:srgbClr val="FF0000"/>
                </a:solidFill>
              </a:rPr>
              <a:t>Pešić-Brđanin</a:t>
            </a:r>
            <a:endParaRPr lang="sr-Latn-RS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52400" y="1524000"/>
            <a:ext cx="8839200" cy="17526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Latn-CS" sz="4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Tranzistori </a:t>
            </a:r>
            <a:r>
              <a:rPr kumimoji="0" lang="sr-Latn-CS" sz="4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sa efektom polja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r-Latn-CS" sz="4800" b="1" dirty="0" smtClean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en-US" sz="4800" b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0" lang="sr-Latn-CS" sz="4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JFET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lang="sr-Latn-CS" sz="4800" b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MOSFET</a:t>
            </a:r>
            <a:endParaRPr kumimoji="0" lang="en-US" sz="48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152400"/>
            <a:ext cx="1701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MOS</a:t>
            </a:r>
            <a:r>
              <a:rPr lang="sr-Latn-RS" sz="3200" b="1" dirty="0" smtClean="0">
                <a:solidFill>
                  <a:srgbClr val="FF0000"/>
                </a:solidFill>
              </a:rPr>
              <a:t>FET 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1066800"/>
            <a:ext cx="914400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70C0"/>
                </a:solidFill>
              </a:rPr>
              <a:t>MOS</a:t>
            </a:r>
            <a:r>
              <a:rPr lang="sr-Latn-RS" sz="2800" b="1" dirty="0" smtClean="0">
                <a:solidFill>
                  <a:srgbClr val="0070C0"/>
                </a:solidFill>
              </a:rPr>
              <a:t>FET – </a:t>
            </a:r>
            <a:r>
              <a:rPr lang="en-US" sz="2800" b="1" dirty="0" smtClean="0">
                <a:solidFill>
                  <a:srgbClr val="0070C0"/>
                </a:solidFill>
              </a:rPr>
              <a:t>Metal Oxide Semiconductor </a:t>
            </a:r>
            <a:r>
              <a:rPr lang="sr-Latn-RS" sz="2800" b="1" dirty="0" smtClean="0">
                <a:solidFill>
                  <a:srgbClr val="0070C0"/>
                </a:solidFill>
              </a:rPr>
              <a:t>Field Effect Transistor</a:t>
            </a:r>
          </a:p>
          <a:p>
            <a:endParaRPr lang="sr-Latn-RS" sz="2800" dirty="0" smtClean="0"/>
          </a:p>
          <a:p>
            <a:pPr>
              <a:spcAft>
                <a:spcPts val="1200"/>
              </a:spcAft>
            </a:pPr>
            <a:r>
              <a:rPr lang="pl-PL" sz="2400" dirty="0" smtClean="0"/>
              <a:t> </a:t>
            </a:r>
            <a:r>
              <a:rPr lang="en-US" sz="2400" dirty="0" smtClean="0"/>
              <a:t>MOS </a:t>
            </a:r>
            <a:r>
              <a:rPr lang="en-US" sz="2400" dirty="0" err="1" smtClean="0"/>
              <a:t>tranzistor</a:t>
            </a:r>
            <a:r>
              <a:rPr lang="en-US" sz="2400" dirty="0" smtClean="0"/>
              <a:t> je </a:t>
            </a:r>
            <a:r>
              <a:rPr lang="en-US" sz="2400" dirty="0" err="1" smtClean="0"/>
              <a:t>poluprovodni</a:t>
            </a:r>
            <a:r>
              <a:rPr lang="sr-Latn-RS" sz="2400" dirty="0" smtClean="0"/>
              <a:t>č</a:t>
            </a:r>
            <a:r>
              <a:rPr lang="en-US" sz="2400" dirty="0" smtClean="0"/>
              <a:t>ka </a:t>
            </a:r>
            <a:r>
              <a:rPr lang="en-US" sz="2400" dirty="0" err="1" smtClean="0"/>
              <a:t>komponenta</a:t>
            </a:r>
            <a:r>
              <a:rPr lang="en-US" sz="2400" dirty="0" smtClean="0"/>
              <a:t> </a:t>
            </a:r>
            <a:r>
              <a:rPr lang="en-US" sz="2400" dirty="0" err="1" smtClean="0"/>
              <a:t>koja</a:t>
            </a:r>
            <a:r>
              <a:rPr lang="en-US" sz="2400" dirty="0" smtClean="0"/>
              <a:t> se </a:t>
            </a:r>
            <a:r>
              <a:rPr lang="en-US" sz="2400" dirty="0" err="1" smtClean="0"/>
              <a:t>tehnološki</a:t>
            </a:r>
            <a:r>
              <a:rPr lang="en-US" sz="2400" dirty="0" smtClean="0"/>
              <a:t> </a:t>
            </a:r>
            <a:r>
              <a:rPr lang="en-US" sz="2400" dirty="0" err="1" smtClean="0"/>
              <a:t>realizuje</a:t>
            </a:r>
            <a:r>
              <a:rPr lang="en-US" sz="2400" dirty="0" smtClean="0"/>
              <a:t> </a:t>
            </a:r>
            <a:r>
              <a:rPr lang="en-US" sz="2400" dirty="0" err="1" smtClean="0"/>
              <a:t>sa</a:t>
            </a:r>
            <a:r>
              <a:rPr lang="en-US" sz="2400" dirty="0" smtClean="0"/>
              <a:t> </a:t>
            </a:r>
            <a:r>
              <a:rPr lang="sr-Latn-RS" sz="2400" dirty="0" smtClean="0"/>
              <a:t>č</a:t>
            </a:r>
            <a:r>
              <a:rPr lang="en-US" sz="2400" dirty="0" err="1" smtClean="0"/>
              <a:t>etiri</a:t>
            </a:r>
            <a:r>
              <a:rPr lang="sr-Latn-RS" sz="2400" dirty="0" smtClean="0"/>
              <a:t> </a:t>
            </a:r>
            <a:r>
              <a:rPr lang="en-US" sz="2400" dirty="0" err="1" smtClean="0"/>
              <a:t>elektrode</a:t>
            </a:r>
            <a:r>
              <a:rPr lang="en-US" sz="2400" dirty="0" smtClean="0"/>
              <a:t>. </a:t>
            </a:r>
            <a:r>
              <a:rPr lang="en-US" sz="2400" dirty="0" err="1" smtClean="0"/>
              <a:t>Elektrode</a:t>
            </a:r>
            <a:r>
              <a:rPr lang="en-US" sz="2400" dirty="0" smtClean="0"/>
              <a:t> se </a:t>
            </a:r>
            <a:r>
              <a:rPr lang="en-US" sz="2400" dirty="0" err="1" smtClean="0"/>
              <a:t>nazivaju</a:t>
            </a:r>
            <a:r>
              <a:rPr lang="en-US" sz="2400" dirty="0" smtClean="0"/>
              <a:t> </a:t>
            </a:r>
            <a:r>
              <a:rPr lang="en-US" sz="2400" i="1" dirty="0" err="1" smtClean="0"/>
              <a:t>sors</a:t>
            </a:r>
            <a:r>
              <a:rPr lang="en-US" sz="2400" i="1" dirty="0" smtClean="0"/>
              <a:t>, </a:t>
            </a:r>
            <a:r>
              <a:rPr lang="en-US" sz="2400" i="1" dirty="0" err="1" smtClean="0"/>
              <a:t>drejn</a:t>
            </a:r>
            <a:r>
              <a:rPr lang="en-US" sz="2400" i="1" dirty="0" smtClean="0"/>
              <a:t>, </a:t>
            </a:r>
            <a:r>
              <a:rPr lang="en-US" sz="2400" i="1" dirty="0" err="1" smtClean="0"/>
              <a:t>gejt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i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supstrat</a:t>
            </a:r>
            <a:r>
              <a:rPr lang="sr-Latn-RS" sz="2400" i="1" dirty="0" smtClean="0"/>
              <a:t> </a:t>
            </a:r>
            <a:r>
              <a:rPr lang="en-US" sz="2400" dirty="0" smtClean="0"/>
              <a:t>(source, drain, gate, bulk). U </a:t>
            </a:r>
            <a:r>
              <a:rPr lang="en-US" sz="2400" dirty="0" err="1" smtClean="0"/>
              <a:t>zavisnosti</a:t>
            </a:r>
            <a:r>
              <a:rPr lang="en-US" sz="2400" dirty="0" smtClean="0"/>
              <a:t> </a:t>
            </a:r>
            <a:r>
              <a:rPr lang="en-US" sz="2400" dirty="0" err="1" smtClean="0"/>
              <a:t>od</a:t>
            </a:r>
            <a:r>
              <a:rPr lang="en-US" sz="2400" dirty="0" smtClean="0"/>
              <a:t> </a:t>
            </a:r>
            <a:r>
              <a:rPr lang="en-US" sz="2400" dirty="0" err="1" smtClean="0"/>
              <a:t>tehnološke</a:t>
            </a:r>
            <a:r>
              <a:rPr lang="en-US" sz="2400" dirty="0" smtClean="0"/>
              <a:t> </a:t>
            </a:r>
            <a:r>
              <a:rPr lang="en-US" sz="2400" dirty="0" err="1" smtClean="0"/>
              <a:t>realizacije</a:t>
            </a:r>
            <a:r>
              <a:rPr lang="sr-Latn-RS" sz="2400" dirty="0" smtClean="0"/>
              <a:t> (tj. tipa kanala)</a:t>
            </a:r>
            <a:r>
              <a:rPr lang="en-US" sz="2400" dirty="0" smtClean="0"/>
              <a:t>,</a:t>
            </a:r>
            <a:r>
              <a:rPr lang="sr-Latn-RS" sz="2400" dirty="0" smtClean="0"/>
              <a:t> </a:t>
            </a:r>
            <a:r>
              <a:rPr lang="en-US" sz="2400" dirty="0" err="1" smtClean="0"/>
              <a:t>razlikuju</a:t>
            </a:r>
            <a:r>
              <a:rPr lang="en-US" sz="2400" dirty="0" smtClean="0"/>
              <a:t> se </a:t>
            </a:r>
            <a:r>
              <a:rPr lang="en-US" sz="2400" dirty="0" err="1" smtClean="0"/>
              <a:t>dve</a:t>
            </a:r>
            <a:r>
              <a:rPr lang="en-US" sz="2400" dirty="0" smtClean="0"/>
              <a:t> </a:t>
            </a:r>
            <a:r>
              <a:rPr lang="en-US" sz="2400" dirty="0" err="1" smtClean="0"/>
              <a:t>vrste</a:t>
            </a:r>
            <a:r>
              <a:rPr lang="en-US" sz="2400" dirty="0" smtClean="0"/>
              <a:t> MOS </a:t>
            </a:r>
            <a:r>
              <a:rPr lang="en-US" sz="2400" dirty="0" err="1" smtClean="0"/>
              <a:t>tranzistora</a:t>
            </a:r>
            <a:r>
              <a:rPr lang="en-US" sz="2400" dirty="0" smtClean="0"/>
              <a:t>:</a:t>
            </a:r>
            <a:endParaRPr lang="sr-Latn-RS" sz="2400" dirty="0" smtClean="0"/>
          </a:p>
          <a:p>
            <a:pPr lvl="1">
              <a:spcAft>
                <a:spcPts val="1200"/>
              </a:spcAft>
              <a:buFont typeface="Wingdings" pitchFamily="2" charset="2"/>
              <a:buChar char="q"/>
            </a:pPr>
            <a:r>
              <a:rPr lang="sr-Latn-RS" sz="2400" dirty="0" smtClean="0"/>
              <a:t> NMOS tranzistor,</a:t>
            </a:r>
          </a:p>
          <a:p>
            <a:pPr lvl="1">
              <a:spcAft>
                <a:spcPts val="1200"/>
              </a:spcAft>
              <a:buFont typeface="Wingdings" pitchFamily="2" charset="2"/>
              <a:buChar char="q"/>
            </a:pPr>
            <a:r>
              <a:rPr lang="sr-Latn-RS" sz="2400" dirty="0" smtClean="0"/>
              <a:t> PMOS tranzistor.</a:t>
            </a:r>
          </a:p>
          <a:p>
            <a:pPr>
              <a:spcAft>
                <a:spcPts val="1200"/>
              </a:spcAft>
            </a:pPr>
            <a:r>
              <a:rPr lang="sr-Latn-RS" sz="2400" dirty="0" smtClean="0"/>
              <a:t>U zavisnosti od nastanka kanala, razlikuju se:</a:t>
            </a:r>
          </a:p>
          <a:p>
            <a:pPr lvl="1">
              <a:spcAft>
                <a:spcPts val="1200"/>
              </a:spcAft>
              <a:buFont typeface="Wingdings" pitchFamily="2" charset="2"/>
              <a:buChar char="q"/>
            </a:pPr>
            <a:r>
              <a:rPr lang="sr-Latn-RS" sz="2400" dirty="0" smtClean="0"/>
              <a:t> tranzistori sa ugrađenim kanalom i </a:t>
            </a:r>
          </a:p>
          <a:p>
            <a:pPr lvl="1">
              <a:spcAft>
                <a:spcPts val="1200"/>
              </a:spcAft>
              <a:buFont typeface="Wingdings" pitchFamily="2" charset="2"/>
              <a:buChar char="q"/>
            </a:pPr>
            <a:r>
              <a:rPr lang="sr-Latn-RS" sz="2400" dirty="0" smtClean="0"/>
              <a:t> tranzistori sa indukovanim kanalom. 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3505200"/>
            <a:ext cx="21336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5638800"/>
            <a:ext cx="4495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0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400" b="1" dirty="0" smtClean="0"/>
              <a:t>Struktura MOS tranzistora</a:t>
            </a:r>
            <a:endParaRPr lang="en-US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4950" y="546109"/>
            <a:ext cx="6115050" cy="2578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057400" y="3124200"/>
            <a:ext cx="5257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Popre</a:t>
            </a:r>
            <a:r>
              <a:rPr lang="sr-Latn-RS" b="1" dirty="0" smtClean="0"/>
              <a:t>č</a:t>
            </a:r>
            <a:r>
              <a:rPr lang="en-US" b="1" dirty="0" err="1" smtClean="0"/>
              <a:t>ni</a:t>
            </a:r>
            <a:r>
              <a:rPr lang="en-US" b="1" dirty="0" smtClean="0"/>
              <a:t> </a:t>
            </a:r>
            <a:r>
              <a:rPr lang="en-US" b="1" dirty="0" err="1" smtClean="0"/>
              <a:t>presek</a:t>
            </a:r>
            <a:r>
              <a:rPr lang="en-US" b="1" dirty="0" smtClean="0"/>
              <a:t> NMOS (a) </a:t>
            </a:r>
            <a:r>
              <a:rPr lang="en-US" b="1" dirty="0" err="1" smtClean="0"/>
              <a:t>i</a:t>
            </a:r>
            <a:r>
              <a:rPr lang="en-US" b="1" dirty="0" smtClean="0"/>
              <a:t> PMOS (b) </a:t>
            </a:r>
            <a:r>
              <a:rPr lang="en-US" b="1" dirty="0" err="1" smtClean="0"/>
              <a:t>tranzistora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52400" y="3429000"/>
            <a:ext cx="8763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Na </a:t>
            </a:r>
            <a:r>
              <a:rPr lang="en-US" sz="2400" dirty="0" err="1" smtClean="0"/>
              <a:t>silicijumsku</a:t>
            </a:r>
            <a:r>
              <a:rPr lang="en-US" sz="2400" dirty="0" smtClean="0"/>
              <a:t> </a:t>
            </a:r>
            <a:r>
              <a:rPr lang="en-US" sz="2400" dirty="0" err="1" smtClean="0"/>
              <a:t>podlogu</a:t>
            </a:r>
            <a:r>
              <a:rPr lang="en-US" sz="2400" dirty="0" smtClean="0"/>
              <a:t> n-</a:t>
            </a:r>
            <a:r>
              <a:rPr lang="en-US" sz="2400" dirty="0" err="1" smtClean="0"/>
              <a:t>tipa</a:t>
            </a:r>
            <a:r>
              <a:rPr lang="en-US" sz="2400" dirty="0" smtClean="0"/>
              <a:t> </a:t>
            </a:r>
            <a:r>
              <a:rPr lang="en-US" sz="2400" dirty="0" err="1" smtClean="0"/>
              <a:t>ili</a:t>
            </a:r>
            <a:r>
              <a:rPr lang="en-US" sz="2400" dirty="0" smtClean="0"/>
              <a:t> p-</a:t>
            </a:r>
            <a:r>
              <a:rPr lang="en-US" sz="2400" dirty="0" err="1" smtClean="0"/>
              <a:t>tipa</a:t>
            </a:r>
            <a:r>
              <a:rPr lang="en-US" sz="2400" dirty="0" smtClean="0"/>
              <a:t>, </a:t>
            </a:r>
            <a:r>
              <a:rPr lang="en-US" sz="2400" dirty="0" err="1" smtClean="0"/>
              <a:t>nanosi</a:t>
            </a:r>
            <a:r>
              <a:rPr lang="en-US" sz="2400" dirty="0" smtClean="0"/>
              <a:t> se</a:t>
            </a:r>
            <a:r>
              <a:rPr lang="sr-Latn-RS" sz="2400" dirty="0" smtClean="0"/>
              <a:t> </a:t>
            </a:r>
            <a:r>
              <a:rPr lang="en-US" sz="2400" dirty="0" err="1" smtClean="0"/>
              <a:t>tanak</a:t>
            </a:r>
            <a:r>
              <a:rPr lang="en-US" sz="2400" dirty="0" smtClean="0"/>
              <a:t> </a:t>
            </a:r>
            <a:r>
              <a:rPr lang="en-US" sz="2400" dirty="0" err="1" smtClean="0"/>
              <a:t>sloj</a:t>
            </a:r>
            <a:r>
              <a:rPr lang="en-US" sz="2400" dirty="0" smtClean="0"/>
              <a:t> </a:t>
            </a:r>
            <a:r>
              <a:rPr lang="en-US" sz="2400" dirty="0" err="1" smtClean="0"/>
              <a:t>oksida</a:t>
            </a:r>
            <a:r>
              <a:rPr lang="en-US" sz="2400" dirty="0" smtClean="0"/>
              <a:t> (</a:t>
            </a:r>
            <a:r>
              <a:rPr lang="en-US" sz="2400" dirty="0" err="1" smtClean="0"/>
              <a:t>silicijum-dioksid</a:t>
            </a:r>
            <a:r>
              <a:rPr lang="en-US" sz="2400" dirty="0" smtClean="0"/>
              <a:t>, SiO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), </a:t>
            </a:r>
            <a:r>
              <a:rPr lang="en-US" sz="2400" dirty="0" err="1" smtClean="0"/>
              <a:t>iznad</a:t>
            </a:r>
            <a:r>
              <a:rPr lang="en-US" sz="2400" dirty="0" smtClean="0"/>
              <a:t> </a:t>
            </a:r>
            <a:r>
              <a:rPr lang="en-US" sz="2400" dirty="0" err="1" smtClean="0"/>
              <a:t>kojeg</a:t>
            </a:r>
            <a:r>
              <a:rPr lang="en-US" sz="2400" dirty="0" smtClean="0"/>
              <a:t> se </a:t>
            </a:r>
            <a:r>
              <a:rPr lang="en-US" sz="2400" dirty="0" err="1" smtClean="0"/>
              <a:t>nalazi</a:t>
            </a:r>
            <a:r>
              <a:rPr lang="sr-Latn-RS" sz="2400" dirty="0" smtClean="0"/>
              <a:t> </a:t>
            </a:r>
            <a:r>
              <a:rPr lang="en-US" sz="2400" dirty="0" smtClean="0"/>
              <a:t>metal (</a:t>
            </a:r>
            <a:r>
              <a:rPr lang="en-US" sz="2400" dirty="0" err="1" smtClean="0"/>
              <a:t>aluminijum</a:t>
            </a:r>
            <a:r>
              <a:rPr lang="en-US" sz="2400" dirty="0" smtClean="0"/>
              <a:t>)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polikristalni</a:t>
            </a:r>
            <a:r>
              <a:rPr lang="en-US" sz="2400" dirty="0" smtClean="0"/>
              <a:t> </a:t>
            </a:r>
            <a:r>
              <a:rPr lang="en-US" sz="2400" dirty="0" err="1" smtClean="0"/>
              <a:t>silicijum</a:t>
            </a:r>
            <a:r>
              <a:rPr lang="en-US" sz="2400" dirty="0" smtClean="0"/>
              <a:t>. </a:t>
            </a:r>
            <a:r>
              <a:rPr lang="en-US" sz="2400" dirty="0" err="1" smtClean="0"/>
              <a:t>Ovaj</a:t>
            </a:r>
            <a:r>
              <a:rPr lang="en-US" sz="2400" dirty="0" smtClean="0"/>
              <a:t> </a:t>
            </a:r>
            <a:r>
              <a:rPr lang="en-US" sz="2400" dirty="0" err="1" smtClean="0"/>
              <a:t>sloj</a:t>
            </a:r>
            <a:r>
              <a:rPr lang="en-US" sz="2400" dirty="0" smtClean="0"/>
              <a:t> </a:t>
            </a:r>
            <a:r>
              <a:rPr lang="en-US" sz="2400" dirty="0" err="1" smtClean="0"/>
              <a:t>metala</a:t>
            </a:r>
            <a:r>
              <a:rPr lang="en-US" sz="2400" dirty="0" smtClean="0"/>
              <a:t> </a:t>
            </a:r>
            <a:r>
              <a:rPr lang="en-US" sz="2400" dirty="0" err="1" smtClean="0"/>
              <a:t>sa</a:t>
            </a:r>
            <a:r>
              <a:rPr lang="sr-Latn-RS" sz="2400" dirty="0" smtClean="0"/>
              <a:t> </a:t>
            </a:r>
            <a:r>
              <a:rPr lang="sv-SE" sz="2400" dirty="0" smtClean="0"/>
              <a:t>kontaktom je elektroda koja se zove </a:t>
            </a:r>
            <a:r>
              <a:rPr lang="sv-SE" sz="2400" b="1" dirty="0" smtClean="0"/>
              <a:t>gejt</a:t>
            </a:r>
            <a:r>
              <a:rPr lang="sv-SE" sz="2400" dirty="0" smtClean="0"/>
              <a:t> (eng. gate, G). Silicijumska podloga,</a:t>
            </a:r>
            <a:r>
              <a:rPr lang="sr-Latn-RS" sz="2400" dirty="0" smtClean="0"/>
              <a:t> </a:t>
            </a:r>
            <a:r>
              <a:rPr lang="en-US" sz="2400" dirty="0" err="1" smtClean="0"/>
              <a:t>odnosno</a:t>
            </a:r>
            <a:r>
              <a:rPr lang="en-US" sz="2400" dirty="0" smtClean="0"/>
              <a:t> </a:t>
            </a:r>
            <a:r>
              <a:rPr lang="en-US" sz="2400" b="1" dirty="0" err="1" smtClean="0"/>
              <a:t>supstrat</a:t>
            </a:r>
            <a:r>
              <a:rPr lang="en-US" sz="2400" dirty="0" smtClean="0"/>
              <a:t>, mo</a:t>
            </a:r>
            <a:r>
              <a:rPr lang="sr-Latn-RS" sz="2400" dirty="0" smtClean="0"/>
              <a:t>ž</a:t>
            </a:r>
            <a:r>
              <a:rPr lang="en-US" sz="2400" dirty="0" smtClean="0"/>
              <a:t>e </a:t>
            </a:r>
            <a:r>
              <a:rPr lang="en-US" sz="2400" dirty="0" err="1" smtClean="0"/>
              <a:t>biti</a:t>
            </a:r>
            <a:r>
              <a:rPr lang="en-US" sz="2400" dirty="0" smtClean="0"/>
              <a:t> </a:t>
            </a:r>
            <a:r>
              <a:rPr lang="en-US" sz="2400" dirty="0" err="1" smtClean="0"/>
              <a:t>sa</a:t>
            </a:r>
            <a:r>
              <a:rPr lang="en-US" sz="2400" dirty="0" smtClean="0"/>
              <a:t> </a:t>
            </a:r>
            <a:r>
              <a:rPr lang="en-US" sz="2400" dirty="0" err="1" smtClean="0"/>
              <a:t>izvedenim</a:t>
            </a:r>
            <a:r>
              <a:rPr lang="en-US" sz="2400" dirty="0" smtClean="0"/>
              <a:t> </a:t>
            </a:r>
            <a:r>
              <a:rPr lang="en-US" sz="2400" dirty="0" err="1" smtClean="0"/>
              <a:t>kontaktom</a:t>
            </a:r>
            <a:r>
              <a:rPr lang="en-US" sz="2400" dirty="0" smtClean="0"/>
              <a:t>, pa se </a:t>
            </a:r>
            <a:r>
              <a:rPr lang="en-US" sz="2400" dirty="0" err="1" smtClean="0"/>
              <a:t>taj</a:t>
            </a:r>
            <a:r>
              <a:rPr lang="en-US" sz="2400" dirty="0" smtClean="0"/>
              <a:t> </a:t>
            </a:r>
            <a:r>
              <a:rPr lang="en-US" sz="2400" dirty="0" err="1" smtClean="0"/>
              <a:t>priklju</a:t>
            </a:r>
            <a:r>
              <a:rPr lang="sr-Latn-RS" sz="2400" dirty="0" smtClean="0"/>
              <a:t>č</a:t>
            </a:r>
            <a:r>
              <a:rPr lang="en-US" sz="2400" dirty="0" err="1" smtClean="0"/>
              <a:t>ak</a:t>
            </a:r>
            <a:r>
              <a:rPr lang="sr-Latn-RS" sz="2400" dirty="0" smtClean="0"/>
              <a:t> </a:t>
            </a:r>
            <a:r>
              <a:rPr lang="en-US" sz="2400" dirty="0" err="1" smtClean="0"/>
              <a:t>ozna</a:t>
            </a:r>
            <a:r>
              <a:rPr lang="sr-Latn-RS" sz="2400" dirty="0" smtClean="0"/>
              <a:t>č</a:t>
            </a:r>
            <a:r>
              <a:rPr lang="en-US" sz="2400" dirty="0" err="1" smtClean="0"/>
              <a:t>ava</a:t>
            </a:r>
            <a:r>
              <a:rPr lang="en-US" sz="2400" dirty="0" smtClean="0"/>
              <a:t> </a:t>
            </a:r>
            <a:r>
              <a:rPr lang="en-US" sz="2400" dirty="0" err="1" smtClean="0"/>
              <a:t>sa</a:t>
            </a:r>
            <a:r>
              <a:rPr lang="en-US" sz="2400" dirty="0" smtClean="0"/>
              <a:t> B (eng. bulk ). U </a:t>
            </a:r>
            <a:r>
              <a:rPr lang="en-US" sz="2400" dirty="0" err="1" smtClean="0"/>
              <a:t>podlogu</a:t>
            </a:r>
            <a:r>
              <a:rPr lang="en-US" sz="2400" dirty="0" smtClean="0"/>
              <a:t> se </a:t>
            </a:r>
            <a:r>
              <a:rPr lang="en-US" sz="2400" dirty="0" err="1" smtClean="0"/>
              <a:t>difunduju</a:t>
            </a:r>
            <a:r>
              <a:rPr lang="en-US" sz="2400" dirty="0" smtClean="0"/>
              <a:t> </a:t>
            </a:r>
            <a:r>
              <a:rPr lang="en-US" sz="2400" dirty="0" err="1" smtClean="0"/>
              <a:t>dv</a:t>
            </a:r>
            <a:r>
              <a:rPr lang="sr-Latn-RS" sz="2400" dirty="0" smtClean="0"/>
              <a:t>e</a:t>
            </a:r>
            <a:r>
              <a:rPr lang="en-US" sz="2400" dirty="0" smtClean="0"/>
              <a:t> </a:t>
            </a:r>
            <a:r>
              <a:rPr lang="en-US" sz="2400" dirty="0" err="1" smtClean="0"/>
              <a:t>simetri</a:t>
            </a:r>
            <a:r>
              <a:rPr lang="sr-Latn-RS" sz="2400" dirty="0" smtClean="0"/>
              <a:t>č</a:t>
            </a:r>
            <a:r>
              <a:rPr lang="en-US" sz="2400" dirty="0" smtClean="0"/>
              <a:t>ne </a:t>
            </a:r>
            <a:r>
              <a:rPr lang="en-US" sz="2400" dirty="0" err="1" smtClean="0"/>
              <a:t>jako</a:t>
            </a:r>
            <a:r>
              <a:rPr lang="sr-Latn-RS" sz="2400" dirty="0" smtClean="0"/>
              <a:t> </a:t>
            </a:r>
            <a:r>
              <a:rPr lang="en-US" sz="2400" dirty="0" err="1" smtClean="0"/>
              <a:t>dopirane</a:t>
            </a:r>
            <a:r>
              <a:rPr lang="en-US" sz="2400" dirty="0" smtClean="0"/>
              <a:t> </a:t>
            </a:r>
            <a:r>
              <a:rPr lang="en-US" sz="2400" dirty="0" err="1" smtClean="0"/>
              <a:t>poluprovodni</a:t>
            </a:r>
            <a:r>
              <a:rPr lang="sr-Latn-RS" sz="2400" dirty="0" smtClean="0"/>
              <a:t>č</a:t>
            </a:r>
            <a:r>
              <a:rPr lang="en-US" sz="2400" dirty="0" err="1" smtClean="0"/>
              <a:t>ke</a:t>
            </a:r>
            <a:r>
              <a:rPr lang="en-US" sz="2400" dirty="0" smtClean="0"/>
              <a:t> </a:t>
            </a:r>
            <a:r>
              <a:rPr lang="en-US" sz="2400" dirty="0" err="1" smtClean="0"/>
              <a:t>oblasti</a:t>
            </a:r>
            <a:r>
              <a:rPr lang="en-US" sz="2400" dirty="0" smtClean="0"/>
              <a:t> </a:t>
            </a:r>
            <a:r>
              <a:rPr lang="en-US" sz="2400" dirty="0" err="1" smtClean="0"/>
              <a:t>koje</a:t>
            </a:r>
            <a:r>
              <a:rPr lang="en-US" sz="2400" dirty="0" smtClean="0"/>
              <a:t> </a:t>
            </a:r>
            <a:r>
              <a:rPr lang="sr-Latn-RS" sz="2400" dirty="0" smtClean="0"/>
              <a:t>č</a:t>
            </a:r>
            <a:r>
              <a:rPr lang="en-US" sz="2400" dirty="0" err="1" smtClean="0"/>
              <a:t>ine</a:t>
            </a:r>
            <a:r>
              <a:rPr lang="en-US" sz="2400" dirty="0" smtClean="0"/>
              <a:t> </a:t>
            </a:r>
            <a:r>
              <a:rPr lang="en-US" sz="2400" b="1" dirty="0" err="1" smtClean="0"/>
              <a:t>sors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b="1" dirty="0" err="1" smtClean="0"/>
              <a:t>drejn</a:t>
            </a:r>
            <a:r>
              <a:rPr lang="en-US" sz="2400" dirty="0" smtClean="0"/>
              <a:t>. Na </a:t>
            </a:r>
            <a:r>
              <a:rPr lang="en-US" sz="2400" dirty="0" err="1" smtClean="0"/>
              <a:t>ove</a:t>
            </a:r>
            <a:r>
              <a:rPr lang="en-US" sz="2400" dirty="0" smtClean="0"/>
              <a:t> </a:t>
            </a:r>
            <a:r>
              <a:rPr lang="en-US" sz="2400" dirty="0" err="1" smtClean="0"/>
              <a:t>oblasti</a:t>
            </a:r>
            <a:r>
              <a:rPr lang="en-US" sz="2400" dirty="0" smtClean="0"/>
              <a:t> se</a:t>
            </a:r>
            <a:r>
              <a:rPr lang="sr-Latn-RS" sz="2400" dirty="0" smtClean="0"/>
              <a:t> </a:t>
            </a:r>
            <a:r>
              <a:rPr lang="nb-NO" sz="2400" dirty="0" smtClean="0"/>
              <a:t>nanose metalni kontakti koji se ozna</a:t>
            </a:r>
            <a:r>
              <a:rPr lang="sr-Latn-RS" sz="2400" dirty="0" smtClean="0"/>
              <a:t>č</a:t>
            </a:r>
            <a:r>
              <a:rPr lang="nb-NO" sz="2400" dirty="0" smtClean="0"/>
              <a:t>avaju sa S (eng. source) i D (eng.</a:t>
            </a:r>
            <a:r>
              <a:rPr lang="sr-Latn-RS" sz="2400" dirty="0" smtClean="0"/>
              <a:t> </a:t>
            </a:r>
            <a:r>
              <a:rPr lang="en-US" sz="2400" dirty="0" smtClean="0"/>
              <a:t>drain).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81000"/>
            <a:ext cx="5095875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914400" y="4521875"/>
            <a:ext cx="7543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 smtClean="0"/>
              <a:t>Simboli NMOS tranzistora sa ugra</a:t>
            </a:r>
            <a:r>
              <a:rPr lang="sr-Latn-RS" b="1" dirty="0" smtClean="0"/>
              <a:t>đ</a:t>
            </a:r>
            <a:r>
              <a:rPr lang="it-IT" b="1" dirty="0" smtClean="0"/>
              <a:t>enim kanalom (a), NMOS tranzi</a:t>
            </a:r>
            <a:r>
              <a:rPr lang="en-US" b="1" dirty="0" err="1" smtClean="0"/>
              <a:t>stora</a:t>
            </a:r>
            <a:r>
              <a:rPr lang="en-US" b="1" dirty="0" smtClean="0"/>
              <a:t> </a:t>
            </a:r>
            <a:r>
              <a:rPr lang="en-US" b="1" dirty="0" err="1" smtClean="0"/>
              <a:t>sa</a:t>
            </a:r>
            <a:r>
              <a:rPr lang="en-US" b="1" dirty="0" smtClean="0"/>
              <a:t> </a:t>
            </a:r>
            <a:r>
              <a:rPr lang="en-US" b="1" dirty="0" err="1" smtClean="0"/>
              <a:t>indukovanim</a:t>
            </a:r>
            <a:r>
              <a:rPr lang="en-US" b="1" dirty="0" smtClean="0"/>
              <a:t> </a:t>
            </a:r>
            <a:r>
              <a:rPr lang="en-US" b="1" dirty="0" err="1" smtClean="0"/>
              <a:t>kanalom</a:t>
            </a:r>
            <a:r>
              <a:rPr lang="en-US" b="1" dirty="0" smtClean="0"/>
              <a:t> (b), </a:t>
            </a:r>
            <a:r>
              <a:rPr lang="en-US" b="1" dirty="0" err="1" smtClean="0"/>
              <a:t>pojednostavljeni</a:t>
            </a:r>
            <a:r>
              <a:rPr lang="en-US" b="1" dirty="0" smtClean="0"/>
              <a:t> </a:t>
            </a:r>
            <a:r>
              <a:rPr lang="en-US" b="1" dirty="0" err="1" smtClean="0"/>
              <a:t>simbol</a:t>
            </a:r>
            <a:r>
              <a:rPr lang="en-US" b="1" dirty="0" smtClean="0"/>
              <a:t> NMOS </a:t>
            </a:r>
            <a:r>
              <a:rPr lang="en-US" b="1" dirty="0" err="1" smtClean="0"/>
              <a:t>tranzistora</a:t>
            </a:r>
            <a:r>
              <a:rPr lang="en-US" b="1" dirty="0" smtClean="0"/>
              <a:t> </a:t>
            </a:r>
            <a:r>
              <a:rPr lang="en-US" b="1" dirty="0" err="1" smtClean="0"/>
              <a:t>kod</a:t>
            </a:r>
            <a:endParaRPr lang="en-US" b="1" dirty="0" smtClean="0"/>
          </a:p>
          <a:p>
            <a:r>
              <a:rPr lang="it-IT" b="1" dirty="0" smtClean="0"/>
              <a:t>kojeg su priklju</a:t>
            </a:r>
            <a:r>
              <a:rPr lang="sr-Latn-RS" b="1" dirty="0" smtClean="0"/>
              <a:t>č</a:t>
            </a:r>
            <a:r>
              <a:rPr lang="it-IT" b="1" dirty="0" smtClean="0"/>
              <a:t>ci sorsa i supstrata spojeni (c), PMOS tranzistora sa </a:t>
            </a:r>
            <a:r>
              <a:rPr lang="sr-Latn-RS" b="1" dirty="0" smtClean="0"/>
              <a:t> u</a:t>
            </a:r>
            <a:r>
              <a:rPr lang="it-IT" b="1" dirty="0" smtClean="0"/>
              <a:t>gra</a:t>
            </a:r>
            <a:r>
              <a:rPr lang="sr-Latn-RS" b="1" dirty="0" smtClean="0"/>
              <a:t>đ</a:t>
            </a:r>
            <a:r>
              <a:rPr lang="it-IT" b="1" dirty="0" smtClean="0"/>
              <a:t>enim</a:t>
            </a:r>
            <a:r>
              <a:rPr lang="sr-Latn-RS" b="1" dirty="0" smtClean="0"/>
              <a:t> </a:t>
            </a:r>
            <a:r>
              <a:rPr lang="en-US" b="1" dirty="0" err="1" smtClean="0"/>
              <a:t>kanalom</a:t>
            </a:r>
            <a:r>
              <a:rPr lang="en-US" b="1" dirty="0" smtClean="0"/>
              <a:t> (d), PMOS </a:t>
            </a:r>
            <a:r>
              <a:rPr lang="en-US" b="1" dirty="0" err="1" smtClean="0"/>
              <a:t>tranzistora</a:t>
            </a:r>
            <a:r>
              <a:rPr lang="en-US" b="1" dirty="0" smtClean="0"/>
              <a:t> </a:t>
            </a:r>
            <a:r>
              <a:rPr lang="en-US" b="1" dirty="0" err="1" smtClean="0"/>
              <a:t>sa</a:t>
            </a:r>
            <a:r>
              <a:rPr lang="en-US" b="1" dirty="0" smtClean="0"/>
              <a:t> </a:t>
            </a:r>
            <a:r>
              <a:rPr lang="en-US" b="1" dirty="0" err="1" smtClean="0"/>
              <a:t>indukovanim</a:t>
            </a:r>
            <a:r>
              <a:rPr lang="en-US" b="1" dirty="0" smtClean="0"/>
              <a:t> </a:t>
            </a:r>
            <a:r>
              <a:rPr lang="en-US" b="1" dirty="0" err="1" smtClean="0"/>
              <a:t>kanalom</a:t>
            </a:r>
            <a:r>
              <a:rPr lang="en-US" b="1" dirty="0" smtClean="0"/>
              <a:t> (e) </a:t>
            </a:r>
            <a:r>
              <a:rPr lang="en-US" b="1" dirty="0" err="1" smtClean="0"/>
              <a:t>i</a:t>
            </a:r>
            <a:r>
              <a:rPr lang="en-US" b="1" dirty="0" smtClean="0"/>
              <a:t> </a:t>
            </a:r>
            <a:r>
              <a:rPr lang="en-US" b="1" dirty="0" err="1" smtClean="0"/>
              <a:t>pojednostavljeni</a:t>
            </a:r>
            <a:r>
              <a:rPr lang="sr-Latn-RS" b="1" dirty="0" smtClean="0"/>
              <a:t> </a:t>
            </a:r>
            <a:r>
              <a:rPr lang="en-US" b="1" dirty="0" err="1" smtClean="0"/>
              <a:t>simbol</a:t>
            </a:r>
            <a:r>
              <a:rPr lang="en-US" b="1" dirty="0" smtClean="0"/>
              <a:t> PMOS </a:t>
            </a:r>
            <a:r>
              <a:rPr lang="en-US" b="1" dirty="0" err="1" smtClean="0"/>
              <a:t>tranzistora</a:t>
            </a:r>
            <a:r>
              <a:rPr lang="en-US" b="1" dirty="0" smtClean="0"/>
              <a:t> </a:t>
            </a:r>
            <a:r>
              <a:rPr lang="en-US" b="1" dirty="0" err="1" smtClean="0"/>
              <a:t>kod</a:t>
            </a:r>
            <a:r>
              <a:rPr lang="en-US" b="1" dirty="0" smtClean="0"/>
              <a:t> </a:t>
            </a:r>
            <a:r>
              <a:rPr lang="en-US" b="1" dirty="0" err="1" smtClean="0"/>
              <a:t>kojeg</a:t>
            </a:r>
            <a:r>
              <a:rPr lang="en-US" b="1" dirty="0" smtClean="0"/>
              <a:t> </a:t>
            </a:r>
            <a:r>
              <a:rPr lang="en-US" b="1" dirty="0" err="1" smtClean="0"/>
              <a:t>su</a:t>
            </a:r>
            <a:r>
              <a:rPr lang="en-US" b="1" dirty="0" smtClean="0"/>
              <a:t> </a:t>
            </a:r>
            <a:r>
              <a:rPr lang="en-US" b="1" dirty="0" err="1" smtClean="0"/>
              <a:t>priklju</a:t>
            </a:r>
            <a:r>
              <a:rPr lang="sr-Latn-RS" b="1" dirty="0" smtClean="0"/>
              <a:t>č</a:t>
            </a:r>
            <a:r>
              <a:rPr lang="en-US" b="1" dirty="0" err="1" smtClean="0"/>
              <a:t>ci</a:t>
            </a:r>
            <a:r>
              <a:rPr lang="en-US" b="1" dirty="0" smtClean="0"/>
              <a:t> </a:t>
            </a:r>
            <a:r>
              <a:rPr lang="en-US" b="1" dirty="0" err="1" smtClean="0"/>
              <a:t>sorsa</a:t>
            </a:r>
            <a:r>
              <a:rPr lang="en-US" b="1" dirty="0" smtClean="0"/>
              <a:t> </a:t>
            </a:r>
            <a:r>
              <a:rPr lang="en-US" b="1" dirty="0" err="1" smtClean="0"/>
              <a:t>i</a:t>
            </a:r>
            <a:r>
              <a:rPr lang="en-US" b="1" dirty="0" smtClean="0"/>
              <a:t> </a:t>
            </a:r>
            <a:r>
              <a:rPr lang="en-US" b="1" dirty="0" err="1" smtClean="0"/>
              <a:t>supstrata</a:t>
            </a:r>
            <a:r>
              <a:rPr lang="en-US" b="1" dirty="0" smtClean="0"/>
              <a:t> </a:t>
            </a:r>
            <a:r>
              <a:rPr lang="en-US" b="1" dirty="0" err="1" smtClean="0"/>
              <a:t>spojeni</a:t>
            </a:r>
            <a:r>
              <a:rPr lang="en-US" b="1" dirty="0" smtClean="0"/>
              <a:t> (f)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5562600" y="381000"/>
            <a:ext cx="1447800" cy="396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086601" y="838200"/>
            <a:ext cx="205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 </a:t>
            </a:r>
            <a:r>
              <a:rPr lang="en-US" dirty="0" err="1" smtClean="0"/>
              <a:t>daljoj</a:t>
            </a:r>
            <a:r>
              <a:rPr lang="en-US" dirty="0" smtClean="0"/>
              <a:t> </a:t>
            </a:r>
            <a:r>
              <a:rPr lang="en-US" dirty="0" err="1" smtClean="0"/>
              <a:t>analizi</a:t>
            </a:r>
            <a:r>
              <a:rPr lang="en-US" dirty="0" smtClean="0"/>
              <a:t>, </a:t>
            </a:r>
            <a:r>
              <a:rPr lang="en-US" dirty="0" err="1" smtClean="0"/>
              <a:t>osim</a:t>
            </a:r>
            <a:r>
              <a:rPr lang="en-US" dirty="0" smtClean="0"/>
              <a:t> </a:t>
            </a:r>
            <a:r>
              <a:rPr lang="en-US" dirty="0" err="1" smtClean="0"/>
              <a:t>ako</a:t>
            </a:r>
            <a:r>
              <a:rPr lang="en-US" dirty="0" smtClean="0"/>
              <a:t> </a:t>
            </a:r>
            <a:r>
              <a:rPr lang="en-US" dirty="0" err="1" smtClean="0"/>
              <a:t>nije</a:t>
            </a:r>
            <a:r>
              <a:rPr lang="en-US" dirty="0" smtClean="0"/>
              <a:t> </a:t>
            </a:r>
            <a:r>
              <a:rPr lang="en-US" dirty="0" err="1" smtClean="0"/>
              <a:t>druga</a:t>
            </a:r>
            <a:r>
              <a:rPr lang="sr-Latn-RS" dirty="0" smtClean="0"/>
              <a:t>č</a:t>
            </a:r>
            <a:r>
              <a:rPr lang="en-US" dirty="0" err="1" smtClean="0"/>
              <a:t>ije</a:t>
            </a:r>
            <a:r>
              <a:rPr lang="en-US" dirty="0" smtClean="0"/>
              <a:t> </a:t>
            </a:r>
            <a:r>
              <a:rPr lang="en-US" dirty="0" err="1" smtClean="0"/>
              <a:t>nagla</a:t>
            </a:r>
            <a:r>
              <a:rPr lang="sr-Latn-RS" dirty="0" smtClean="0"/>
              <a:t>š</a:t>
            </a:r>
            <a:r>
              <a:rPr lang="en-US" dirty="0" err="1" smtClean="0"/>
              <a:t>eno</a:t>
            </a:r>
            <a:r>
              <a:rPr lang="en-US" dirty="0" smtClean="0"/>
              <a:t>, </a:t>
            </a:r>
            <a:r>
              <a:rPr lang="en-US" dirty="0" err="1" smtClean="0"/>
              <a:t>smatra</a:t>
            </a:r>
            <a:r>
              <a:rPr lang="sr-Latn-RS" dirty="0" smtClean="0"/>
              <a:t>ć</a:t>
            </a:r>
            <a:r>
              <a:rPr lang="en-US" dirty="0" err="1" smtClean="0"/>
              <a:t>emo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endParaRPr lang="en-US" dirty="0" smtClean="0"/>
          </a:p>
          <a:p>
            <a:r>
              <a:rPr lang="pl-PL" dirty="0" smtClean="0"/>
              <a:t>supstrat i sors na istom potencijalu, odnosno da je napon </a:t>
            </a:r>
            <a:r>
              <a:rPr lang="pl-PL" i="1" dirty="0" smtClean="0"/>
              <a:t>V</a:t>
            </a:r>
            <a:r>
              <a:rPr lang="pl-PL" i="1" baseline="-25000" dirty="0" smtClean="0"/>
              <a:t>SB</a:t>
            </a:r>
            <a:r>
              <a:rPr lang="pl-PL" dirty="0" smtClean="0"/>
              <a:t> jednak nuli.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3762" y="76200"/>
            <a:ext cx="5823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3200" b="1" dirty="0" smtClean="0">
                <a:solidFill>
                  <a:srgbClr val="0070C0"/>
                </a:solidFill>
              </a:rPr>
              <a:t>Kapacitivnost MOS kondenzatora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1343085"/>
            <a:ext cx="8839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/>
              <a:t>Neka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za</a:t>
            </a:r>
            <a:r>
              <a:rPr lang="en-US" sz="2400" dirty="0" smtClean="0"/>
              <a:t> NMOS </a:t>
            </a:r>
            <a:r>
              <a:rPr lang="en-US" sz="2400" dirty="0" err="1" smtClean="0"/>
              <a:t>tranzistor</a:t>
            </a:r>
            <a:r>
              <a:rPr lang="en-US" sz="2400" dirty="0" smtClean="0"/>
              <a:t> </a:t>
            </a:r>
            <a:r>
              <a:rPr lang="en-US" sz="2400" dirty="0" err="1" smtClean="0"/>
              <a:t>drejn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sors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masi</a:t>
            </a:r>
            <a:r>
              <a:rPr lang="en-US" sz="2400" dirty="0" smtClean="0"/>
              <a:t> (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D</a:t>
            </a:r>
            <a:r>
              <a:rPr lang="en-US" sz="2400" dirty="0" smtClean="0"/>
              <a:t> = 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S</a:t>
            </a:r>
            <a:r>
              <a:rPr lang="en-US" sz="2400" dirty="0" smtClean="0"/>
              <a:t> = 0), a</a:t>
            </a:r>
          </a:p>
          <a:p>
            <a:r>
              <a:rPr lang="en-US" sz="2400" dirty="0" err="1" smtClean="0"/>
              <a:t>napon</a:t>
            </a:r>
            <a:r>
              <a:rPr lang="en-US" sz="2400" dirty="0" smtClean="0"/>
              <a:t> </a:t>
            </a:r>
            <a:r>
              <a:rPr lang="en-US" sz="2400" dirty="0" err="1" smtClean="0"/>
              <a:t>izme</a:t>
            </a:r>
            <a:r>
              <a:rPr lang="sr-Latn-RS" sz="2400" dirty="0" smtClean="0"/>
              <a:t>đ</a:t>
            </a:r>
            <a:r>
              <a:rPr lang="en-US" sz="2400" dirty="0" smtClean="0"/>
              <a:t>u </a:t>
            </a:r>
            <a:r>
              <a:rPr lang="en-US" sz="2400" dirty="0" err="1" smtClean="0"/>
              <a:t>gejta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sorsa</a:t>
            </a:r>
            <a:r>
              <a:rPr lang="en-US" sz="2400" dirty="0" smtClean="0"/>
              <a:t> 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GS</a:t>
            </a:r>
            <a:r>
              <a:rPr lang="en-US" sz="2400" dirty="0" smtClean="0"/>
              <a:t> se mo</a:t>
            </a:r>
            <a:r>
              <a:rPr lang="sr-Latn-RS" sz="2400" dirty="0" smtClean="0"/>
              <a:t>ž</a:t>
            </a:r>
            <a:r>
              <a:rPr lang="en-US" sz="2400" dirty="0" smtClean="0"/>
              <a:t>e </a:t>
            </a:r>
            <a:r>
              <a:rPr lang="en-US" sz="2400" dirty="0" err="1" smtClean="0"/>
              <a:t>menjati</a:t>
            </a:r>
            <a:r>
              <a:rPr lang="en-US" sz="2400" dirty="0" smtClean="0"/>
              <a:t>. </a:t>
            </a:r>
            <a:r>
              <a:rPr lang="en-US" sz="2400" dirty="0" err="1" smtClean="0"/>
              <a:t>Struktura</a:t>
            </a:r>
            <a:r>
              <a:rPr lang="en-US" sz="2400" dirty="0" smtClean="0"/>
              <a:t> </a:t>
            </a:r>
            <a:r>
              <a:rPr lang="en-US" sz="2400" dirty="0" err="1" smtClean="0"/>
              <a:t>gejt-oksid-supstat</a:t>
            </a:r>
            <a:r>
              <a:rPr lang="sr-Latn-RS" sz="2400" dirty="0" smtClean="0"/>
              <a:t> </a:t>
            </a:r>
            <a:r>
              <a:rPr lang="en-US" sz="2400" dirty="0" err="1" smtClean="0"/>
              <a:t>pona</a:t>
            </a:r>
            <a:r>
              <a:rPr lang="sr-Latn-RS" sz="2400" dirty="0" smtClean="0"/>
              <a:t>š</a:t>
            </a:r>
            <a:r>
              <a:rPr lang="en-US" sz="2400" dirty="0" smtClean="0"/>
              <a:t>a se, u tom </a:t>
            </a:r>
            <a:r>
              <a:rPr lang="en-US" sz="2400" dirty="0" err="1" smtClean="0"/>
              <a:t>slu</a:t>
            </a:r>
            <a:r>
              <a:rPr lang="sr-Latn-RS" sz="2400" dirty="0" smtClean="0"/>
              <a:t>č</a:t>
            </a:r>
            <a:r>
              <a:rPr lang="en-US" sz="2400" dirty="0" err="1" smtClean="0"/>
              <a:t>aju</a:t>
            </a:r>
            <a:r>
              <a:rPr lang="en-US" sz="2400" dirty="0" smtClean="0"/>
              <a:t>, </a:t>
            </a:r>
            <a:r>
              <a:rPr lang="en-US" sz="2400" dirty="0" err="1" smtClean="0"/>
              <a:t>kao</a:t>
            </a:r>
            <a:r>
              <a:rPr lang="en-US" sz="2400" dirty="0" smtClean="0"/>
              <a:t> </a:t>
            </a:r>
            <a:r>
              <a:rPr lang="en-US" sz="2400" dirty="0" err="1" smtClean="0"/>
              <a:t>plo</a:t>
            </a:r>
            <a:r>
              <a:rPr lang="sr-Latn-RS" sz="2400" dirty="0" smtClean="0"/>
              <a:t>č</a:t>
            </a:r>
            <a:r>
              <a:rPr lang="en-US" sz="2400" dirty="0" err="1" smtClean="0"/>
              <a:t>asti</a:t>
            </a:r>
            <a:r>
              <a:rPr lang="en-US" sz="2400" dirty="0" smtClean="0"/>
              <a:t> </a:t>
            </a:r>
            <a:r>
              <a:rPr lang="en-US" sz="2400" dirty="0" err="1" smtClean="0"/>
              <a:t>kondenzator</a:t>
            </a:r>
            <a:r>
              <a:rPr lang="en-US" sz="2400" dirty="0" smtClean="0"/>
              <a:t> </a:t>
            </a:r>
            <a:r>
              <a:rPr lang="sr-Latn-RS" sz="2400" dirty="0" smtClean="0"/>
              <a:t>č</a:t>
            </a:r>
            <a:r>
              <a:rPr lang="en-US" sz="2400" dirty="0" err="1" smtClean="0"/>
              <a:t>ija</a:t>
            </a:r>
            <a:r>
              <a:rPr lang="en-US" sz="2400" dirty="0" smtClean="0"/>
              <a:t> je </a:t>
            </a:r>
            <a:r>
              <a:rPr lang="en-US" sz="2400" dirty="0" err="1" smtClean="0"/>
              <a:t>jedna</a:t>
            </a:r>
            <a:r>
              <a:rPr lang="en-US" sz="2400" dirty="0" smtClean="0"/>
              <a:t> </a:t>
            </a:r>
            <a:r>
              <a:rPr lang="en-US" sz="2400" dirty="0" err="1" smtClean="0"/>
              <a:t>elektroda</a:t>
            </a:r>
            <a:r>
              <a:rPr lang="sr-Latn-RS" sz="2400" dirty="0" smtClean="0"/>
              <a:t> </a:t>
            </a:r>
            <a:r>
              <a:rPr lang="en-US" sz="2400" dirty="0" err="1" smtClean="0"/>
              <a:t>gejt</a:t>
            </a:r>
            <a:r>
              <a:rPr lang="en-US" sz="2400" dirty="0" smtClean="0"/>
              <a:t>, a </a:t>
            </a:r>
            <a:r>
              <a:rPr lang="en-US" sz="2400" dirty="0" err="1" smtClean="0"/>
              <a:t>druga</a:t>
            </a:r>
            <a:r>
              <a:rPr lang="en-US" sz="2400" dirty="0" smtClean="0"/>
              <a:t> </a:t>
            </a:r>
            <a:r>
              <a:rPr lang="en-US" sz="2400" dirty="0" err="1" smtClean="0"/>
              <a:t>supstrat</a:t>
            </a:r>
            <a:r>
              <a:rPr lang="en-US" sz="2400" dirty="0" smtClean="0"/>
              <a:t>. </a:t>
            </a:r>
            <a:r>
              <a:rPr lang="en-US" sz="2400" dirty="0" err="1" smtClean="0"/>
              <a:t>Izme</a:t>
            </a:r>
            <a:r>
              <a:rPr lang="sr-Latn-RS" sz="2400" dirty="0" smtClean="0"/>
              <a:t>đ</a:t>
            </a:r>
            <a:r>
              <a:rPr lang="en-US" sz="2400" dirty="0" smtClean="0"/>
              <a:t>u se </a:t>
            </a:r>
            <a:r>
              <a:rPr lang="en-US" sz="2400" dirty="0" err="1" smtClean="0"/>
              <a:t>nalazi</a:t>
            </a:r>
            <a:r>
              <a:rPr lang="en-US" sz="2400" dirty="0" smtClean="0"/>
              <a:t> </a:t>
            </a:r>
            <a:r>
              <a:rPr lang="en-US" sz="2400" dirty="0" err="1" smtClean="0"/>
              <a:t>sloj</a:t>
            </a:r>
            <a:r>
              <a:rPr lang="en-US" sz="2400" dirty="0" smtClean="0"/>
              <a:t> </a:t>
            </a:r>
            <a:r>
              <a:rPr lang="en-US" sz="2400" dirty="0" err="1" smtClean="0"/>
              <a:t>oksida</a:t>
            </a:r>
            <a:r>
              <a:rPr lang="en-US" sz="2400" dirty="0" smtClean="0"/>
              <a:t> </a:t>
            </a:r>
            <a:r>
              <a:rPr lang="en-US" sz="2400" dirty="0" err="1" smtClean="0"/>
              <a:t>koji</a:t>
            </a:r>
            <a:r>
              <a:rPr lang="en-US" sz="2400" dirty="0" smtClean="0"/>
              <a:t> </a:t>
            </a:r>
            <a:r>
              <a:rPr lang="en-US" sz="2400" dirty="0" err="1" smtClean="0"/>
              <a:t>ima</a:t>
            </a:r>
            <a:r>
              <a:rPr lang="en-US" sz="2400" dirty="0" smtClean="0"/>
              <a:t> </a:t>
            </a:r>
            <a:r>
              <a:rPr lang="en-US" sz="2400" dirty="0" err="1" smtClean="0"/>
              <a:t>ulogu</a:t>
            </a:r>
            <a:r>
              <a:rPr lang="en-US" sz="2400" dirty="0" smtClean="0"/>
              <a:t> </a:t>
            </a:r>
            <a:r>
              <a:rPr lang="en-US" sz="2400" dirty="0" err="1" smtClean="0"/>
              <a:t>dielektrika</a:t>
            </a:r>
            <a:r>
              <a:rPr lang="en-US" sz="2400" dirty="0" smtClean="0"/>
              <a:t>. </a:t>
            </a:r>
            <a:r>
              <a:rPr lang="en-US" sz="2400" dirty="0" err="1" smtClean="0"/>
              <a:t>Promenljivim</a:t>
            </a:r>
            <a:r>
              <a:rPr lang="en-US" sz="2400" dirty="0" smtClean="0"/>
              <a:t> </a:t>
            </a:r>
            <a:r>
              <a:rPr lang="en-US" sz="2400" dirty="0" err="1" smtClean="0"/>
              <a:t>naponom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gejtu</a:t>
            </a:r>
            <a:r>
              <a:rPr lang="en-US" sz="2400" dirty="0" smtClean="0"/>
              <a:t> </a:t>
            </a:r>
            <a:r>
              <a:rPr lang="en-US" sz="2400" dirty="0" err="1" smtClean="0"/>
              <a:t>menja</a:t>
            </a:r>
            <a:r>
              <a:rPr lang="sr-Latn-RS" sz="2400" dirty="0" smtClean="0"/>
              <a:t>ć</a:t>
            </a:r>
            <a:r>
              <a:rPr lang="en-US" sz="2400" dirty="0" smtClean="0"/>
              <a:t>e se </a:t>
            </a:r>
            <a:r>
              <a:rPr lang="en-US" sz="2400" dirty="0" err="1" smtClean="0"/>
              <a:t>koncentracija</a:t>
            </a:r>
            <a:r>
              <a:rPr lang="en-US" sz="2400" dirty="0" smtClean="0"/>
              <a:t> </a:t>
            </a:r>
            <a:r>
              <a:rPr lang="sr-Latn-RS" sz="2400" dirty="0" smtClean="0"/>
              <a:t>nosilaca naelektrisanja </a:t>
            </a:r>
            <a:r>
              <a:rPr lang="en-US" sz="2400" dirty="0" smtClean="0"/>
              <a:t>u </a:t>
            </a:r>
            <a:r>
              <a:rPr lang="en-US" sz="2400" dirty="0" err="1" smtClean="0"/>
              <a:t>podlozi</a:t>
            </a:r>
            <a:r>
              <a:rPr lang="en-US" sz="2400" dirty="0" smtClean="0"/>
              <a:t> </a:t>
            </a:r>
            <a:r>
              <a:rPr lang="en-US" sz="2400" dirty="0" err="1" smtClean="0"/>
              <a:t>ispod</a:t>
            </a:r>
            <a:r>
              <a:rPr lang="en-US" sz="2400" dirty="0" smtClean="0"/>
              <a:t> </a:t>
            </a:r>
            <a:r>
              <a:rPr lang="en-US" sz="2400" dirty="0" err="1" smtClean="0"/>
              <a:t>oksida</a:t>
            </a:r>
            <a:r>
              <a:rPr lang="en-US" sz="2400" dirty="0" smtClean="0"/>
              <a:t> </a:t>
            </a:r>
            <a:r>
              <a:rPr lang="en-US" sz="2400" dirty="0" err="1" smtClean="0"/>
              <a:t>gejta</a:t>
            </a:r>
            <a:r>
              <a:rPr lang="en-US" sz="2400" dirty="0" smtClean="0"/>
              <a:t>, </a:t>
            </a:r>
            <a:r>
              <a:rPr lang="en-US" sz="2400" dirty="0" err="1" smtClean="0"/>
              <a:t>izme</a:t>
            </a:r>
            <a:r>
              <a:rPr lang="sr-Latn-RS" sz="2400" dirty="0" smtClean="0"/>
              <a:t>đ</a:t>
            </a:r>
            <a:r>
              <a:rPr lang="en-US" sz="2400" dirty="0" smtClean="0"/>
              <a:t>u </a:t>
            </a:r>
            <a:r>
              <a:rPr lang="en-US" sz="2400" dirty="0" err="1" smtClean="0"/>
              <a:t>drejna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sorsa</a:t>
            </a:r>
            <a:r>
              <a:rPr lang="en-US" sz="2400" dirty="0" smtClean="0"/>
              <a:t>. To </a:t>
            </a:r>
            <a:r>
              <a:rPr lang="en-US" sz="2400" dirty="0" err="1" smtClean="0"/>
              <a:t>dovodi</a:t>
            </a:r>
            <a:r>
              <a:rPr lang="en-US" sz="2400" dirty="0" smtClean="0"/>
              <a:t> do </a:t>
            </a:r>
            <a:r>
              <a:rPr lang="en-US" sz="2400" dirty="0" err="1" smtClean="0"/>
              <a:t>promene</a:t>
            </a:r>
            <a:r>
              <a:rPr lang="sr-Latn-RS" sz="2400" dirty="0" smtClean="0"/>
              <a:t> </a:t>
            </a:r>
            <a:r>
              <a:rPr lang="en-US" sz="2400" dirty="0" err="1" smtClean="0"/>
              <a:t>kapacitivnosti</a:t>
            </a:r>
            <a:r>
              <a:rPr lang="en-US" sz="2400" dirty="0" smtClean="0"/>
              <a:t> </a:t>
            </a:r>
            <a:r>
              <a:rPr lang="en-US" sz="2400" dirty="0" err="1" smtClean="0"/>
              <a:t>strukture</a:t>
            </a:r>
            <a:r>
              <a:rPr lang="en-US" sz="2400" dirty="0" smtClean="0"/>
              <a:t> </a:t>
            </a:r>
            <a:r>
              <a:rPr lang="en-US" sz="2400" dirty="0" err="1" smtClean="0"/>
              <a:t>gejt-oksid-supstat</a:t>
            </a:r>
            <a:r>
              <a:rPr lang="sr-Latn-RS" sz="2400" dirty="0" smtClean="0"/>
              <a:t> (</a:t>
            </a:r>
            <a:r>
              <a:rPr lang="en-US" sz="2400" dirty="0" smtClean="0"/>
              <a:t>MOS </a:t>
            </a:r>
            <a:r>
              <a:rPr lang="en-US" sz="2400" dirty="0" err="1" smtClean="0"/>
              <a:t>kondenzator</a:t>
            </a:r>
            <a:r>
              <a:rPr lang="sr-Latn-RS" sz="2400" dirty="0" smtClean="0"/>
              <a:t>)</a:t>
            </a:r>
            <a:r>
              <a:rPr lang="en-US" sz="2400" dirty="0" smtClean="0"/>
              <a:t>. Ova </a:t>
            </a:r>
            <a:r>
              <a:rPr lang="en-US" sz="2400" dirty="0" err="1" smtClean="0"/>
              <a:t>karakteristika</a:t>
            </a:r>
            <a:r>
              <a:rPr lang="en-US" sz="2400" dirty="0" smtClean="0"/>
              <a:t> </a:t>
            </a:r>
            <a:r>
              <a:rPr lang="en-US" sz="2400" dirty="0" err="1" smtClean="0"/>
              <a:t>zavisnosti</a:t>
            </a:r>
            <a:r>
              <a:rPr lang="en-US" sz="2400" dirty="0" smtClean="0"/>
              <a:t> </a:t>
            </a:r>
            <a:r>
              <a:rPr lang="en-US" sz="2400" dirty="0" err="1" smtClean="0"/>
              <a:t>kapacitivnosti</a:t>
            </a:r>
            <a:r>
              <a:rPr lang="en-US" sz="2400" dirty="0" smtClean="0"/>
              <a:t> MOS </a:t>
            </a:r>
            <a:r>
              <a:rPr lang="en-US" sz="2400" dirty="0" err="1" smtClean="0"/>
              <a:t>kondenzatora</a:t>
            </a:r>
            <a:r>
              <a:rPr lang="en-US" sz="2400" dirty="0" smtClean="0"/>
              <a:t> </a:t>
            </a:r>
            <a:r>
              <a:rPr lang="en-US" sz="2400" dirty="0" err="1" smtClean="0"/>
              <a:t>od</a:t>
            </a:r>
            <a:r>
              <a:rPr lang="en-US" sz="2400" dirty="0" smtClean="0"/>
              <a:t> </a:t>
            </a:r>
            <a:r>
              <a:rPr lang="en-US" sz="2400" dirty="0" err="1" smtClean="0"/>
              <a:t>napona</a:t>
            </a:r>
            <a:r>
              <a:rPr lang="en-US" sz="2400" dirty="0" smtClean="0"/>
              <a:t> </a:t>
            </a:r>
            <a:r>
              <a:rPr lang="en-US" sz="2400" dirty="0" err="1" smtClean="0"/>
              <a:t>izme</a:t>
            </a:r>
            <a:r>
              <a:rPr lang="sr-Latn-RS" sz="2400" dirty="0" smtClean="0"/>
              <a:t>đ</a:t>
            </a:r>
            <a:r>
              <a:rPr lang="en-US" sz="2400" dirty="0" smtClean="0"/>
              <a:t>u </a:t>
            </a:r>
            <a:r>
              <a:rPr lang="en-US" sz="2400" dirty="0" err="1" smtClean="0"/>
              <a:t>gejta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sorsa</a:t>
            </a:r>
            <a:r>
              <a:rPr lang="en-US" sz="2400" dirty="0" smtClean="0"/>
              <a:t> </a:t>
            </a:r>
            <a:r>
              <a:rPr lang="en-US" sz="2400" dirty="0" err="1" smtClean="0"/>
              <a:t>zove</a:t>
            </a:r>
            <a:r>
              <a:rPr lang="en-US" sz="2400" dirty="0" smtClean="0"/>
              <a:t> se C </a:t>
            </a:r>
            <a:r>
              <a:rPr lang="en-US" sz="2400" dirty="0" smtClean="0">
                <a:sym typeface="Symbol"/>
              </a:rPr>
              <a:t></a:t>
            </a:r>
            <a:r>
              <a:rPr lang="sr-Latn-RS" sz="2400" dirty="0" smtClean="0">
                <a:sym typeface="Symbol"/>
              </a:rPr>
              <a:t> </a:t>
            </a:r>
            <a:r>
              <a:rPr lang="en-US" sz="2400" dirty="0" smtClean="0"/>
              <a:t>V </a:t>
            </a:r>
            <a:r>
              <a:rPr lang="en-US" sz="2400" dirty="0" err="1" smtClean="0"/>
              <a:t>kriva</a:t>
            </a:r>
            <a:r>
              <a:rPr lang="en-US" sz="2400" dirty="0" smtClean="0"/>
              <a:t>. </a:t>
            </a:r>
            <a:r>
              <a:rPr lang="en-US" sz="2400" dirty="0" err="1" smtClean="0"/>
              <a:t>Uobi</a:t>
            </a:r>
            <a:r>
              <a:rPr lang="sr-Latn-RS" sz="2400" dirty="0" smtClean="0"/>
              <a:t>č</a:t>
            </a:r>
            <a:r>
              <a:rPr lang="en-US" sz="2400" dirty="0" err="1" smtClean="0"/>
              <a:t>ajeno</a:t>
            </a:r>
            <a:r>
              <a:rPr lang="sr-Latn-RS" sz="2400" dirty="0" smtClean="0"/>
              <a:t> </a:t>
            </a:r>
            <a:r>
              <a:rPr lang="en-US" sz="2400" dirty="0" smtClean="0"/>
              <a:t>je u </a:t>
            </a:r>
            <a:r>
              <a:rPr lang="en-US" sz="2400" dirty="0" err="1" smtClean="0"/>
              <a:t>literaturi</a:t>
            </a:r>
            <a:r>
              <a:rPr lang="en-US" sz="2400" dirty="0" smtClean="0"/>
              <a:t> </a:t>
            </a:r>
            <a:r>
              <a:rPr lang="en-US" sz="2400" dirty="0" err="1" smtClean="0"/>
              <a:t>da</a:t>
            </a:r>
            <a:r>
              <a:rPr lang="en-US" sz="2400" dirty="0" smtClean="0"/>
              <a:t> se </a:t>
            </a:r>
            <a:r>
              <a:rPr lang="en-US" sz="2400" dirty="0" err="1" smtClean="0"/>
              <a:t>umesto</a:t>
            </a:r>
            <a:r>
              <a:rPr lang="en-US" sz="2400" dirty="0" smtClean="0"/>
              <a:t> </a:t>
            </a:r>
            <a:r>
              <a:rPr lang="en-US" sz="2400" dirty="0" err="1" smtClean="0"/>
              <a:t>kapacitivnosti</a:t>
            </a:r>
            <a:r>
              <a:rPr lang="en-US" sz="2400" dirty="0" smtClean="0"/>
              <a:t> </a:t>
            </a:r>
            <a:r>
              <a:rPr lang="en-US" sz="2400" dirty="0" err="1" smtClean="0"/>
              <a:t>daje</a:t>
            </a:r>
            <a:r>
              <a:rPr lang="en-US" sz="2400" dirty="0" smtClean="0"/>
              <a:t> </a:t>
            </a:r>
            <a:r>
              <a:rPr lang="en-US" sz="2400" dirty="0" err="1" smtClean="0"/>
              <a:t>zavisnost</a:t>
            </a:r>
            <a:r>
              <a:rPr lang="en-US" sz="2400" dirty="0" smtClean="0"/>
              <a:t> </a:t>
            </a:r>
            <a:r>
              <a:rPr lang="en-US" sz="2400" dirty="0" err="1" smtClean="0"/>
              <a:t>kapacitivnosti</a:t>
            </a:r>
            <a:r>
              <a:rPr lang="en-US" sz="2400" dirty="0" smtClean="0"/>
              <a:t> </a:t>
            </a:r>
            <a:r>
              <a:rPr lang="en-US" sz="2400" dirty="0" err="1" smtClean="0"/>
              <a:t>po</a:t>
            </a:r>
            <a:r>
              <a:rPr lang="sr-Latn-RS" sz="2400" dirty="0" smtClean="0"/>
              <a:t> </a:t>
            </a:r>
            <a:r>
              <a:rPr lang="it-IT" sz="2400" dirty="0" smtClean="0"/>
              <a:t>jedinici povr</a:t>
            </a:r>
            <a:r>
              <a:rPr lang="sr-Latn-RS" sz="2400" dirty="0" smtClean="0"/>
              <a:t>š</a:t>
            </a:r>
            <a:r>
              <a:rPr lang="it-IT" sz="2400" dirty="0" smtClean="0"/>
              <a:t>ine, </a:t>
            </a:r>
            <a:r>
              <a:rPr lang="sr-Latn-RS" sz="2400" dirty="0" smtClean="0"/>
              <a:t>š</a:t>
            </a:r>
            <a:r>
              <a:rPr lang="it-IT" sz="2400" dirty="0" smtClean="0"/>
              <a:t>to </a:t>
            </a:r>
            <a:r>
              <a:rPr lang="sr-Latn-RS" sz="2400" dirty="0" smtClean="0"/>
              <a:t>ć</a:t>
            </a:r>
            <a:r>
              <a:rPr lang="it-IT" sz="2400" dirty="0" smtClean="0"/>
              <a:t>e biti slu</a:t>
            </a:r>
            <a:r>
              <a:rPr lang="sr-Latn-RS" sz="2400" dirty="0" smtClean="0"/>
              <a:t>č</a:t>
            </a:r>
            <a:r>
              <a:rPr lang="it-IT" sz="2400" dirty="0" smtClean="0"/>
              <a:t>aj i </a:t>
            </a:r>
            <a:r>
              <a:rPr lang="sr-Latn-RS" sz="2400" dirty="0" smtClean="0"/>
              <a:t>ovde</a:t>
            </a:r>
            <a:r>
              <a:rPr lang="it-IT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za CV prv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0"/>
            <a:ext cx="3378708" cy="38176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91000" y="2362200"/>
            <a:ext cx="4800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2400" dirty="0" smtClean="0"/>
              <a:t>Ispod oksida, u poluprovodniku, povećana je </a:t>
            </a:r>
            <a:r>
              <a:rPr lang="en-US" sz="2400" dirty="0" err="1" smtClean="0"/>
              <a:t>koncentracija</a:t>
            </a:r>
            <a:r>
              <a:rPr lang="en-US" sz="2400" dirty="0" smtClean="0"/>
              <a:t> </a:t>
            </a:r>
            <a:r>
              <a:rPr lang="sr-Latn-RS" sz="2400" dirty="0" smtClean="0"/>
              <a:t>š</a:t>
            </a:r>
            <a:r>
              <a:rPr lang="en-US" sz="2400" dirty="0" err="1" smtClean="0"/>
              <a:t>upljina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ova oblast </a:t>
            </a:r>
            <a:r>
              <a:rPr lang="en-US" sz="2400" dirty="0" err="1" smtClean="0"/>
              <a:t>rada</a:t>
            </a:r>
            <a:r>
              <a:rPr lang="en-US" sz="2400" dirty="0" smtClean="0"/>
              <a:t> </a:t>
            </a:r>
            <a:r>
              <a:rPr lang="en-US" sz="2400" dirty="0" err="1" smtClean="0"/>
              <a:t>zove</a:t>
            </a:r>
            <a:r>
              <a:rPr lang="sr-Latn-RS" sz="2400" dirty="0" smtClean="0"/>
              <a:t> se </a:t>
            </a:r>
            <a:r>
              <a:rPr lang="en-US" sz="2400" b="1" dirty="0" err="1" smtClean="0"/>
              <a:t>akumulacija</a:t>
            </a:r>
            <a:r>
              <a:rPr lang="en-US" sz="2400" dirty="0" smtClean="0"/>
              <a:t>.</a:t>
            </a:r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r>
              <a:rPr lang="sr-Latn-RS" sz="2400" i="1" dirty="0" smtClean="0"/>
              <a:t>t</a:t>
            </a:r>
            <a:r>
              <a:rPr lang="sr-Latn-RS" sz="2400" i="1" baseline="-25000" dirty="0" smtClean="0"/>
              <a:t>ox</a:t>
            </a:r>
            <a:r>
              <a:rPr lang="sr-Latn-RS" sz="2400" dirty="0" smtClean="0"/>
              <a:t> je debljina oksida, a </a:t>
            </a:r>
            <a:r>
              <a:rPr lang="sr-Latn-RS" sz="2400" i="1" dirty="0" smtClean="0">
                <a:sym typeface="Symbol"/>
              </a:rPr>
              <a:t></a:t>
            </a:r>
            <a:r>
              <a:rPr lang="sr-Latn-RS" sz="2400" i="1" baseline="-25000" dirty="0" smtClean="0">
                <a:sym typeface="Symbol"/>
              </a:rPr>
              <a:t>ox</a:t>
            </a:r>
            <a:r>
              <a:rPr lang="sr-Latn-RS" sz="2400" dirty="0" smtClean="0">
                <a:sym typeface="Symbol"/>
              </a:rPr>
              <a:t> je dielektrična konstanta oksida </a:t>
            </a:r>
            <a:br>
              <a:rPr lang="sr-Latn-RS" sz="2400" dirty="0" smtClean="0">
                <a:sym typeface="Symbol"/>
              </a:rPr>
            </a:br>
            <a:r>
              <a:rPr lang="sr-Latn-RS" sz="2400" dirty="0" smtClean="0">
                <a:sym typeface="Symbol"/>
              </a:rPr>
              <a:t>(</a:t>
            </a:r>
            <a:r>
              <a:rPr lang="sr-Latn-RS" sz="2400" i="1" dirty="0" smtClean="0">
                <a:sym typeface="Symbol"/>
              </a:rPr>
              <a:t></a:t>
            </a:r>
            <a:r>
              <a:rPr lang="sr-Latn-RS" sz="2400" i="1" baseline="-25000" dirty="0" smtClean="0">
                <a:sym typeface="Symbol"/>
              </a:rPr>
              <a:t>rox</a:t>
            </a:r>
            <a:r>
              <a:rPr lang="sr-Latn-RS" sz="2400" dirty="0" smtClean="0">
                <a:sym typeface="Symbol"/>
              </a:rPr>
              <a:t> = 3.97) </a:t>
            </a:r>
            <a:endParaRPr lang="en-US" sz="2400" dirty="0"/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2590800" y="2895602"/>
            <a:ext cx="1600200" cy="304798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4038599"/>
            <a:ext cx="25654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91000" y="2362200"/>
            <a:ext cx="4800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2400" dirty="0" smtClean="0"/>
              <a:t>Ispod oksida, u poluprovodniku, </a:t>
            </a:r>
            <a:r>
              <a:rPr lang="sr-Latn-RS" sz="2400" dirty="0" smtClean="0"/>
              <a:t>pojavljuju se nekompenzovani akceptorski joni i </a:t>
            </a:r>
            <a:r>
              <a:rPr lang="en-US" sz="2400" dirty="0" smtClean="0"/>
              <a:t>ova oblast </a:t>
            </a:r>
            <a:r>
              <a:rPr lang="en-US" sz="2400" dirty="0" err="1" smtClean="0"/>
              <a:t>rada</a:t>
            </a:r>
            <a:r>
              <a:rPr lang="en-US" sz="2400" dirty="0" smtClean="0"/>
              <a:t> </a:t>
            </a:r>
            <a:r>
              <a:rPr lang="en-US" sz="2400" dirty="0" err="1" smtClean="0"/>
              <a:t>zove</a:t>
            </a:r>
            <a:r>
              <a:rPr lang="sr-Latn-RS" sz="2400" dirty="0" smtClean="0"/>
              <a:t> se </a:t>
            </a:r>
            <a:r>
              <a:rPr lang="sr-Latn-RS" sz="2400" b="1" dirty="0" smtClean="0"/>
              <a:t>osiromašenje</a:t>
            </a:r>
            <a:r>
              <a:rPr lang="en-US" sz="2400" dirty="0" smtClean="0"/>
              <a:t>.</a:t>
            </a:r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r>
              <a:rPr lang="sr-Latn-RS" sz="2400" i="1" dirty="0" smtClean="0"/>
              <a:t>C</a:t>
            </a:r>
            <a:r>
              <a:rPr lang="sr-Latn-RS" sz="2400" i="1" baseline="-25000" dirty="0" smtClean="0"/>
              <a:t>Si</a:t>
            </a:r>
            <a:r>
              <a:rPr lang="sr-Latn-RS" sz="2400" i="1" dirty="0" smtClean="0"/>
              <a:t> </a:t>
            </a:r>
            <a:r>
              <a:rPr lang="sr-Latn-RS" sz="2400" dirty="0" smtClean="0"/>
              <a:t>je kapacitivnost po jedinici površine kondenzatora sa delom dielektrika u silicijumu </a:t>
            </a:r>
            <a:endParaRPr lang="en-US" sz="2400" dirty="0"/>
          </a:p>
        </p:txBody>
      </p:sp>
      <p:pic>
        <p:nvPicPr>
          <p:cNvPr id="7" name="Picture 6" descr="za CV drug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1600200"/>
            <a:ext cx="3378708" cy="381762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3581400" y="990600"/>
            <a:ext cx="1219200" cy="1981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33800" y="609600"/>
            <a:ext cx="203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</a:t>
            </a:r>
            <a:r>
              <a:rPr lang="sr-Latn-RS" dirty="0" smtClean="0"/>
              <a:t>siromašena oblast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4114799"/>
            <a:ext cx="2616200" cy="113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" name="Straight Arrow Connector 14"/>
          <p:cNvCxnSpPr/>
          <p:nvPr/>
        </p:nvCxnSpPr>
        <p:spPr>
          <a:xfrm flipH="1" flipV="1">
            <a:off x="2667000" y="3124200"/>
            <a:ext cx="1524000" cy="5334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91000" y="2362200"/>
            <a:ext cx="4800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2400" dirty="0" smtClean="0"/>
              <a:t>Ispod oksida, u poluprovodniku, </a:t>
            </a:r>
            <a:r>
              <a:rPr lang="sr-Latn-RS" sz="2400" dirty="0" smtClean="0"/>
              <a:t>pojavljuju se elektroni i </a:t>
            </a:r>
            <a:r>
              <a:rPr lang="en-US" sz="2400" dirty="0" smtClean="0"/>
              <a:t>ova oblast </a:t>
            </a:r>
            <a:r>
              <a:rPr lang="en-US" sz="2400" dirty="0" err="1" smtClean="0"/>
              <a:t>rada</a:t>
            </a:r>
            <a:r>
              <a:rPr lang="en-US" sz="2400" dirty="0" smtClean="0"/>
              <a:t> </a:t>
            </a:r>
            <a:r>
              <a:rPr lang="en-US" sz="2400" dirty="0" err="1" smtClean="0"/>
              <a:t>zove</a:t>
            </a:r>
            <a:r>
              <a:rPr lang="sr-Latn-RS" sz="2400" dirty="0" smtClean="0"/>
              <a:t> se </a:t>
            </a:r>
            <a:r>
              <a:rPr lang="sr-Latn-RS" sz="2400" b="1" dirty="0" smtClean="0"/>
              <a:t>slaba inverzija</a:t>
            </a:r>
            <a:r>
              <a:rPr lang="en-US" sz="2400" dirty="0" smtClean="0"/>
              <a:t>.</a:t>
            </a:r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r>
              <a:rPr lang="sr-Latn-RS" sz="2400" i="1" dirty="0" smtClean="0"/>
              <a:t>C</a:t>
            </a:r>
            <a:r>
              <a:rPr lang="sr-Latn-RS" sz="2400" i="1" baseline="-25000" dirty="0" smtClean="0"/>
              <a:t>Si</a:t>
            </a:r>
            <a:r>
              <a:rPr lang="sr-Latn-RS" sz="2400" i="1" dirty="0" smtClean="0"/>
              <a:t> </a:t>
            </a:r>
            <a:r>
              <a:rPr lang="sr-Latn-RS" sz="2400" dirty="0" smtClean="0"/>
              <a:t>je kapacitivnost po jedinici površine kondenzatora sa delom dielektrika u silicijumu 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733800" y="609600"/>
            <a:ext cx="203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</a:t>
            </a:r>
            <a:r>
              <a:rPr lang="sr-Latn-RS" dirty="0" smtClean="0"/>
              <a:t>siromašena oblast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3657600"/>
            <a:ext cx="2616200" cy="113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za CV trec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" y="1447800"/>
            <a:ext cx="3378708" cy="381762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3581400" y="990600"/>
            <a:ext cx="1219200" cy="1981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2667000" y="3124200"/>
            <a:ext cx="1524000" cy="5334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43400" y="2362200"/>
            <a:ext cx="4800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2400" dirty="0" smtClean="0"/>
              <a:t>Ispod oksida, u poluprovodniku, </a:t>
            </a:r>
            <a:r>
              <a:rPr lang="sr-Latn-RS" sz="2400" dirty="0" smtClean="0"/>
              <a:t>pojavljuju ima veliki broj elektrona, pojavljuje se tanak sloj n-tipa, i </a:t>
            </a:r>
            <a:r>
              <a:rPr lang="en-US" sz="2400" dirty="0" smtClean="0"/>
              <a:t>ova oblast </a:t>
            </a:r>
            <a:r>
              <a:rPr lang="en-US" sz="2400" dirty="0" err="1" smtClean="0"/>
              <a:t>rada</a:t>
            </a:r>
            <a:r>
              <a:rPr lang="en-US" sz="2400" dirty="0" smtClean="0"/>
              <a:t> </a:t>
            </a:r>
            <a:r>
              <a:rPr lang="en-US" sz="2400" dirty="0" err="1" smtClean="0"/>
              <a:t>zove</a:t>
            </a:r>
            <a:r>
              <a:rPr lang="sr-Latn-RS" sz="2400" dirty="0" smtClean="0"/>
              <a:t> se </a:t>
            </a:r>
            <a:r>
              <a:rPr lang="sr-Latn-RS" sz="2400" b="1" dirty="0" smtClean="0"/>
              <a:t>jaka inverzija</a:t>
            </a:r>
            <a:r>
              <a:rPr lang="en-US" sz="2400" dirty="0" smtClean="0"/>
              <a:t>.</a:t>
            </a:r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r>
              <a:rPr lang="sr-Latn-RS" sz="2400" dirty="0" smtClean="0"/>
              <a:t>Kapacitivnost ne zavisi dalje od primenjenog napona.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800" y="609600"/>
            <a:ext cx="203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</a:t>
            </a:r>
            <a:r>
              <a:rPr lang="sr-Latn-RS" dirty="0" smtClean="0"/>
              <a:t>siromašena oblast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2667000" y="3124200"/>
            <a:ext cx="1524000" cy="53340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za CV cetvrt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95400"/>
            <a:ext cx="4201668" cy="3817620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3581400" y="990600"/>
            <a:ext cx="1219200" cy="1981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38800" y="1219200"/>
            <a:ext cx="696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 smtClean="0"/>
              <a:t>Kanal</a:t>
            </a:r>
            <a:endParaRPr lang="en-US" dirty="0"/>
          </a:p>
        </p:txBody>
      </p:sp>
      <p:cxnSp>
        <p:nvCxnSpPr>
          <p:cNvPr id="14" name="Straight Arrow Connector 13"/>
          <p:cNvCxnSpPr>
            <a:stCxn id="10" idx="1"/>
          </p:cNvCxnSpPr>
          <p:nvPr/>
        </p:nvCxnSpPr>
        <p:spPr>
          <a:xfrm flipH="1">
            <a:off x="4114800" y="1403866"/>
            <a:ext cx="1524000" cy="133933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4038599"/>
            <a:ext cx="25654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709738"/>
            <a:ext cx="5791200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733800" y="51816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b="1" dirty="0" smtClean="0"/>
              <a:t>C – V kriva 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0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400" b="1" dirty="0" smtClean="0"/>
              <a:t>Napon praga</a:t>
            </a:r>
            <a:endParaRPr lang="en-US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304800" y="751344"/>
            <a:ext cx="8686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/>
              <a:t>Napon</a:t>
            </a:r>
            <a:r>
              <a:rPr lang="en-US" sz="2400" dirty="0" smtClean="0"/>
              <a:t> </a:t>
            </a:r>
            <a:r>
              <a:rPr lang="en-US" sz="2400" dirty="0" err="1" smtClean="0"/>
              <a:t>izme</a:t>
            </a:r>
            <a:r>
              <a:rPr lang="sr-Latn-RS" sz="2400" dirty="0" smtClean="0"/>
              <a:t>đ</a:t>
            </a:r>
            <a:r>
              <a:rPr lang="en-US" sz="2400" dirty="0" smtClean="0"/>
              <a:t>u </a:t>
            </a:r>
            <a:r>
              <a:rPr lang="en-US" sz="2400" dirty="0" err="1" smtClean="0"/>
              <a:t>gejta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sorsa</a:t>
            </a:r>
            <a:r>
              <a:rPr lang="en-US" sz="2400" dirty="0" smtClean="0"/>
              <a:t> </a:t>
            </a:r>
            <a:r>
              <a:rPr lang="en-US" sz="2400" dirty="0" err="1" smtClean="0"/>
              <a:t>pri</a:t>
            </a:r>
            <a:r>
              <a:rPr lang="en-US" sz="2400" dirty="0" smtClean="0"/>
              <a:t> </a:t>
            </a:r>
            <a:r>
              <a:rPr lang="en-US" sz="2400" dirty="0" err="1" smtClean="0"/>
              <a:t>kojem</a:t>
            </a:r>
            <a:r>
              <a:rPr lang="en-US" sz="2400" dirty="0" smtClean="0"/>
              <a:t> </a:t>
            </a:r>
            <a:r>
              <a:rPr lang="en-US" sz="2400" dirty="0" err="1" smtClean="0"/>
              <a:t>dolazi</a:t>
            </a:r>
            <a:r>
              <a:rPr lang="en-US" sz="2400" dirty="0" smtClean="0"/>
              <a:t> do </a:t>
            </a:r>
            <a:r>
              <a:rPr lang="en-US" sz="2400" dirty="0" err="1" smtClean="0"/>
              <a:t>inverzije</a:t>
            </a:r>
            <a:r>
              <a:rPr lang="en-US" sz="2400" dirty="0" smtClean="0"/>
              <a:t> </a:t>
            </a:r>
            <a:r>
              <a:rPr lang="en-US" sz="2400" dirty="0" err="1" smtClean="0"/>
              <a:t>tipa</a:t>
            </a:r>
            <a:r>
              <a:rPr lang="en-US" sz="2400" dirty="0" smtClean="0"/>
              <a:t> </a:t>
            </a:r>
            <a:r>
              <a:rPr lang="en-US" sz="2400" dirty="0" err="1" smtClean="0"/>
              <a:t>podloge</a:t>
            </a:r>
            <a:r>
              <a:rPr lang="en-US" sz="2400" dirty="0" smtClean="0"/>
              <a:t>,</a:t>
            </a:r>
            <a:r>
              <a:rPr lang="sr-Latn-RS" sz="2400" dirty="0" smtClean="0"/>
              <a:t> </a:t>
            </a:r>
            <a:r>
              <a:rPr lang="en-US" sz="2400" dirty="0" err="1" smtClean="0"/>
              <a:t>odnosno</a:t>
            </a:r>
            <a:r>
              <a:rPr lang="en-US" sz="2400" dirty="0" smtClean="0"/>
              <a:t> do </a:t>
            </a:r>
            <a:r>
              <a:rPr lang="en-US" sz="2400" dirty="0" err="1" smtClean="0"/>
              <a:t>formiranja</a:t>
            </a:r>
            <a:r>
              <a:rPr lang="en-US" sz="2400" dirty="0" smtClean="0"/>
              <a:t> </a:t>
            </a:r>
            <a:r>
              <a:rPr lang="en-US" sz="2400" dirty="0" err="1" smtClean="0"/>
              <a:t>kanala</a:t>
            </a:r>
            <a:r>
              <a:rPr lang="en-US" sz="2400" dirty="0" smtClean="0"/>
              <a:t>, </a:t>
            </a:r>
            <a:r>
              <a:rPr lang="en-US" sz="2400" dirty="0" err="1" smtClean="0"/>
              <a:t>zove</a:t>
            </a:r>
            <a:r>
              <a:rPr lang="en-US" sz="2400" dirty="0" smtClean="0"/>
              <a:t> se </a:t>
            </a:r>
            <a:r>
              <a:rPr lang="en-US" sz="2400" b="1" dirty="0" err="1" smtClean="0"/>
              <a:t>napon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praga</a:t>
            </a:r>
            <a:r>
              <a:rPr lang="en-US" sz="2400" b="1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predstavlja</a:t>
            </a:r>
            <a:r>
              <a:rPr lang="en-US" sz="2400" dirty="0" smtClean="0"/>
              <a:t> </a:t>
            </a:r>
            <a:r>
              <a:rPr lang="en-US" sz="2400" dirty="0" err="1" smtClean="0"/>
              <a:t>osnovni</a:t>
            </a:r>
            <a:r>
              <a:rPr lang="sr-Latn-RS" sz="2400" dirty="0" smtClean="0"/>
              <a:t> </a:t>
            </a:r>
            <a:r>
              <a:rPr lang="en-US" sz="2400" dirty="0" err="1" smtClean="0"/>
              <a:t>elektri</a:t>
            </a:r>
            <a:r>
              <a:rPr lang="sr-Latn-RS" sz="2400" dirty="0" smtClean="0"/>
              <a:t>č</a:t>
            </a:r>
            <a:r>
              <a:rPr lang="en-US" sz="2400" dirty="0" err="1" smtClean="0"/>
              <a:t>ni</a:t>
            </a:r>
            <a:r>
              <a:rPr lang="en-US" sz="2400" dirty="0" smtClean="0"/>
              <a:t> </a:t>
            </a:r>
            <a:r>
              <a:rPr lang="en-US" sz="2400" dirty="0" err="1" smtClean="0"/>
              <a:t>parametar</a:t>
            </a:r>
            <a:r>
              <a:rPr lang="en-US" sz="2400" dirty="0" smtClean="0"/>
              <a:t> MOS </a:t>
            </a:r>
            <a:r>
              <a:rPr lang="en-US" sz="2400" dirty="0" err="1" smtClean="0"/>
              <a:t>tranzistora</a:t>
            </a:r>
            <a:r>
              <a:rPr lang="en-US" sz="2400" dirty="0" smtClean="0"/>
              <a:t>. </a:t>
            </a:r>
            <a:r>
              <a:rPr lang="en-US" sz="2400" dirty="0" err="1" smtClean="0"/>
              <a:t>Za</a:t>
            </a:r>
            <a:r>
              <a:rPr lang="en-US" sz="2400" dirty="0" smtClean="0"/>
              <a:t> </a:t>
            </a:r>
            <a:r>
              <a:rPr lang="en-US" sz="2400" dirty="0" err="1" smtClean="0"/>
              <a:t>odre</a:t>
            </a:r>
            <a:r>
              <a:rPr lang="sr-Latn-RS" sz="2400" dirty="0" smtClean="0"/>
              <a:t>đ</a:t>
            </a:r>
            <a:r>
              <a:rPr lang="en-US" sz="2400" dirty="0" err="1" smtClean="0"/>
              <a:t>eni</a:t>
            </a:r>
            <a:r>
              <a:rPr lang="en-US" sz="2400" dirty="0" smtClean="0"/>
              <a:t> </a:t>
            </a:r>
            <a:r>
              <a:rPr lang="en-US" sz="2400" dirty="0" err="1" smtClean="0"/>
              <a:t>tehnolo</a:t>
            </a:r>
            <a:r>
              <a:rPr lang="sr-Latn-RS" sz="2400" dirty="0" smtClean="0"/>
              <a:t>š</a:t>
            </a:r>
            <a:r>
              <a:rPr lang="en-US" sz="2400" dirty="0" err="1" smtClean="0"/>
              <a:t>ki</a:t>
            </a:r>
            <a:r>
              <a:rPr lang="en-US" sz="2400" dirty="0" smtClean="0"/>
              <a:t> </a:t>
            </a:r>
            <a:r>
              <a:rPr lang="en-US" sz="2400" dirty="0" err="1" smtClean="0"/>
              <a:t>proces</a:t>
            </a:r>
            <a:r>
              <a:rPr lang="en-US" sz="2400" dirty="0" smtClean="0"/>
              <a:t>, </a:t>
            </a:r>
            <a:r>
              <a:rPr lang="en-US" sz="2400" dirty="0" err="1" smtClean="0"/>
              <a:t>napon</a:t>
            </a:r>
            <a:r>
              <a:rPr lang="sr-Latn-RS" sz="2400" dirty="0" smtClean="0"/>
              <a:t> </a:t>
            </a:r>
            <a:r>
              <a:rPr lang="en-US" sz="2400" dirty="0" err="1" smtClean="0"/>
              <a:t>praga</a:t>
            </a:r>
            <a:r>
              <a:rPr lang="en-US" sz="2400" dirty="0" smtClean="0"/>
              <a:t> </a:t>
            </a:r>
            <a:r>
              <a:rPr lang="en-US" sz="2400" dirty="0" err="1" smtClean="0"/>
              <a:t>ima</a:t>
            </a:r>
            <a:r>
              <a:rPr lang="en-US" sz="2400" dirty="0" smtClean="0"/>
              <a:t> </a:t>
            </a:r>
            <a:r>
              <a:rPr lang="en-US" sz="2400" dirty="0" err="1" smtClean="0"/>
              <a:t>pribli</a:t>
            </a:r>
            <a:r>
              <a:rPr lang="sr-Latn-RS" sz="2400" dirty="0" smtClean="0"/>
              <a:t>ž</a:t>
            </a:r>
            <a:r>
              <a:rPr lang="en-US" sz="2400" dirty="0" smtClean="0"/>
              <a:t>no </a:t>
            </a:r>
            <a:r>
              <a:rPr lang="en-US" sz="2400" dirty="0" err="1" smtClean="0"/>
              <a:t>konstantnu</a:t>
            </a:r>
            <a:r>
              <a:rPr lang="en-US" sz="2400" dirty="0" smtClean="0"/>
              <a:t> </a:t>
            </a:r>
            <a:r>
              <a:rPr lang="en-US" sz="2400" dirty="0" err="1" smtClean="0"/>
              <a:t>vrednost</a:t>
            </a:r>
            <a:r>
              <a:rPr lang="en-US" sz="2400" dirty="0" smtClean="0"/>
              <a:t>, </a:t>
            </a:r>
            <a:r>
              <a:rPr lang="en-US" sz="2400" dirty="0" err="1" smtClean="0"/>
              <a:t>ukoliko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en-US" sz="2400" dirty="0" smtClean="0"/>
              <a:t> </a:t>
            </a:r>
            <a:r>
              <a:rPr lang="en-US" sz="2400" dirty="0" err="1" smtClean="0"/>
              <a:t>potencijali</a:t>
            </a:r>
            <a:r>
              <a:rPr lang="en-US" sz="2400" dirty="0" smtClean="0"/>
              <a:t> </a:t>
            </a:r>
            <a:r>
              <a:rPr lang="en-US" sz="2400" dirty="0" err="1" smtClean="0"/>
              <a:t>supstrata</a:t>
            </a:r>
            <a:r>
              <a:rPr lang="sr-Latn-R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sorsa</a:t>
            </a:r>
            <a:r>
              <a:rPr lang="en-US" sz="2400" dirty="0" smtClean="0"/>
              <a:t> </a:t>
            </a:r>
            <a:r>
              <a:rPr lang="en-US" sz="2400" dirty="0" err="1" smtClean="0"/>
              <a:t>jednaki</a:t>
            </a:r>
            <a:r>
              <a:rPr lang="en-US" sz="2400" dirty="0" smtClean="0"/>
              <a:t>.</a:t>
            </a:r>
            <a:r>
              <a:rPr lang="sr-Latn-RS" sz="2400" dirty="0" smtClean="0"/>
              <a:t> Za tranzistore sa indukovanim kanalom:</a:t>
            </a:r>
            <a:endParaRPr lang="en-US" sz="2400" dirty="0" smtClean="0"/>
          </a:p>
          <a:p>
            <a:endParaRPr lang="sr-Latn-RS" sz="2400" dirty="0" smtClean="0"/>
          </a:p>
          <a:p>
            <a:pPr>
              <a:buFont typeface="Wingdings" pitchFamily="2" charset="2"/>
              <a:buChar char="q"/>
            </a:pPr>
            <a:r>
              <a:rPr lang="sr-Latn-RS" sz="2400" dirty="0" smtClean="0"/>
              <a:t> </a:t>
            </a:r>
            <a:r>
              <a:rPr lang="en-US" sz="2400" dirty="0" err="1" smtClean="0"/>
              <a:t>Napon</a:t>
            </a:r>
            <a:r>
              <a:rPr lang="en-US" sz="2400" dirty="0" smtClean="0"/>
              <a:t> </a:t>
            </a:r>
            <a:r>
              <a:rPr lang="en-US" sz="2400" dirty="0" err="1" smtClean="0"/>
              <a:t>praga</a:t>
            </a:r>
            <a:r>
              <a:rPr lang="en-US" sz="2400" dirty="0" smtClean="0"/>
              <a:t> NMOS </a:t>
            </a:r>
            <a:r>
              <a:rPr lang="en-US" sz="2400" dirty="0" err="1" smtClean="0"/>
              <a:t>tranzistora</a:t>
            </a:r>
            <a:r>
              <a:rPr lang="en-US" sz="2400" dirty="0" smtClean="0"/>
              <a:t> je </a:t>
            </a:r>
            <a:r>
              <a:rPr lang="en-US" sz="2400" dirty="0" err="1" smtClean="0"/>
              <a:t>pozitivan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V</a:t>
            </a:r>
            <a:r>
              <a:rPr lang="en-US" sz="2400" i="1" baseline="-25000" dirty="0" err="1" smtClean="0"/>
              <a:t>tn</a:t>
            </a:r>
            <a:r>
              <a:rPr lang="en-US" sz="2400" dirty="0" smtClean="0"/>
              <a:t> &gt; 0</a:t>
            </a:r>
            <a:r>
              <a:rPr lang="sr-Latn-RS" sz="2400" dirty="0" smtClean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sr-Latn-RS" sz="2400" dirty="0" smtClean="0"/>
              <a:t> Napon praga PMOS tranzistora je negativan, </a:t>
            </a:r>
            <a:r>
              <a:rPr lang="en-US" sz="2400" i="1" dirty="0" err="1" smtClean="0"/>
              <a:t>V</a:t>
            </a:r>
            <a:r>
              <a:rPr lang="en-US" sz="2400" i="1" baseline="-25000" dirty="0" err="1" smtClean="0"/>
              <a:t>tp</a:t>
            </a:r>
            <a:r>
              <a:rPr lang="en-US" sz="2400" dirty="0" smtClean="0"/>
              <a:t> &lt; 0. </a:t>
            </a:r>
            <a:endParaRPr lang="sr-Latn-RS" sz="2400" dirty="0" smtClean="0"/>
          </a:p>
          <a:p>
            <a:pPr>
              <a:buFont typeface="Wingdings" pitchFamily="2" charset="2"/>
              <a:buChar char="q"/>
            </a:pPr>
            <a:endParaRPr lang="sr-Latn-RS" sz="2400" dirty="0" smtClean="0"/>
          </a:p>
          <a:p>
            <a:pPr>
              <a:buFont typeface="Wingdings" pitchFamily="2" charset="2"/>
              <a:buChar char="q"/>
            </a:pPr>
            <a:endParaRPr lang="sr-Latn-RS" sz="2400" dirty="0" smtClean="0"/>
          </a:p>
          <a:p>
            <a:r>
              <a:rPr lang="sr-Latn-RS" sz="2400" dirty="0" smtClean="0"/>
              <a:t>Za tranzistore sa ugrađenim kanalom: </a:t>
            </a:r>
          </a:p>
          <a:p>
            <a:endParaRPr lang="sr-Latn-RS" sz="2400" dirty="0" smtClean="0"/>
          </a:p>
          <a:p>
            <a:pPr>
              <a:buFont typeface="Wingdings" pitchFamily="2" charset="2"/>
              <a:buChar char="q"/>
            </a:pPr>
            <a:r>
              <a:rPr lang="sr-Latn-RS" sz="2400" dirty="0" smtClean="0"/>
              <a:t> </a:t>
            </a:r>
            <a:r>
              <a:rPr lang="en-US" sz="2400" dirty="0" err="1" smtClean="0"/>
              <a:t>Napon</a:t>
            </a:r>
            <a:r>
              <a:rPr lang="en-US" sz="2400" dirty="0" smtClean="0"/>
              <a:t> </a:t>
            </a:r>
            <a:r>
              <a:rPr lang="en-US" sz="2400" dirty="0" err="1" smtClean="0"/>
              <a:t>praga</a:t>
            </a:r>
            <a:r>
              <a:rPr lang="en-US" sz="2400" dirty="0" smtClean="0"/>
              <a:t> NMOS </a:t>
            </a:r>
            <a:r>
              <a:rPr lang="en-US" sz="2400" dirty="0" err="1" smtClean="0"/>
              <a:t>tranzistora</a:t>
            </a:r>
            <a:r>
              <a:rPr lang="en-US" sz="2400" dirty="0" smtClean="0"/>
              <a:t> je </a:t>
            </a:r>
            <a:r>
              <a:rPr lang="sr-Latn-RS" sz="2400" dirty="0" smtClean="0"/>
              <a:t>negativan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V</a:t>
            </a:r>
            <a:r>
              <a:rPr lang="en-US" sz="2400" i="1" baseline="-25000" dirty="0" err="1" smtClean="0"/>
              <a:t>tn</a:t>
            </a:r>
            <a:r>
              <a:rPr lang="en-US" sz="2400" dirty="0" smtClean="0"/>
              <a:t> &lt; 0</a:t>
            </a:r>
            <a:r>
              <a:rPr lang="sr-Latn-RS" sz="2400" dirty="0" smtClean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sr-Latn-RS" sz="2400" dirty="0" smtClean="0"/>
              <a:t> Napon praga PMOS tranzistora je pozitivan, </a:t>
            </a:r>
            <a:r>
              <a:rPr lang="en-US" sz="2400" i="1" dirty="0" err="1" smtClean="0"/>
              <a:t>V</a:t>
            </a:r>
            <a:r>
              <a:rPr lang="en-US" sz="2400" i="1" baseline="-25000" dirty="0" err="1" smtClean="0"/>
              <a:t>tp</a:t>
            </a:r>
            <a:r>
              <a:rPr lang="en-US" sz="2400" dirty="0" smtClean="0"/>
              <a:t> &gt; 0. </a:t>
            </a:r>
            <a:endParaRPr lang="sr-Latn-R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0"/>
            <a:ext cx="815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400" b="1" dirty="0" smtClean="0"/>
              <a:t>Efekat supstrata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28601" y="838200"/>
            <a:ext cx="8915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400" dirty="0" smtClean="0"/>
              <a:t>Ako su sors i supstrat na različitim potencijalima, tada se menja napon praga:</a:t>
            </a:r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r>
              <a:rPr lang="pl-PL" sz="2400" dirty="0" smtClean="0"/>
              <a:t>gde je sa </a:t>
            </a:r>
            <a:r>
              <a:rPr lang="pl-PL" sz="2400" i="1" dirty="0" smtClean="0"/>
              <a:t>V</a:t>
            </a:r>
            <a:r>
              <a:rPr lang="pl-PL" sz="2400" i="1" baseline="-25000" dirty="0" smtClean="0"/>
              <a:t>tn</a:t>
            </a:r>
            <a:r>
              <a:rPr lang="pl-PL" sz="2400" baseline="-25000" dirty="0" smtClean="0"/>
              <a:t>0</a:t>
            </a:r>
            <a:r>
              <a:rPr lang="pl-PL" sz="2400" dirty="0" smtClean="0"/>
              <a:t> označen napon praga tranzistora za </a:t>
            </a:r>
            <a:r>
              <a:rPr lang="pl-PL" sz="2400" i="1" dirty="0" smtClean="0"/>
              <a:t>V</a:t>
            </a:r>
            <a:r>
              <a:rPr lang="pl-PL" sz="2400" i="1" baseline="-25000" dirty="0" smtClean="0"/>
              <a:t>SB</a:t>
            </a:r>
            <a:r>
              <a:rPr lang="pl-PL" sz="2400" dirty="0" smtClean="0"/>
              <a:t> = 0, a</a:t>
            </a:r>
          </a:p>
          <a:p>
            <a:endParaRPr lang="pl-PL" sz="2400" dirty="0" smtClean="0"/>
          </a:p>
          <a:p>
            <a:endParaRPr lang="pl-PL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r>
              <a:rPr lang="en-US" sz="2400" dirty="0" smtClean="0"/>
              <a:t>je </a:t>
            </a:r>
            <a:r>
              <a:rPr lang="en-US" sz="2400" dirty="0" err="1" smtClean="0"/>
              <a:t>koe</a:t>
            </a:r>
            <a:r>
              <a:rPr lang="sr-Latn-RS" sz="2400" dirty="0" smtClean="0"/>
              <a:t>fi</a:t>
            </a:r>
            <a:r>
              <a:rPr lang="en-US" sz="2400" dirty="0" err="1" smtClean="0"/>
              <a:t>cijent</a:t>
            </a:r>
            <a:r>
              <a:rPr lang="en-US" sz="2400" dirty="0" smtClean="0"/>
              <a:t> </a:t>
            </a:r>
            <a:r>
              <a:rPr lang="en-US" sz="2400" dirty="0" err="1" smtClean="0"/>
              <a:t>polarizacije</a:t>
            </a:r>
            <a:r>
              <a:rPr lang="en-US" sz="2400" dirty="0" smtClean="0"/>
              <a:t> </a:t>
            </a:r>
            <a:r>
              <a:rPr lang="en-US" sz="2400" dirty="0" err="1" smtClean="0"/>
              <a:t>supstrata</a:t>
            </a:r>
            <a:r>
              <a:rPr lang="en-US" sz="2400" dirty="0" smtClean="0"/>
              <a:t>, </a:t>
            </a:r>
            <a:r>
              <a:rPr lang="en-US" sz="2400" dirty="0" err="1" smtClean="0"/>
              <a:t>koji</a:t>
            </a:r>
            <a:r>
              <a:rPr lang="en-US" sz="2400" dirty="0" smtClean="0"/>
              <a:t> se </a:t>
            </a:r>
            <a:r>
              <a:rPr lang="sr-Latn-RS" sz="2400" dirty="0" smtClean="0"/>
              <a:t>č</a:t>
            </a:r>
            <a:r>
              <a:rPr lang="en-US" sz="2400" dirty="0" err="1" smtClean="0"/>
              <a:t>esto</a:t>
            </a:r>
            <a:r>
              <a:rPr lang="en-US" sz="2400" dirty="0" smtClean="0"/>
              <a:t> </a:t>
            </a:r>
            <a:r>
              <a:rPr lang="en-US" sz="2400" dirty="0" err="1" smtClean="0"/>
              <a:t>naziva</a:t>
            </a:r>
            <a:r>
              <a:rPr lang="en-US" sz="2400" dirty="0" smtClean="0"/>
              <a:t> </a:t>
            </a:r>
            <a:r>
              <a:rPr lang="en-US" sz="2400" dirty="0" err="1" smtClean="0"/>
              <a:t>koecijentom</a:t>
            </a:r>
            <a:r>
              <a:rPr lang="en-US" sz="2400" dirty="0" smtClean="0"/>
              <a:t> </a:t>
            </a:r>
            <a:r>
              <a:rPr lang="en-US" sz="2400" dirty="0" err="1" smtClean="0"/>
              <a:t>efekta</a:t>
            </a:r>
            <a:r>
              <a:rPr lang="sr-Latn-RS" sz="2400" dirty="0" smtClean="0"/>
              <a:t> </a:t>
            </a:r>
            <a:r>
              <a:rPr lang="en-US" sz="2400" dirty="0" err="1" smtClean="0"/>
              <a:t>tela</a:t>
            </a:r>
            <a:r>
              <a:rPr lang="en-US" sz="2400" dirty="0" smtClean="0"/>
              <a:t> (eng. </a:t>
            </a:r>
            <a:r>
              <a:rPr lang="en-US" sz="2400" i="1" dirty="0" smtClean="0"/>
              <a:t>body-e</a:t>
            </a:r>
            <a:r>
              <a:rPr lang="sr-Latn-RS" sz="2400" i="1" dirty="0" smtClean="0"/>
              <a:t>ff</a:t>
            </a:r>
            <a:r>
              <a:rPr lang="en-US" sz="2400" i="1" dirty="0" err="1" smtClean="0"/>
              <a:t>ect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coe</a:t>
            </a:r>
            <a:r>
              <a:rPr lang="sr-Latn-RS" sz="2400" i="1" dirty="0" smtClean="0"/>
              <a:t>ffi</a:t>
            </a:r>
            <a:r>
              <a:rPr lang="en-US" sz="2400" i="1" dirty="0" err="1" smtClean="0"/>
              <a:t>cient</a:t>
            </a:r>
            <a:r>
              <a:rPr lang="en-US" sz="2400" dirty="0" smtClean="0"/>
              <a:t>). Sa </a:t>
            </a:r>
            <a:r>
              <a:rPr lang="en-US" sz="2400" i="1" dirty="0" smtClean="0">
                <a:sym typeface="Symbol"/>
              </a:rPr>
              <a:t></a:t>
            </a:r>
            <a:r>
              <a:rPr lang="en-US" sz="2400" i="1" baseline="-25000" dirty="0" smtClean="0"/>
              <a:t>F</a:t>
            </a:r>
            <a:r>
              <a:rPr lang="en-US" sz="2400" dirty="0" smtClean="0"/>
              <a:t> </a:t>
            </a:r>
            <a:r>
              <a:rPr lang="en-US" sz="2400" dirty="0" err="1" smtClean="0"/>
              <a:t>ozna</a:t>
            </a:r>
            <a:r>
              <a:rPr lang="sr-Latn-RS" sz="2400" dirty="0" smtClean="0"/>
              <a:t>č</a:t>
            </a:r>
            <a:r>
              <a:rPr lang="en-US" sz="2400" dirty="0" smtClean="0"/>
              <a:t>en je </a:t>
            </a:r>
            <a:r>
              <a:rPr lang="en-US" sz="2400" dirty="0" err="1" smtClean="0"/>
              <a:t>Fermijev</a:t>
            </a:r>
            <a:r>
              <a:rPr lang="en-US" sz="2400" dirty="0" smtClean="0"/>
              <a:t> </a:t>
            </a:r>
            <a:r>
              <a:rPr lang="en-US" sz="2400" dirty="0" err="1" smtClean="0"/>
              <a:t>potencijal</a:t>
            </a:r>
            <a:r>
              <a:rPr lang="en-US" sz="2400" dirty="0" smtClean="0"/>
              <a:t> </a:t>
            </a:r>
            <a:r>
              <a:rPr lang="en-US" sz="2400" dirty="0" err="1" smtClean="0"/>
              <a:t>koji</a:t>
            </a:r>
            <a:r>
              <a:rPr lang="sr-Latn-RS" sz="2400" dirty="0" smtClean="0"/>
              <a:t> </a:t>
            </a:r>
            <a:r>
              <a:rPr lang="en-US" sz="2400" dirty="0" err="1" smtClean="0"/>
              <a:t>ima</a:t>
            </a:r>
            <a:r>
              <a:rPr lang="en-US" sz="2400" dirty="0" smtClean="0"/>
              <a:t> tipi</a:t>
            </a:r>
            <a:r>
              <a:rPr lang="sr-Latn-RS" sz="2400" dirty="0" smtClean="0"/>
              <a:t>č</a:t>
            </a:r>
            <a:r>
              <a:rPr lang="en-US" sz="2400" dirty="0" smtClean="0"/>
              <a:t>ne </a:t>
            </a:r>
            <a:r>
              <a:rPr lang="en-US" sz="2400" dirty="0" err="1" smtClean="0"/>
              <a:t>vrednosti</a:t>
            </a:r>
            <a:r>
              <a:rPr lang="en-US" sz="2400" dirty="0" smtClean="0"/>
              <a:t> </a:t>
            </a:r>
            <a:r>
              <a:rPr lang="en-US" sz="2400" dirty="0" err="1" smtClean="0"/>
              <a:t>za</a:t>
            </a:r>
            <a:r>
              <a:rPr lang="en-US" sz="2400" dirty="0" smtClean="0"/>
              <a:t> p-tip </a:t>
            </a:r>
            <a:r>
              <a:rPr lang="en-US" sz="2400" dirty="0" err="1" smtClean="0"/>
              <a:t>podloge</a:t>
            </a:r>
            <a:r>
              <a:rPr lang="en-US" sz="2400" dirty="0" smtClean="0"/>
              <a:t> u </a:t>
            </a:r>
            <a:r>
              <a:rPr lang="en-US" sz="2400" dirty="0" err="1" smtClean="0"/>
              <a:t>opsegu</a:t>
            </a:r>
            <a:r>
              <a:rPr lang="en-US" sz="2400" dirty="0" smtClean="0"/>
              <a:t> </a:t>
            </a:r>
            <a:r>
              <a:rPr lang="en-US" sz="2400" dirty="0" err="1" smtClean="0"/>
              <a:t>od</a:t>
            </a:r>
            <a:r>
              <a:rPr lang="en-US" sz="2400" dirty="0" smtClean="0"/>
              <a:t> </a:t>
            </a:r>
            <a:r>
              <a:rPr lang="sr-Latn-RS" sz="2400" dirty="0" smtClean="0"/>
              <a:t/>
            </a:r>
            <a:br>
              <a:rPr lang="sr-Latn-RS" sz="2400" dirty="0" smtClean="0"/>
            </a:br>
            <a:r>
              <a:rPr lang="sr-Latn-RS" sz="2400" dirty="0" smtClean="0">
                <a:sym typeface="Symbol"/>
              </a:rPr>
              <a:t></a:t>
            </a:r>
            <a:r>
              <a:rPr lang="en-US" sz="2400" dirty="0" smtClean="0"/>
              <a:t>0</a:t>
            </a:r>
            <a:r>
              <a:rPr lang="sr-Latn-RS" sz="2400" dirty="0" smtClean="0"/>
              <a:t>.</a:t>
            </a:r>
            <a:r>
              <a:rPr lang="en-US" sz="2400" dirty="0" smtClean="0"/>
              <a:t>4</a:t>
            </a:r>
            <a:r>
              <a:rPr lang="sr-Latn-RS" sz="2400" dirty="0" smtClean="0"/>
              <a:t> </a:t>
            </a:r>
            <a:r>
              <a:rPr lang="en-US" sz="2400" dirty="0" smtClean="0"/>
              <a:t>V</a:t>
            </a:r>
            <a:r>
              <a:rPr lang="sr-Latn-RS" sz="2400" dirty="0" smtClean="0"/>
              <a:t> </a:t>
            </a:r>
            <a:r>
              <a:rPr lang="en-US" sz="2400" dirty="0" smtClean="0"/>
              <a:t>do </a:t>
            </a:r>
            <a:r>
              <a:rPr lang="sr-Latn-RS" sz="2400" dirty="0" smtClean="0">
                <a:sym typeface="Symbol"/>
              </a:rPr>
              <a:t> </a:t>
            </a:r>
            <a:r>
              <a:rPr lang="en-US" sz="2400" dirty="0" smtClean="0"/>
              <a:t>0</a:t>
            </a:r>
            <a:r>
              <a:rPr lang="sr-Latn-RS" sz="2400" dirty="0" smtClean="0"/>
              <a:t>.</a:t>
            </a:r>
            <a:r>
              <a:rPr lang="en-US" sz="2400" dirty="0" smtClean="0"/>
              <a:t>3 V.</a:t>
            </a:r>
            <a:endParaRPr 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752600"/>
            <a:ext cx="6217920" cy="662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3314700"/>
            <a:ext cx="261620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3762" y="76200"/>
            <a:ext cx="49394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3200" b="1" dirty="0" smtClean="0">
                <a:solidFill>
                  <a:srgbClr val="0070C0"/>
                </a:solidFill>
              </a:rPr>
              <a:t>Uspostavljanje struje drejna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401" y="762000"/>
            <a:ext cx="88392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400" dirty="0" smtClean="0"/>
              <a:t>Za NMOS tranzistor pretpostavimo da je uspostavljen kanal, odnosno da je  </a:t>
            </a:r>
            <a:r>
              <a:rPr lang="sr-Latn-RS" sz="2400" i="1" dirty="0" smtClean="0"/>
              <a:t>V</a:t>
            </a:r>
            <a:r>
              <a:rPr lang="sr-Latn-RS" sz="2400" i="1" baseline="-25000" dirty="0" smtClean="0"/>
              <a:t>GS</a:t>
            </a:r>
            <a:r>
              <a:rPr lang="sr-Latn-RS" sz="2400" dirty="0" smtClean="0"/>
              <a:t> </a:t>
            </a:r>
            <a:r>
              <a:rPr lang="sr-Latn-RS" sz="2400" dirty="0" smtClean="0">
                <a:sym typeface="Symbol"/>
              </a:rPr>
              <a:t> </a:t>
            </a:r>
            <a:r>
              <a:rPr lang="sr-Latn-RS" sz="2400" i="1" dirty="0" smtClean="0">
                <a:sym typeface="Symbol"/>
              </a:rPr>
              <a:t>V</a:t>
            </a:r>
            <a:r>
              <a:rPr lang="sr-Latn-RS" sz="2400" i="1" baseline="-25000" dirty="0" smtClean="0">
                <a:sym typeface="Symbol"/>
              </a:rPr>
              <a:t>tn</a:t>
            </a:r>
            <a:r>
              <a:rPr lang="sr-Latn-RS" sz="2400" dirty="0" smtClean="0">
                <a:sym typeface="Symbol"/>
              </a:rPr>
              <a:t>. Da bi protekla struja, neophodno je dovesti određeni napon izneđu sorsa i drejna, </a:t>
            </a:r>
            <a:r>
              <a:rPr lang="sr-Latn-RS" sz="2400" i="1" dirty="0" smtClean="0">
                <a:sym typeface="Symbol"/>
              </a:rPr>
              <a:t>V</a:t>
            </a:r>
            <a:r>
              <a:rPr lang="sr-Latn-RS" sz="2400" i="1" baseline="-25000" dirty="0" smtClean="0">
                <a:sym typeface="Symbol"/>
              </a:rPr>
              <a:t>DS</a:t>
            </a:r>
            <a:r>
              <a:rPr lang="sr-Latn-RS" sz="2400" dirty="0" smtClean="0">
                <a:sym typeface="Symbol"/>
              </a:rPr>
              <a:t>  0. </a:t>
            </a:r>
          </a:p>
          <a:p>
            <a:endParaRPr lang="sr-Latn-RS" sz="2400" dirty="0" smtClean="0">
              <a:sym typeface="Symbol"/>
            </a:endParaRPr>
          </a:p>
          <a:p>
            <a:endParaRPr lang="sr-Latn-RS" sz="2400" dirty="0" smtClean="0">
              <a:sym typeface="Symbol"/>
            </a:endParaRPr>
          </a:p>
          <a:p>
            <a:endParaRPr lang="sr-Latn-RS" sz="2400" dirty="0" smtClean="0">
              <a:sym typeface="Symbol"/>
            </a:endParaRPr>
          </a:p>
          <a:p>
            <a:endParaRPr lang="sr-Latn-RS" sz="2400" dirty="0" smtClean="0">
              <a:sym typeface="Symbol"/>
            </a:endParaRPr>
          </a:p>
          <a:p>
            <a:endParaRPr lang="sr-Latn-RS" sz="2400" dirty="0" smtClean="0">
              <a:sym typeface="Symbol"/>
            </a:endParaRPr>
          </a:p>
          <a:p>
            <a:endParaRPr lang="sr-Latn-RS" sz="2400" dirty="0" smtClean="0">
              <a:sym typeface="Symbol"/>
            </a:endParaRPr>
          </a:p>
          <a:p>
            <a:endParaRPr lang="sr-Latn-RS" sz="2400" dirty="0" smtClean="0">
              <a:sym typeface="Symbol"/>
            </a:endParaRPr>
          </a:p>
          <a:p>
            <a:endParaRPr lang="sr-Latn-RS" sz="2400" dirty="0" smtClean="0">
              <a:sym typeface="Symbol"/>
            </a:endParaRPr>
          </a:p>
          <a:p>
            <a:endParaRPr lang="sr-Latn-RS" sz="2400" dirty="0" smtClean="0">
              <a:sym typeface="Symbol"/>
            </a:endParaRPr>
          </a:p>
          <a:p>
            <a:r>
              <a:rPr lang="en-US" sz="2400" dirty="0" smtClean="0">
                <a:sym typeface="Symbol"/>
              </a:rPr>
              <a:t>P</a:t>
            </a:r>
            <a:r>
              <a:rPr lang="sr-Latn-RS" sz="2400" dirty="0" smtClean="0">
                <a:sym typeface="Symbol"/>
              </a:rPr>
              <a:t>ostoje dva polja, vertikalno, koje omogućava formiranje kanala, i lateralno, koje omogućava transport nosilaca u kanalu. U kanalu se kreću elektroni, u smeru suprotnom od smera lateralnog polja, formirajući </a:t>
            </a:r>
            <a:r>
              <a:rPr lang="sr-Latn-RS" sz="2400" b="1" dirty="0" smtClean="0">
                <a:sym typeface="Symbol"/>
              </a:rPr>
              <a:t>struju drejna</a:t>
            </a:r>
            <a:r>
              <a:rPr lang="sr-Latn-RS" sz="2400" dirty="0" smtClean="0">
                <a:sym typeface="Symbol"/>
              </a:rPr>
              <a:t>, od drejna ka sorsu.</a:t>
            </a:r>
          </a:p>
          <a:p>
            <a:endParaRPr lang="en-US" sz="2400" dirty="0"/>
          </a:p>
        </p:txBody>
      </p:sp>
      <p:pic>
        <p:nvPicPr>
          <p:cNvPr id="4" name="Picture 3" descr="za struju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38400" y="2179320"/>
            <a:ext cx="4156710" cy="284988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4419600" y="3124200"/>
            <a:ext cx="0" cy="762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733800" y="3505200"/>
            <a:ext cx="137160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eft Arrow 11"/>
          <p:cNvSpPr/>
          <p:nvPr/>
        </p:nvSpPr>
        <p:spPr>
          <a:xfrm>
            <a:off x="3733800" y="3581400"/>
            <a:ext cx="1447800" cy="152400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28600"/>
            <a:ext cx="571500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2458412" y="2819400"/>
            <a:ext cx="4247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b="1" dirty="0" smtClean="0"/>
              <a:t>Osnovne fizičke dimenzije MOS tranzistora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04801" y="3657600"/>
            <a:ext cx="8686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Za</a:t>
            </a:r>
            <a:r>
              <a:rPr lang="en-US" sz="2400" dirty="0" smtClean="0"/>
              <a:t> male </a:t>
            </a:r>
            <a:r>
              <a:rPr lang="en-US" sz="2400" dirty="0" err="1" smtClean="0"/>
              <a:t>vrednosti</a:t>
            </a:r>
            <a:r>
              <a:rPr lang="en-US" sz="2400" dirty="0" smtClean="0"/>
              <a:t> 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DS</a:t>
            </a:r>
            <a:r>
              <a:rPr lang="en-US" sz="2400" dirty="0" smtClean="0"/>
              <a:t>, </a:t>
            </a:r>
            <a:r>
              <a:rPr lang="en-US" sz="2400" dirty="0" err="1" smtClean="0"/>
              <a:t>kanal</a:t>
            </a:r>
            <a:r>
              <a:rPr lang="en-US" sz="2400" dirty="0" smtClean="0"/>
              <a:t> se </a:t>
            </a:r>
            <a:r>
              <a:rPr lang="en-US" sz="2400" dirty="0" err="1" smtClean="0"/>
              <a:t>pona</a:t>
            </a:r>
            <a:r>
              <a:rPr lang="sr-Latn-RS" sz="2400" dirty="0" smtClean="0"/>
              <a:t>š</a:t>
            </a:r>
            <a:r>
              <a:rPr lang="en-US" sz="2400" dirty="0" smtClean="0"/>
              <a:t>a </a:t>
            </a:r>
            <a:r>
              <a:rPr lang="en-US" sz="2400" dirty="0" err="1" smtClean="0"/>
              <a:t>kao</a:t>
            </a:r>
            <a:r>
              <a:rPr lang="en-US" sz="2400" dirty="0" smtClean="0"/>
              <a:t> </a:t>
            </a:r>
            <a:r>
              <a:rPr lang="en-US" sz="2400" dirty="0" err="1" smtClean="0"/>
              <a:t>otpornik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struja</a:t>
            </a:r>
            <a:r>
              <a:rPr lang="sr-Latn-RS" sz="2400" dirty="0" smtClean="0"/>
              <a:t> </a:t>
            </a:r>
            <a:r>
              <a:rPr lang="pl-PL" sz="2400" dirty="0" smtClean="0"/>
              <a:t>drejna je proporcionalna primenjenom naponu </a:t>
            </a:r>
            <a:r>
              <a:rPr lang="pl-PL" sz="2400" i="1" dirty="0" smtClean="0"/>
              <a:t>V</a:t>
            </a:r>
            <a:r>
              <a:rPr lang="pl-PL" sz="2400" i="1" baseline="-25000" dirty="0" smtClean="0"/>
              <a:t>DS</a:t>
            </a:r>
            <a:r>
              <a:rPr lang="pl-PL" sz="2400" dirty="0" smtClean="0"/>
              <a:t>, pri konstantnom na</a:t>
            </a:r>
            <a:r>
              <a:rPr lang="en-US" sz="2400" dirty="0" err="1" smtClean="0"/>
              <a:t>ponu</a:t>
            </a:r>
            <a:r>
              <a:rPr lang="en-US" sz="2400" dirty="0" smtClean="0"/>
              <a:t> 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GS</a:t>
            </a:r>
            <a:r>
              <a:rPr lang="en-US" sz="2400" dirty="0" smtClean="0"/>
              <a:t>. Ova oblast </a:t>
            </a:r>
            <a:r>
              <a:rPr lang="en-US" sz="2400" dirty="0" err="1" smtClean="0"/>
              <a:t>rada</a:t>
            </a:r>
            <a:r>
              <a:rPr lang="en-US" sz="2400" dirty="0" smtClean="0"/>
              <a:t> NMOS </a:t>
            </a:r>
            <a:r>
              <a:rPr lang="en-US" sz="2400" dirty="0" err="1" smtClean="0"/>
              <a:t>tranzistora</a:t>
            </a:r>
            <a:r>
              <a:rPr lang="en-US" sz="2400" dirty="0" smtClean="0"/>
              <a:t> </a:t>
            </a:r>
            <a:r>
              <a:rPr lang="en-US" sz="2400" dirty="0" err="1" smtClean="0"/>
              <a:t>zove</a:t>
            </a:r>
            <a:r>
              <a:rPr lang="en-US" sz="2400" dirty="0" smtClean="0"/>
              <a:t> se </a:t>
            </a:r>
            <a:r>
              <a:rPr lang="en-US" sz="2400" b="1" u="sng" dirty="0" err="1" smtClean="0"/>
              <a:t>linearna</a:t>
            </a:r>
            <a:r>
              <a:rPr lang="en-US" sz="2400" dirty="0" smtClean="0"/>
              <a:t>.</a:t>
            </a:r>
            <a:endParaRPr lang="sr-Latn-RS" sz="2400" dirty="0" smtClean="0"/>
          </a:p>
          <a:p>
            <a:endParaRPr lang="sr-Latn-RS" sz="2400" i="1" baseline="-25000" dirty="0" smtClean="0"/>
          </a:p>
          <a:p>
            <a:endParaRPr lang="sr-Latn-RS" sz="2400" i="1" baseline="-25000" dirty="0" smtClean="0"/>
          </a:p>
          <a:p>
            <a:endParaRPr lang="sr-Latn-RS" sz="2400" i="1" baseline="-25000" dirty="0" smtClean="0"/>
          </a:p>
          <a:p>
            <a:endParaRPr lang="sr-Latn-RS" sz="2400" i="1" baseline="-25000" dirty="0" smtClean="0"/>
          </a:p>
          <a:p>
            <a:endParaRPr lang="sr-Latn-RS" sz="2400" i="1" baseline="-25000" dirty="0" smtClean="0"/>
          </a:p>
          <a:p>
            <a:endParaRPr lang="en-US" sz="2400" baseline="-250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5029200"/>
            <a:ext cx="5854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04800" y="6096000"/>
            <a:ext cx="78829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400" dirty="0" smtClean="0"/>
              <a:t>gde je </a:t>
            </a:r>
            <a:r>
              <a:rPr lang="sr-Latn-RS" sz="2400" i="1" dirty="0" smtClean="0"/>
              <a:t>R</a:t>
            </a:r>
            <a:r>
              <a:rPr lang="sr-Latn-RS" sz="2400" i="1" baseline="-25000" dirty="0" smtClean="0"/>
              <a:t>on</a:t>
            </a:r>
            <a:r>
              <a:rPr lang="sr-Latn-RS" sz="2400" dirty="0" smtClean="0"/>
              <a:t> </a:t>
            </a:r>
            <a:r>
              <a:rPr lang="fi-FI" sz="2400" dirty="0" smtClean="0"/>
              <a:t>otpornost kanala koja se kontroli</a:t>
            </a:r>
            <a:r>
              <a:rPr lang="sr-Latn-RS" sz="2400" dirty="0" smtClean="0"/>
              <a:t>š</a:t>
            </a:r>
            <a:r>
              <a:rPr lang="fi-FI" sz="2400" dirty="0" smtClean="0"/>
              <a:t>e naponom </a:t>
            </a:r>
            <a:r>
              <a:rPr lang="fi-FI" sz="2400" i="1" dirty="0" smtClean="0"/>
              <a:t>V</a:t>
            </a:r>
            <a:r>
              <a:rPr lang="fi-FI" sz="2400" i="1" baseline="-25000" dirty="0" smtClean="0"/>
              <a:t>GS</a:t>
            </a:r>
            <a:r>
              <a:rPr lang="sr-Latn-R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1" y="152400"/>
            <a:ext cx="8839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Daljim</a:t>
            </a:r>
            <a:r>
              <a:rPr lang="en-US" sz="2400" dirty="0" smtClean="0"/>
              <a:t> </a:t>
            </a:r>
            <a:r>
              <a:rPr lang="en-US" sz="2400" dirty="0" err="1" smtClean="0"/>
              <a:t>pove</a:t>
            </a:r>
            <a:r>
              <a:rPr lang="sr-Latn-RS" sz="2400" dirty="0" smtClean="0"/>
              <a:t>ć</a:t>
            </a:r>
            <a:r>
              <a:rPr lang="en-US" sz="2400" dirty="0" err="1" smtClean="0"/>
              <a:t>anjem</a:t>
            </a:r>
            <a:r>
              <a:rPr lang="en-US" sz="2400" dirty="0" smtClean="0"/>
              <a:t> </a:t>
            </a:r>
            <a:r>
              <a:rPr lang="en-US" sz="2400" dirty="0" err="1" smtClean="0"/>
              <a:t>napona</a:t>
            </a:r>
            <a:r>
              <a:rPr lang="en-US" sz="2400" dirty="0" smtClean="0"/>
              <a:t> 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DS</a:t>
            </a:r>
            <a:r>
              <a:rPr lang="en-US" sz="2400" dirty="0" smtClean="0"/>
              <a:t> </a:t>
            </a:r>
            <a:r>
              <a:rPr lang="sr-Latn-RS" sz="2400" dirty="0" smtClean="0"/>
              <a:t>š</a:t>
            </a:r>
            <a:r>
              <a:rPr lang="en-US" sz="2400" dirty="0" err="1" smtClean="0"/>
              <a:t>iri</a:t>
            </a:r>
            <a:r>
              <a:rPr lang="en-US" sz="2400" dirty="0" smtClean="0"/>
              <a:t> se </a:t>
            </a:r>
            <a:r>
              <a:rPr lang="en-US" sz="2400" dirty="0" err="1" smtClean="0"/>
              <a:t>osiroma</a:t>
            </a:r>
            <a:r>
              <a:rPr lang="sr-Latn-RS" sz="2400" dirty="0" smtClean="0"/>
              <a:t>š</a:t>
            </a:r>
            <a:r>
              <a:rPr lang="en-US" sz="2400" dirty="0" err="1" smtClean="0"/>
              <a:t>ena</a:t>
            </a:r>
            <a:r>
              <a:rPr lang="en-US" sz="2400" dirty="0" smtClean="0"/>
              <a:t> oblast </a:t>
            </a:r>
            <a:r>
              <a:rPr lang="en-US" sz="2400" dirty="0" err="1" smtClean="0"/>
              <a:t>inverzno</a:t>
            </a:r>
            <a:r>
              <a:rPr lang="en-US" sz="2400" dirty="0" smtClean="0"/>
              <a:t> </a:t>
            </a:r>
            <a:r>
              <a:rPr lang="en-US" sz="2400" dirty="0" err="1" smtClean="0"/>
              <a:t>polarisanog</a:t>
            </a:r>
            <a:r>
              <a:rPr lang="en-US" sz="2400" dirty="0" smtClean="0"/>
              <a:t> </a:t>
            </a:r>
            <a:r>
              <a:rPr lang="en-US" sz="2400" dirty="0" err="1" smtClean="0"/>
              <a:t>spoja</a:t>
            </a:r>
            <a:r>
              <a:rPr lang="en-US" sz="2400" dirty="0" smtClean="0"/>
              <a:t> </a:t>
            </a:r>
            <a:r>
              <a:rPr lang="en-US" sz="2400" dirty="0" err="1" smtClean="0"/>
              <a:t>drejn-supstrat</a:t>
            </a:r>
            <a:r>
              <a:rPr lang="en-US" sz="2400" dirty="0" smtClean="0"/>
              <a:t>, </a:t>
            </a:r>
            <a:r>
              <a:rPr lang="en-US" sz="2400" dirty="0" err="1" smtClean="0"/>
              <a:t>odnosno</a:t>
            </a:r>
            <a:r>
              <a:rPr lang="en-US" sz="2400" dirty="0" smtClean="0"/>
              <a:t> </a:t>
            </a:r>
            <a:r>
              <a:rPr lang="en-US" sz="2400" dirty="0" err="1" smtClean="0"/>
              <a:t>su</a:t>
            </a:r>
            <a:r>
              <a:rPr lang="sr-Latn-RS" sz="2400" dirty="0" smtClean="0"/>
              <a:t>ž</a:t>
            </a:r>
            <a:r>
              <a:rPr lang="en-US" sz="2400" dirty="0" err="1" smtClean="0"/>
              <a:t>ava</a:t>
            </a:r>
            <a:r>
              <a:rPr lang="en-US" sz="2400" dirty="0" smtClean="0"/>
              <a:t> se </a:t>
            </a:r>
            <a:r>
              <a:rPr lang="en-US" sz="2400" dirty="0" err="1" smtClean="0"/>
              <a:t>kanal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strani</a:t>
            </a:r>
            <a:r>
              <a:rPr lang="en-US" sz="2400" dirty="0" smtClean="0"/>
              <a:t> </a:t>
            </a:r>
            <a:r>
              <a:rPr lang="en-US" sz="2400" dirty="0" err="1" smtClean="0"/>
              <a:t>drejna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sr-Latn-RS" sz="2400" dirty="0" smtClean="0"/>
              <a:t> </a:t>
            </a:r>
            <a:r>
              <a:rPr lang="en-US" sz="2400" dirty="0" err="1" smtClean="0"/>
              <a:t>struja</a:t>
            </a:r>
            <a:r>
              <a:rPr lang="en-US" sz="2400" dirty="0" smtClean="0"/>
              <a:t> vi</a:t>
            </a:r>
            <a:r>
              <a:rPr lang="sr-Latn-RS" sz="2400" dirty="0" smtClean="0"/>
              <a:t>š</a:t>
            </a:r>
            <a:r>
              <a:rPr lang="en-US" sz="2400" dirty="0" smtClean="0"/>
              <a:t>e ne </a:t>
            </a:r>
            <a:r>
              <a:rPr lang="en-US" sz="2400" dirty="0" err="1" smtClean="0"/>
              <a:t>raste</a:t>
            </a:r>
            <a:r>
              <a:rPr lang="en-US" sz="2400" dirty="0" smtClean="0"/>
              <a:t> </a:t>
            </a:r>
            <a:r>
              <a:rPr lang="en-US" sz="2400" dirty="0" err="1" smtClean="0"/>
              <a:t>linearno</a:t>
            </a:r>
            <a:r>
              <a:rPr lang="en-US" sz="2400" dirty="0" smtClean="0"/>
              <a:t> </a:t>
            </a:r>
            <a:r>
              <a:rPr lang="en-US" sz="2400" dirty="0" err="1" smtClean="0"/>
              <a:t>sa</a:t>
            </a:r>
            <a:r>
              <a:rPr lang="en-US" sz="2400" dirty="0" smtClean="0"/>
              <a:t> </a:t>
            </a:r>
            <a:r>
              <a:rPr lang="en-US" sz="2400" dirty="0" err="1" smtClean="0"/>
              <a:t>pri</a:t>
            </a:r>
            <a:r>
              <a:rPr lang="sr-Latn-RS" sz="2400" dirty="0" smtClean="0"/>
              <a:t>m</a:t>
            </a:r>
            <a:r>
              <a:rPr lang="en-US" sz="2400" dirty="0" err="1" smtClean="0"/>
              <a:t>enjenim</a:t>
            </a:r>
            <a:r>
              <a:rPr lang="en-US" sz="2400" dirty="0" smtClean="0"/>
              <a:t> </a:t>
            </a:r>
            <a:r>
              <a:rPr lang="en-US" sz="2400" dirty="0" err="1" smtClean="0"/>
              <a:t>naponom</a:t>
            </a:r>
            <a:r>
              <a:rPr lang="en-US" sz="2400" dirty="0" smtClean="0"/>
              <a:t>. Ova oblast </a:t>
            </a:r>
            <a:r>
              <a:rPr lang="en-US" sz="2400" dirty="0" err="1" smtClean="0"/>
              <a:t>rada</a:t>
            </a:r>
            <a:r>
              <a:rPr lang="en-US" sz="2400" dirty="0" smtClean="0"/>
              <a:t>,</a:t>
            </a:r>
            <a:r>
              <a:rPr lang="sr-Latn-RS" sz="2400" dirty="0" smtClean="0"/>
              <a:t> </a:t>
            </a:r>
            <a:r>
              <a:rPr lang="en-US" sz="2400" dirty="0" err="1" smtClean="0"/>
              <a:t>zajedno</a:t>
            </a:r>
            <a:r>
              <a:rPr lang="en-US" sz="2400" dirty="0" smtClean="0"/>
              <a:t> </a:t>
            </a:r>
            <a:r>
              <a:rPr lang="en-US" sz="2400" dirty="0" err="1" smtClean="0"/>
              <a:t>sa</a:t>
            </a:r>
            <a:r>
              <a:rPr lang="en-US" sz="2400" dirty="0" smtClean="0"/>
              <a:t> </a:t>
            </a:r>
            <a:r>
              <a:rPr lang="en-US" sz="2400" dirty="0" err="1" smtClean="0"/>
              <a:t>linearnom</a:t>
            </a:r>
            <a:r>
              <a:rPr lang="en-US" sz="2400" dirty="0" smtClean="0"/>
              <a:t> </a:t>
            </a:r>
            <a:r>
              <a:rPr lang="en-US" sz="2400" dirty="0" err="1" smtClean="0"/>
              <a:t>obla</a:t>
            </a:r>
            <a:r>
              <a:rPr lang="sr-Latn-RS" sz="2400" dirty="0" smtClean="0"/>
              <a:t>šć</a:t>
            </a:r>
            <a:r>
              <a:rPr lang="en-US" sz="2400" dirty="0" smtClean="0"/>
              <a:t>u, je </a:t>
            </a:r>
            <a:r>
              <a:rPr lang="en-US" sz="2400" b="1" dirty="0" err="1" smtClean="0"/>
              <a:t>triodna</a:t>
            </a:r>
            <a:r>
              <a:rPr lang="en-US" sz="2400" b="1" dirty="0" smtClean="0"/>
              <a:t> oblast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nezasi</a:t>
            </a:r>
            <a:r>
              <a:rPr lang="sr-Latn-RS" sz="2400" dirty="0" smtClean="0"/>
              <a:t>ć</a:t>
            </a:r>
            <a:r>
              <a:rPr lang="en-US" sz="2400" dirty="0" err="1" smtClean="0"/>
              <a:t>ena</a:t>
            </a:r>
            <a:r>
              <a:rPr lang="en-US" sz="2400" dirty="0" smtClean="0"/>
              <a:t> oblast.</a:t>
            </a:r>
            <a:r>
              <a:rPr lang="sr-Latn-RS" sz="2400" dirty="0" smtClean="0"/>
              <a:t> Struja drejna je:</a:t>
            </a:r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r>
              <a:rPr lang="sr-Latn-RS" sz="2400" dirty="0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va</a:t>
            </a:r>
            <a:r>
              <a:rPr lang="sr-Latn-RS" sz="2400" dirty="0" smtClean="0"/>
              <a:t>ž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samo</a:t>
            </a:r>
            <a:r>
              <a:rPr lang="en-US" sz="2400" dirty="0" smtClean="0"/>
              <a:t> u </a:t>
            </a:r>
            <a:r>
              <a:rPr lang="en-US" sz="2400" dirty="0" err="1" smtClean="0"/>
              <a:t>triodnoj</a:t>
            </a:r>
            <a:r>
              <a:rPr lang="en-US" sz="2400" dirty="0" smtClean="0"/>
              <a:t> </a:t>
            </a:r>
            <a:r>
              <a:rPr lang="en-US" sz="2400" dirty="0" err="1" smtClean="0"/>
              <a:t>oblasti</a:t>
            </a:r>
            <a:r>
              <a:rPr lang="en-US" sz="2400" dirty="0" smtClean="0"/>
              <a:t> (</a:t>
            </a:r>
            <a:r>
              <a:rPr lang="en-US" sz="2400" dirty="0" err="1" smtClean="0"/>
              <a:t>nezasi</a:t>
            </a:r>
            <a:r>
              <a:rPr lang="sr-Latn-RS" sz="2400" dirty="0" smtClean="0"/>
              <a:t>ć</a:t>
            </a:r>
            <a:r>
              <a:rPr lang="en-US" sz="2400" dirty="0" err="1" smtClean="0"/>
              <a:t>enoj</a:t>
            </a:r>
            <a:r>
              <a:rPr lang="en-US" sz="2400" dirty="0" smtClean="0"/>
              <a:t> </a:t>
            </a:r>
            <a:r>
              <a:rPr lang="en-US" sz="2400" dirty="0" err="1" smtClean="0"/>
              <a:t>oblasti</a:t>
            </a:r>
            <a:r>
              <a:rPr lang="en-US" sz="2400" dirty="0" smtClean="0"/>
              <a:t>), </a:t>
            </a:r>
            <a:r>
              <a:rPr lang="en-US" sz="2400" dirty="0" err="1" smtClean="0"/>
              <a:t>za</a:t>
            </a:r>
            <a:r>
              <a:rPr lang="en-US" sz="2400" dirty="0" smtClean="0"/>
              <a:t> 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GS</a:t>
            </a:r>
            <a:r>
              <a:rPr lang="sr-Latn-RS" sz="2400" dirty="0" smtClean="0"/>
              <a:t> </a:t>
            </a:r>
            <a:r>
              <a:rPr lang="sr-Latn-RS" sz="2400" dirty="0" smtClean="0">
                <a:sym typeface="Symbol"/>
              </a:rPr>
              <a:t></a:t>
            </a:r>
            <a:r>
              <a:rPr lang="en-US" sz="2400" dirty="0" smtClean="0"/>
              <a:t> </a:t>
            </a:r>
            <a:r>
              <a:rPr lang="en-US" sz="2400" i="1" dirty="0" err="1" smtClean="0"/>
              <a:t>V</a:t>
            </a:r>
            <a:r>
              <a:rPr lang="en-US" sz="2400" i="1" baseline="-25000" dirty="0" err="1" smtClean="0"/>
              <a:t>tn</a:t>
            </a:r>
            <a:r>
              <a:rPr lang="en-US" sz="2400" dirty="0" smtClean="0"/>
              <a:t> &gt; </a:t>
            </a:r>
            <a:r>
              <a:rPr lang="sr-Latn-RS" sz="2400" i="1" dirty="0" smtClean="0"/>
              <a:t>V</a:t>
            </a:r>
            <a:r>
              <a:rPr lang="en-US" sz="2400" i="1" baseline="-25000" dirty="0" smtClean="0"/>
              <a:t>DS</a:t>
            </a:r>
            <a:r>
              <a:rPr lang="en-US" sz="2400" dirty="0" smtClean="0"/>
              <a:t>.</a:t>
            </a:r>
            <a:r>
              <a:rPr lang="sr-Latn-RS" sz="2400" dirty="0" smtClean="0"/>
              <a:t> </a:t>
            </a:r>
            <a:r>
              <a:rPr lang="it-IT" sz="2400" dirty="0" smtClean="0"/>
              <a:t>U literaturi se </a:t>
            </a:r>
            <a:r>
              <a:rPr lang="sr-Latn-RS" sz="2400" dirty="0" smtClean="0"/>
              <a:t>č</a:t>
            </a:r>
            <a:r>
              <a:rPr lang="it-IT" sz="2400" dirty="0" smtClean="0"/>
              <a:t>esto uvodi transkonduktansni parametar </a:t>
            </a:r>
            <a:r>
              <a:rPr lang="it-IT" sz="2400" i="1" dirty="0" smtClean="0"/>
              <a:t>k</a:t>
            </a:r>
            <a:r>
              <a:rPr lang="it-IT" sz="2400" i="1" baseline="-25000" dirty="0" smtClean="0"/>
              <a:t>n</a:t>
            </a:r>
            <a:r>
              <a:rPr lang="it-IT" sz="2400" dirty="0" smtClean="0"/>
              <a:t>:</a:t>
            </a:r>
            <a:r>
              <a:rPr lang="en-US" sz="2400" dirty="0" smtClean="0"/>
              <a:t> </a:t>
            </a:r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r>
              <a:rPr lang="en-US" sz="2400" dirty="0" smtClean="0"/>
              <a:t>pa se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struja</a:t>
            </a:r>
            <a:r>
              <a:rPr lang="en-US" sz="2400" dirty="0" smtClean="0"/>
              <a:t> </a:t>
            </a:r>
            <a:r>
              <a:rPr lang="en-US" sz="2400" dirty="0" err="1" smtClean="0"/>
              <a:t>drejna</a:t>
            </a:r>
            <a:r>
              <a:rPr lang="en-US" sz="2400" dirty="0" smtClean="0"/>
              <a:t> mo</a:t>
            </a:r>
            <a:r>
              <a:rPr lang="sr-Latn-RS" sz="2400" dirty="0" smtClean="0"/>
              <a:t>ž</a:t>
            </a:r>
            <a:r>
              <a:rPr lang="en-US" sz="2400" dirty="0" smtClean="0"/>
              <a:t>e </a:t>
            </a:r>
            <a:r>
              <a:rPr lang="en-US" sz="2400" dirty="0" err="1" smtClean="0"/>
              <a:t>izraziti</a:t>
            </a:r>
            <a:r>
              <a:rPr lang="en-US" sz="2400" dirty="0" smtClean="0"/>
              <a:t> </a:t>
            </a:r>
            <a:r>
              <a:rPr lang="en-US" sz="2400" dirty="0" err="1" smtClean="0"/>
              <a:t>preko</a:t>
            </a:r>
            <a:r>
              <a:rPr lang="en-US" sz="2400" dirty="0" smtClean="0"/>
              <a:t> </a:t>
            </a:r>
            <a:r>
              <a:rPr lang="en-US" sz="2400" i="1" dirty="0" err="1" smtClean="0"/>
              <a:t>k</a:t>
            </a:r>
            <a:r>
              <a:rPr lang="en-US" sz="2400" i="1" baseline="-25000" dirty="0" err="1" smtClean="0"/>
              <a:t>n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286000"/>
            <a:ext cx="65913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4267200"/>
            <a:ext cx="4305300" cy="96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5000" y="5943600"/>
            <a:ext cx="5486400" cy="584200"/>
          </a:xfrm>
          <a:prstGeom prst="rect">
            <a:avLst/>
          </a:prstGeom>
          <a:noFill/>
          <a:ln w="38100" cmpd="sng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228600"/>
            <a:ext cx="8763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/>
              <a:t>Kada</a:t>
            </a:r>
            <a:r>
              <a:rPr lang="sr-Latn-RS" sz="2400" dirty="0" smtClean="0"/>
              <a:t> </a:t>
            </a:r>
            <a:r>
              <a:rPr lang="en-US" sz="2400" dirty="0" err="1" smtClean="0"/>
              <a:t>napon</a:t>
            </a:r>
            <a:r>
              <a:rPr lang="en-US" sz="2400" dirty="0" smtClean="0"/>
              <a:t> 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DS</a:t>
            </a:r>
            <a:r>
              <a:rPr lang="en-US" sz="2400" dirty="0" smtClean="0"/>
              <a:t> </a:t>
            </a:r>
            <a:r>
              <a:rPr lang="en-US" sz="2400" dirty="0" err="1" smtClean="0"/>
              <a:t>dostigne</a:t>
            </a:r>
            <a:r>
              <a:rPr lang="en-US" sz="2400" dirty="0" smtClean="0"/>
              <a:t> </a:t>
            </a:r>
            <a:r>
              <a:rPr lang="en-US" sz="2400" dirty="0" err="1" smtClean="0"/>
              <a:t>vrednost</a:t>
            </a:r>
            <a:r>
              <a:rPr lang="en-US" sz="2400" dirty="0" smtClean="0"/>
              <a:t> 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GS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</a:t>
            </a:r>
            <a:r>
              <a:rPr lang="sr-Latn-RS" sz="2400" dirty="0" smtClean="0">
                <a:sym typeface="Symbol"/>
              </a:rPr>
              <a:t> </a:t>
            </a:r>
            <a:r>
              <a:rPr lang="en-US" sz="2400" i="1" dirty="0" err="1" smtClean="0"/>
              <a:t>V</a:t>
            </a:r>
            <a:r>
              <a:rPr lang="en-US" sz="2400" i="1" baseline="-25000" dirty="0" err="1" smtClean="0"/>
              <a:t>tn</a:t>
            </a:r>
            <a:r>
              <a:rPr lang="en-US" sz="2400" dirty="0" smtClean="0"/>
              <a:t> </a:t>
            </a:r>
            <a:r>
              <a:rPr lang="en-US" sz="2400" dirty="0" err="1" smtClean="0"/>
              <a:t>dolazi</a:t>
            </a:r>
            <a:r>
              <a:rPr lang="en-US" sz="2400" dirty="0" smtClean="0"/>
              <a:t> do </a:t>
            </a:r>
            <a:r>
              <a:rPr lang="en-US" sz="2400" dirty="0" err="1" smtClean="0"/>
              <a:t>prekida</a:t>
            </a:r>
            <a:r>
              <a:rPr lang="en-US" sz="2400" dirty="0" smtClean="0"/>
              <a:t> </a:t>
            </a:r>
            <a:r>
              <a:rPr lang="en-US" sz="2400" dirty="0" err="1" smtClean="0"/>
              <a:t>kanala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taj</a:t>
            </a:r>
            <a:r>
              <a:rPr lang="en-US" sz="2400" dirty="0" smtClean="0"/>
              <a:t> </a:t>
            </a:r>
            <a:r>
              <a:rPr lang="en-US" sz="2400" dirty="0" err="1" smtClean="0"/>
              <a:t>napon</a:t>
            </a:r>
            <a:r>
              <a:rPr lang="en-US" sz="2400" dirty="0" smtClean="0"/>
              <a:t> se </a:t>
            </a:r>
            <a:r>
              <a:rPr lang="en-US" sz="2400" dirty="0" err="1" smtClean="0"/>
              <a:t>zove</a:t>
            </a:r>
            <a:r>
              <a:rPr lang="en-US" sz="2400" dirty="0" smtClean="0"/>
              <a:t> </a:t>
            </a:r>
            <a:r>
              <a:rPr lang="en-US" sz="2400" dirty="0" err="1" smtClean="0"/>
              <a:t>napon</a:t>
            </a:r>
            <a:r>
              <a:rPr lang="en-US" sz="2400" dirty="0" smtClean="0"/>
              <a:t> </a:t>
            </a:r>
            <a:r>
              <a:rPr lang="en-US" sz="2400" dirty="0" err="1" smtClean="0"/>
              <a:t>zasi</a:t>
            </a:r>
            <a:r>
              <a:rPr lang="sr-Latn-RS" sz="2400" dirty="0" smtClean="0"/>
              <a:t>ć</a:t>
            </a:r>
            <a:r>
              <a:rPr lang="en-US" sz="2400" dirty="0" err="1" smtClean="0"/>
              <a:t>enja</a:t>
            </a:r>
            <a:r>
              <a:rPr lang="en-US" sz="2400" dirty="0" smtClean="0"/>
              <a:t> 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DSs</a:t>
            </a:r>
            <a:r>
              <a:rPr lang="en-US" sz="2400" dirty="0" smtClean="0"/>
              <a:t> = 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GS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</a:t>
            </a:r>
            <a:r>
              <a:rPr lang="en-US" sz="2400" dirty="0" smtClean="0"/>
              <a:t> </a:t>
            </a:r>
            <a:r>
              <a:rPr lang="en-US" sz="2400" i="1" dirty="0" err="1" smtClean="0"/>
              <a:t>V</a:t>
            </a:r>
            <a:r>
              <a:rPr lang="en-US" sz="2400" i="1" baseline="-25000" dirty="0" err="1" smtClean="0"/>
              <a:t>tn</a:t>
            </a:r>
            <a:r>
              <a:rPr lang="en-US" sz="2400" dirty="0" smtClean="0"/>
              <a:t>.</a:t>
            </a:r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r>
              <a:rPr lang="en-US" sz="2400" dirty="0" err="1" smtClean="0"/>
              <a:t>Za</a:t>
            </a:r>
            <a:r>
              <a:rPr lang="en-US" sz="2400" dirty="0" smtClean="0"/>
              <a:t> </a:t>
            </a:r>
            <a:r>
              <a:rPr lang="en-US" sz="2400" dirty="0" err="1" smtClean="0"/>
              <a:t>vrednosti</a:t>
            </a:r>
            <a:r>
              <a:rPr lang="en-US" sz="2400" dirty="0" smtClean="0"/>
              <a:t> </a:t>
            </a:r>
            <a:r>
              <a:rPr lang="en-US" sz="2400" dirty="0" err="1" smtClean="0"/>
              <a:t>napona</a:t>
            </a:r>
            <a:r>
              <a:rPr lang="en-US" sz="2400" dirty="0" smtClean="0"/>
              <a:t> V</a:t>
            </a:r>
            <a:r>
              <a:rPr lang="en-US" sz="2400" i="1" baseline="-25000" dirty="0" smtClean="0"/>
              <a:t>DS</a:t>
            </a:r>
            <a:r>
              <a:rPr lang="en-US" sz="2400" dirty="0" smtClean="0"/>
              <a:t> &gt; 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DSs</a:t>
            </a:r>
            <a:r>
              <a:rPr lang="en-US" sz="2400" dirty="0" smtClean="0"/>
              <a:t>, du</a:t>
            </a:r>
            <a:r>
              <a:rPr lang="sr-Latn-RS" sz="2400" dirty="0" smtClean="0"/>
              <a:t>ž</a:t>
            </a:r>
            <a:r>
              <a:rPr lang="en-US" sz="2400" dirty="0" err="1" smtClean="0"/>
              <a:t>ina</a:t>
            </a:r>
            <a:r>
              <a:rPr lang="en-US" sz="2400" dirty="0" smtClean="0"/>
              <a:t> </a:t>
            </a:r>
            <a:r>
              <a:rPr lang="en-US" sz="2400" dirty="0" err="1" smtClean="0"/>
              <a:t>kanala</a:t>
            </a:r>
            <a:r>
              <a:rPr lang="en-US" sz="2400" dirty="0" smtClean="0"/>
              <a:t> se </a:t>
            </a:r>
            <a:r>
              <a:rPr lang="en-US" sz="2400" dirty="0" err="1" smtClean="0"/>
              <a:t>smanjuje</a:t>
            </a:r>
            <a:r>
              <a:rPr lang="en-US" sz="2400" dirty="0" smtClean="0"/>
              <a:t> </a:t>
            </a:r>
            <a:r>
              <a:rPr lang="en-US" sz="2400" dirty="0" err="1" smtClean="0"/>
              <a:t>sa</a:t>
            </a:r>
            <a:r>
              <a:rPr lang="en-US" sz="2400" dirty="0" smtClean="0"/>
              <a:t> </a:t>
            </a:r>
            <a:r>
              <a:rPr lang="en-US" sz="2400" i="1" dirty="0" smtClean="0"/>
              <a:t>L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sr-Latn-RS" sz="2400" dirty="0" smtClean="0"/>
              <a:t> </a:t>
            </a:r>
            <a:r>
              <a:rPr lang="en-US" sz="2400" i="1" dirty="0" smtClean="0"/>
              <a:t>L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. </a:t>
            </a:r>
            <a:r>
              <a:rPr lang="en-US" sz="2400" dirty="0" err="1" smtClean="0"/>
              <a:t>Elektroni</a:t>
            </a:r>
            <a:r>
              <a:rPr lang="en-US" sz="2400" dirty="0" smtClean="0"/>
              <a:t> </a:t>
            </a:r>
            <a:r>
              <a:rPr lang="en-US" sz="2400" dirty="0" err="1" smtClean="0"/>
              <a:t>koji</a:t>
            </a:r>
            <a:r>
              <a:rPr lang="en-US" sz="2400" dirty="0" smtClean="0"/>
              <a:t> </a:t>
            </a:r>
            <a:r>
              <a:rPr lang="en-US" sz="2400" dirty="0" err="1" smtClean="0"/>
              <a:t>od</a:t>
            </a:r>
            <a:r>
              <a:rPr lang="en-US" sz="2400" dirty="0" smtClean="0"/>
              <a:t> </a:t>
            </a:r>
            <a:r>
              <a:rPr lang="en-US" sz="2400" dirty="0" err="1" smtClean="0"/>
              <a:t>sorsa</a:t>
            </a:r>
            <a:r>
              <a:rPr lang="en-US" sz="2400" dirty="0" smtClean="0"/>
              <a:t> </a:t>
            </a:r>
            <a:r>
              <a:rPr lang="en-US" sz="2400" dirty="0" err="1" smtClean="0"/>
              <a:t>stignu</a:t>
            </a:r>
            <a:r>
              <a:rPr lang="en-US" sz="2400" dirty="0" smtClean="0"/>
              <a:t> do </a:t>
            </a:r>
            <a:r>
              <a:rPr lang="en-US" sz="2400" dirty="0" err="1" smtClean="0"/>
              <a:t>ta</a:t>
            </a:r>
            <a:r>
              <a:rPr lang="sr-Latn-RS" sz="2400" dirty="0" smtClean="0"/>
              <a:t>č</a:t>
            </a:r>
            <a:r>
              <a:rPr lang="en-US" sz="2400" dirty="0" err="1" smtClean="0"/>
              <a:t>ke</a:t>
            </a:r>
            <a:r>
              <a:rPr lang="en-US" sz="2400" dirty="0" smtClean="0"/>
              <a:t> </a:t>
            </a:r>
            <a:r>
              <a:rPr lang="en-US" sz="2400" dirty="0" err="1" smtClean="0"/>
              <a:t>prekida</a:t>
            </a:r>
            <a:r>
              <a:rPr lang="en-US" sz="2400" dirty="0" smtClean="0"/>
              <a:t> </a:t>
            </a:r>
            <a:r>
              <a:rPr lang="en-US" sz="2400" dirty="0" err="1" smtClean="0"/>
              <a:t>kanala</a:t>
            </a:r>
            <a:r>
              <a:rPr lang="en-US" sz="2400" dirty="0" smtClean="0"/>
              <a:t> </a:t>
            </a:r>
            <a:r>
              <a:rPr lang="en-US" sz="2400" dirty="0" err="1" smtClean="0"/>
              <a:t>bivaju</a:t>
            </a:r>
            <a:r>
              <a:rPr lang="sr-Latn-RS" sz="2400" dirty="0" smtClean="0"/>
              <a:t> </a:t>
            </a:r>
            <a:r>
              <a:rPr lang="en-US" sz="2400" dirty="0" err="1" smtClean="0"/>
              <a:t>zahva</a:t>
            </a:r>
            <a:r>
              <a:rPr lang="sr-Latn-RS" sz="2400" dirty="0" smtClean="0"/>
              <a:t>ć</a:t>
            </a:r>
            <a:r>
              <a:rPr lang="en-US" sz="2400" dirty="0" err="1" smtClean="0"/>
              <a:t>eni</a:t>
            </a:r>
            <a:r>
              <a:rPr lang="en-US" sz="2400" dirty="0" smtClean="0"/>
              <a:t> </a:t>
            </a:r>
            <a:r>
              <a:rPr lang="sr-Latn-RS" sz="2400" dirty="0" smtClean="0"/>
              <a:t>jakim </a:t>
            </a:r>
            <a:r>
              <a:rPr lang="en-US" sz="2400" dirty="0" err="1" smtClean="0"/>
              <a:t>elektri</a:t>
            </a:r>
            <a:r>
              <a:rPr lang="sr-Latn-RS" sz="2400" dirty="0" smtClean="0"/>
              <a:t>č</a:t>
            </a:r>
            <a:r>
              <a:rPr lang="en-US" sz="2400" dirty="0" err="1" smtClean="0"/>
              <a:t>nim</a:t>
            </a:r>
            <a:r>
              <a:rPr lang="en-US" sz="2400" dirty="0" smtClean="0"/>
              <a:t> </a:t>
            </a:r>
            <a:r>
              <a:rPr lang="en-US" sz="2400" dirty="0" err="1" smtClean="0"/>
              <a:t>poljem</a:t>
            </a:r>
            <a:r>
              <a:rPr lang="en-US" sz="2400" dirty="0" smtClean="0"/>
              <a:t> u </a:t>
            </a:r>
            <a:r>
              <a:rPr lang="en-US" sz="2400" dirty="0" err="1" smtClean="0"/>
              <a:t>osiroma</a:t>
            </a:r>
            <a:r>
              <a:rPr lang="sr-Latn-RS" sz="2400" dirty="0" smtClean="0"/>
              <a:t>š</a:t>
            </a:r>
            <a:r>
              <a:rPr lang="en-US" sz="2400" dirty="0" err="1" smtClean="0"/>
              <a:t>enoj</a:t>
            </a:r>
            <a:r>
              <a:rPr lang="en-US" sz="2400" dirty="0" smtClean="0"/>
              <a:t> oblast </a:t>
            </a:r>
            <a:r>
              <a:rPr lang="en-US" sz="2400" dirty="0" err="1" smtClean="0"/>
              <a:t>drejn-supstrat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tako</a:t>
            </a:r>
            <a:r>
              <a:rPr lang="sr-Latn-RS" sz="2400" dirty="0" smtClean="0"/>
              <a:t> </a:t>
            </a:r>
            <a:r>
              <a:rPr lang="pl-PL" sz="2400" dirty="0" smtClean="0"/>
              <a:t>stižu do drejna, pri čemu struja drejna ostaje konstantna. Ova oblast rada</a:t>
            </a:r>
          </a:p>
          <a:p>
            <a:r>
              <a:rPr lang="en-US" sz="2400" dirty="0" err="1" smtClean="0"/>
              <a:t>zove</a:t>
            </a:r>
            <a:r>
              <a:rPr lang="en-US" sz="2400" dirty="0" smtClean="0"/>
              <a:t> se </a:t>
            </a:r>
            <a:r>
              <a:rPr lang="en-US" sz="2400" b="1" dirty="0" smtClean="0"/>
              <a:t>oblast </a:t>
            </a:r>
            <a:r>
              <a:rPr lang="en-US" sz="2400" b="1" dirty="0" err="1" smtClean="0"/>
              <a:t>zasi</a:t>
            </a:r>
            <a:r>
              <a:rPr lang="sr-Latn-RS" sz="2400" b="1" dirty="0" smtClean="0"/>
              <a:t>ć</a:t>
            </a:r>
            <a:r>
              <a:rPr lang="en-US" sz="2400" b="1" dirty="0" err="1" smtClean="0"/>
              <a:t>enja</a:t>
            </a:r>
            <a:r>
              <a:rPr lang="en-US" sz="2400" dirty="0" smtClean="0"/>
              <a:t>.</a:t>
            </a:r>
            <a:r>
              <a:rPr lang="sr-Latn-RS" sz="2400" dirty="0" smtClean="0"/>
              <a:t> U ovoj </a:t>
            </a:r>
          </a:p>
          <a:p>
            <a:r>
              <a:rPr lang="sr-Latn-RS" sz="2400" dirty="0" smtClean="0"/>
              <a:t>oblasti, MOS tranzistor može da se </a:t>
            </a:r>
            <a:br>
              <a:rPr lang="sr-Latn-RS" sz="2400" dirty="0" smtClean="0"/>
            </a:br>
            <a:r>
              <a:rPr lang="sr-Latn-RS" sz="2400" dirty="0" smtClean="0"/>
              <a:t>koristi kao izvor konstantne struje.</a:t>
            </a:r>
            <a:endParaRPr lang="en-US" sz="2400" dirty="0" smtClean="0"/>
          </a:p>
          <a:p>
            <a:r>
              <a:rPr lang="sr-Latn-RS" sz="2400" dirty="0" smtClean="0"/>
              <a:t> </a:t>
            </a:r>
            <a:endParaRPr 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371600"/>
            <a:ext cx="6959600" cy="838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4114800"/>
            <a:ext cx="34480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17324" y="76200"/>
            <a:ext cx="39310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3200" b="1" dirty="0" smtClean="0">
                <a:solidFill>
                  <a:srgbClr val="0070C0"/>
                </a:solidFill>
              </a:rPr>
              <a:t>Statičke karakteristike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1143000"/>
            <a:ext cx="86868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Char char="q"/>
            </a:pPr>
            <a:r>
              <a:rPr lang="en-US" sz="2400" dirty="0" err="1" smtClean="0"/>
              <a:t>Strujno-naponske</a:t>
            </a:r>
            <a:r>
              <a:rPr lang="en-US" sz="2400" dirty="0" smtClean="0"/>
              <a:t> </a:t>
            </a:r>
            <a:r>
              <a:rPr lang="en-US" sz="2400" dirty="0" err="1" smtClean="0"/>
              <a:t>karakteristike</a:t>
            </a:r>
            <a:endParaRPr lang="sr-Latn-RS" sz="2400" dirty="0" smtClean="0"/>
          </a:p>
          <a:p>
            <a:pPr lvl="1">
              <a:buFont typeface="Wingdings" pitchFamily="2" charset="2"/>
              <a:buChar char="§"/>
            </a:pPr>
            <a:r>
              <a:rPr lang="sr-Latn-RS" sz="2400" dirty="0" smtClean="0"/>
              <a:t>	</a:t>
            </a:r>
            <a:r>
              <a:rPr lang="en-US" sz="2400" dirty="0" err="1" smtClean="0"/>
              <a:t>Izlazne</a:t>
            </a:r>
            <a:r>
              <a:rPr lang="en-US" sz="2400" dirty="0" smtClean="0"/>
              <a:t> </a:t>
            </a:r>
            <a:r>
              <a:rPr lang="en-US" sz="2400" dirty="0" err="1" smtClean="0"/>
              <a:t>karakteristike</a:t>
            </a:r>
            <a:r>
              <a:rPr lang="en-US" sz="2400" dirty="0" smtClean="0"/>
              <a:t>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D</a:t>
            </a:r>
            <a:r>
              <a:rPr lang="en-US" sz="2400" i="1" dirty="0" smtClean="0"/>
              <a:t>=f(V</a:t>
            </a:r>
            <a:r>
              <a:rPr lang="en-US" sz="2400" i="1" baseline="-25000" dirty="0" smtClean="0"/>
              <a:t>DS</a:t>
            </a:r>
            <a:r>
              <a:rPr lang="en-US" sz="2400" i="1" dirty="0" smtClean="0"/>
              <a:t>), V</a:t>
            </a:r>
            <a:r>
              <a:rPr lang="en-US" sz="2400" i="1" baseline="-25000" dirty="0" smtClean="0"/>
              <a:t>GS</a:t>
            </a:r>
            <a:r>
              <a:rPr lang="en-US" sz="2400" i="1" dirty="0" smtClean="0"/>
              <a:t> – </a:t>
            </a:r>
            <a:r>
              <a:rPr lang="en-US" sz="2400" dirty="0" err="1" smtClean="0"/>
              <a:t>parametar</a:t>
            </a:r>
            <a:r>
              <a:rPr lang="en-US" sz="2400" i="1" dirty="0" smtClean="0"/>
              <a:t> </a:t>
            </a:r>
          </a:p>
          <a:p>
            <a:pPr lvl="1">
              <a:buFont typeface="Wingdings" pitchFamily="2" charset="2"/>
              <a:buChar char="§"/>
            </a:pPr>
            <a:r>
              <a:rPr lang="sr-Latn-RS" sz="2400" dirty="0" smtClean="0"/>
              <a:t>	</a:t>
            </a:r>
            <a:r>
              <a:rPr lang="en-US" sz="2400" dirty="0" err="1" smtClean="0"/>
              <a:t>Prenosne</a:t>
            </a:r>
            <a:r>
              <a:rPr lang="en-US" sz="2400" dirty="0" smtClean="0"/>
              <a:t>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D</a:t>
            </a:r>
            <a:r>
              <a:rPr lang="en-US" sz="2400" i="1" dirty="0" smtClean="0"/>
              <a:t>=f(V</a:t>
            </a:r>
            <a:r>
              <a:rPr lang="en-US" sz="2400" i="1" baseline="-25000" dirty="0" smtClean="0"/>
              <a:t>GS</a:t>
            </a:r>
            <a:r>
              <a:rPr lang="en-US" sz="2400" i="1" dirty="0" smtClean="0"/>
              <a:t>), V</a:t>
            </a:r>
            <a:r>
              <a:rPr lang="en-US" sz="2400" i="1" baseline="-25000" dirty="0" smtClean="0"/>
              <a:t>DS</a:t>
            </a:r>
            <a:r>
              <a:rPr lang="en-US" sz="2400" i="1" dirty="0" smtClean="0"/>
              <a:t> – </a:t>
            </a:r>
            <a:r>
              <a:rPr lang="en-US" sz="2400" dirty="0" err="1" smtClean="0"/>
              <a:t>parametar</a:t>
            </a:r>
            <a:r>
              <a:rPr lang="en-US" sz="2400" dirty="0" smtClean="0"/>
              <a:t> </a:t>
            </a:r>
          </a:p>
          <a:p>
            <a:endParaRPr lang="en-US" sz="2400" dirty="0" smtClean="0"/>
          </a:p>
        </p:txBody>
      </p:sp>
      <p:pic>
        <p:nvPicPr>
          <p:cNvPr id="10" name="Picture 9" descr="NMOS pol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4600" y="2895600"/>
            <a:ext cx="3488436" cy="36210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752600"/>
            <a:ext cx="4772025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270889" y="5715000"/>
            <a:ext cx="4717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 smtClean="0"/>
              <a:t>Izlazne</a:t>
            </a:r>
            <a:r>
              <a:rPr lang="en-US" b="1" dirty="0" smtClean="0"/>
              <a:t> </a:t>
            </a:r>
            <a:r>
              <a:rPr lang="en-US" b="1" dirty="0" err="1" smtClean="0"/>
              <a:t>staticke</a:t>
            </a:r>
            <a:r>
              <a:rPr lang="en-US" b="1" dirty="0" smtClean="0"/>
              <a:t> </a:t>
            </a:r>
            <a:r>
              <a:rPr lang="en-US" b="1" dirty="0" err="1" smtClean="0"/>
              <a:t>karakteristike</a:t>
            </a:r>
            <a:r>
              <a:rPr lang="en-US" b="1" dirty="0" smtClean="0"/>
              <a:t> NMOS </a:t>
            </a:r>
            <a:r>
              <a:rPr lang="en-US" b="1" dirty="0" err="1" smtClean="0"/>
              <a:t>tranzistora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79411" y="228600"/>
            <a:ext cx="8359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ym typeface="Wingdings"/>
              </a:rPr>
              <a:t></a:t>
            </a:r>
            <a:r>
              <a:rPr lang="sr-Latn-RS" sz="2400" dirty="0" smtClean="0">
                <a:sym typeface="Wingdings"/>
              </a:rPr>
              <a:t> Oblasti zakočenja, za napone na gejtu manje od napona praga  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304800"/>
            <a:ext cx="8408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ym typeface="Wingdings"/>
              </a:rPr>
              <a:t></a:t>
            </a:r>
            <a:r>
              <a:rPr lang="sr-Latn-RS" sz="2400" dirty="0" smtClean="0">
                <a:sym typeface="Wingdings"/>
              </a:rPr>
              <a:t> Triodna oblast, napon gejta veći od napona praga, a napon na drejnu manji od napona </a:t>
            </a:r>
            <a:r>
              <a:rPr lang="sr-Latn-RS" sz="2400" i="1" dirty="0" smtClean="0">
                <a:sym typeface="Wingdings"/>
              </a:rPr>
              <a:t>V</a:t>
            </a:r>
            <a:r>
              <a:rPr lang="sr-Latn-RS" sz="2400" i="1" baseline="-25000" dirty="0" smtClean="0">
                <a:sym typeface="Wingdings"/>
              </a:rPr>
              <a:t>OV</a:t>
            </a:r>
            <a:r>
              <a:rPr lang="sr-Latn-RS" sz="2400" dirty="0" smtClean="0">
                <a:sym typeface="Wingdings"/>
              </a:rPr>
              <a:t>= </a:t>
            </a:r>
            <a:r>
              <a:rPr lang="sr-Latn-RS" sz="2400" i="1" dirty="0" smtClean="0">
                <a:sym typeface="Wingdings"/>
              </a:rPr>
              <a:t>V</a:t>
            </a:r>
            <a:r>
              <a:rPr lang="sr-Latn-RS" sz="2400" i="1" baseline="-25000" dirty="0" smtClean="0">
                <a:sym typeface="Wingdings"/>
              </a:rPr>
              <a:t>GS</a:t>
            </a:r>
            <a:r>
              <a:rPr lang="sr-Latn-RS" sz="2400" dirty="0" smtClean="0">
                <a:sym typeface="Wingdings"/>
              </a:rPr>
              <a:t> </a:t>
            </a:r>
            <a:r>
              <a:rPr lang="sr-Latn-RS" sz="2400" dirty="0" smtClean="0">
                <a:sym typeface="Symbol"/>
              </a:rPr>
              <a:t> </a:t>
            </a:r>
            <a:r>
              <a:rPr lang="sr-Latn-RS" sz="2400" i="1" dirty="0" smtClean="0">
                <a:sym typeface="Symbol"/>
              </a:rPr>
              <a:t>V</a:t>
            </a:r>
            <a:r>
              <a:rPr lang="sr-Latn-RS" sz="2400" i="1" baseline="-25000" dirty="0" smtClean="0">
                <a:sym typeface="Symbol"/>
              </a:rPr>
              <a:t>tn</a:t>
            </a:r>
            <a:endParaRPr lang="en-US" sz="2400" i="1" baseline="-25000" dirty="0"/>
          </a:p>
        </p:txBody>
      </p:sp>
      <p:sp>
        <p:nvSpPr>
          <p:cNvPr id="8" name="TextBox 7"/>
          <p:cNvSpPr txBox="1"/>
          <p:nvPr/>
        </p:nvSpPr>
        <p:spPr>
          <a:xfrm>
            <a:off x="533400" y="685800"/>
            <a:ext cx="8408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ym typeface="Wingdings"/>
              </a:rPr>
              <a:t></a:t>
            </a:r>
            <a:r>
              <a:rPr lang="sr-Latn-RS" sz="2400" dirty="0" smtClean="0">
                <a:sym typeface="Wingdings"/>
              </a:rPr>
              <a:t> Oblast zasićenja, napon gejta veći od napona praga, a napon na drejnu veći od napona </a:t>
            </a:r>
            <a:r>
              <a:rPr lang="sr-Latn-RS" sz="2400" i="1" dirty="0" smtClean="0">
                <a:sym typeface="Wingdings"/>
              </a:rPr>
              <a:t>V</a:t>
            </a:r>
            <a:r>
              <a:rPr lang="sr-Latn-RS" sz="2400" i="1" baseline="-25000" dirty="0" smtClean="0">
                <a:sym typeface="Wingdings"/>
              </a:rPr>
              <a:t>OV</a:t>
            </a:r>
            <a:r>
              <a:rPr lang="sr-Latn-RS" sz="2400" dirty="0" smtClean="0">
                <a:sym typeface="Wingdings"/>
              </a:rPr>
              <a:t>= </a:t>
            </a:r>
            <a:r>
              <a:rPr lang="sr-Latn-RS" sz="2400" i="1" dirty="0" smtClean="0">
                <a:sym typeface="Wingdings"/>
              </a:rPr>
              <a:t>V</a:t>
            </a:r>
            <a:r>
              <a:rPr lang="sr-Latn-RS" sz="2400" i="1" baseline="-25000" dirty="0" smtClean="0">
                <a:sym typeface="Wingdings"/>
              </a:rPr>
              <a:t>GS</a:t>
            </a:r>
            <a:r>
              <a:rPr lang="sr-Latn-RS" sz="2400" dirty="0" smtClean="0">
                <a:sym typeface="Wingdings"/>
              </a:rPr>
              <a:t> </a:t>
            </a:r>
            <a:r>
              <a:rPr lang="sr-Latn-RS" sz="2400" dirty="0" smtClean="0">
                <a:sym typeface="Symbol"/>
              </a:rPr>
              <a:t> </a:t>
            </a:r>
            <a:r>
              <a:rPr lang="sr-Latn-RS" sz="2400" i="1" dirty="0" smtClean="0">
                <a:sym typeface="Symbol"/>
              </a:rPr>
              <a:t>V</a:t>
            </a:r>
            <a:r>
              <a:rPr lang="sr-Latn-RS" sz="2400" i="1" baseline="-25000" dirty="0" smtClean="0">
                <a:sym typeface="Symbol"/>
              </a:rPr>
              <a:t>tn</a:t>
            </a:r>
            <a:endParaRPr lang="en-US" sz="2400" i="1" baseline="-25000" dirty="0"/>
          </a:p>
        </p:txBody>
      </p:sp>
      <p:sp>
        <p:nvSpPr>
          <p:cNvPr id="9" name="TextBox 8"/>
          <p:cNvSpPr txBox="1"/>
          <p:nvPr/>
        </p:nvSpPr>
        <p:spPr>
          <a:xfrm>
            <a:off x="304800" y="990600"/>
            <a:ext cx="8408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ym typeface="Wingdings"/>
              </a:rPr>
              <a:t></a:t>
            </a:r>
            <a:r>
              <a:rPr lang="sr-Latn-RS" sz="2400" dirty="0" smtClean="0">
                <a:sym typeface="Wingdings"/>
              </a:rPr>
              <a:t> Linearna oblast, napon gejta veći od napona praga, a napon na drejnu mali</a:t>
            </a:r>
            <a:endParaRPr lang="en-US" sz="2400" i="1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0"/>
            <a:ext cx="86868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sz="2400" dirty="0" smtClean="0"/>
              <a:t>Realno, međutim, struja drejna u oblasti zasićenja nije konstantna već zavisi od napona </a:t>
            </a:r>
            <a:r>
              <a:rPr lang="pl-PL" sz="2400" i="1" dirty="0" smtClean="0"/>
              <a:t>V</a:t>
            </a:r>
            <a:r>
              <a:rPr lang="pl-PL" sz="2400" i="1" baseline="-25000" dirty="0" smtClean="0"/>
              <a:t>DS</a:t>
            </a:r>
            <a:r>
              <a:rPr lang="pl-PL" sz="2400" dirty="0" smtClean="0"/>
              <a:t>, što je posledica skraćenja kanala u oblasti zaćicenja. Kako dužina kanala u oblasti zasićenja zavisi od vrednosti napona </a:t>
            </a:r>
            <a:r>
              <a:rPr lang="pl-PL" sz="2400" i="1" dirty="0" smtClean="0"/>
              <a:t>V</a:t>
            </a:r>
            <a:r>
              <a:rPr lang="pl-PL" sz="2400" i="1" baseline="-25000" dirty="0" smtClean="0"/>
              <a:t>DS</a:t>
            </a:r>
            <a:r>
              <a:rPr lang="pl-PL" sz="2400" dirty="0" smtClean="0"/>
              <a:t>, </a:t>
            </a:r>
            <a:r>
              <a:rPr lang="en-US" sz="2400" dirty="0" smtClean="0"/>
              <a:t>to se ova </a:t>
            </a:r>
            <a:r>
              <a:rPr lang="en-US" sz="2400" dirty="0" err="1" smtClean="0"/>
              <a:t>pojava</a:t>
            </a:r>
            <a:r>
              <a:rPr lang="en-US" sz="2400" dirty="0" smtClean="0"/>
              <a:t> </a:t>
            </a:r>
            <a:r>
              <a:rPr lang="en-US" sz="2400" dirty="0" err="1" smtClean="0"/>
              <a:t>naziva</a:t>
            </a:r>
            <a:r>
              <a:rPr lang="en-US" sz="2400" dirty="0" smtClean="0"/>
              <a:t> </a:t>
            </a:r>
            <a:r>
              <a:rPr lang="en-US" sz="2400" i="1" dirty="0" err="1" smtClean="0"/>
              <a:t>modulacija</a:t>
            </a:r>
            <a:r>
              <a:rPr lang="en-US" sz="2400" i="1" dirty="0" smtClean="0"/>
              <a:t> du</a:t>
            </a:r>
            <a:r>
              <a:rPr lang="sr-Latn-RS" sz="2400" i="1" dirty="0" smtClean="0"/>
              <a:t>ž</a:t>
            </a:r>
            <a:r>
              <a:rPr lang="en-US" sz="2400" i="1" dirty="0" err="1" smtClean="0"/>
              <a:t>ine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kanala</a:t>
            </a:r>
            <a:r>
              <a:rPr lang="en-US" sz="2400" dirty="0" smtClean="0"/>
              <a:t>, a </a:t>
            </a:r>
            <a:r>
              <a:rPr lang="en-US" sz="2400" dirty="0" err="1" smtClean="0"/>
              <a:t>pove</a:t>
            </a:r>
            <a:r>
              <a:rPr lang="sr-Latn-RS" sz="2400" dirty="0" smtClean="0"/>
              <a:t>ć</a:t>
            </a:r>
            <a:r>
              <a:rPr lang="en-US" sz="2400" dirty="0" err="1" smtClean="0"/>
              <a:t>anje</a:t>
            </a:r>
            <a:r>
              <a:rPr lang="en-US" sz="2400" dirty="0" smtClean="0"/>
              <a:t> </a:t>
            </a:r>
            <a:r>
              <a:rPr lang="en-US" sz="2400" dirty="0" err="1" smtClean="0"/>
              <a:t>struje</a:t>
            </a:r>
            <a:r>
              <a:rPr lang="en-US" sz="2400" dirty="0" smtClean="0"/>
              <a:t> </a:t>
            </a:r>
            <a:r>
              <a:rPr lang="en-US" sz="2400" dirty="0" err="1" smtClean="0"/>
              <a:t>drejna</a:t>
            </a:r>
            <a:r>
              <a:rPr lang="sr-Latn-RS" sz="2400" dirty="0" smtClean="0"/>
              <a:t> </a:t>
            </a:r>
            <a:r>
              <a:rPr lang="en-US" sz="2400" dirty="0" err="1" smtClean="0"/>
              <a:t>usled</a:t>
            </a:r>
            <a:r>
              <a:rPr lang="en-US" sz="2400" dirty="0" smtClean="0"/>
              <a:t> </a:t>
            </a:r>
            <a:r>
              <a:rPr lang="en-US" sz="2400" dirty="0" err="1" smtClean="0"/>
              <a:t>kra</a:t>
            </a:r>
            <a:r>
              <a:rPr lang="sr-Latn-RS" sz="2400" dirty="0" smtClean="0"/>
              <a:t>ć</a:t>
            </a:r>
            <a:r>
              <a:rPr lang="en-US" sz="2400" dirty="0" err="1" smtClean="0"/>
              <a:t>eg</a:t>
            </a:r>
            <a:r>
              <a:rPr lang="en-US" sz="2400" dirty="0" smtClean="0"/>
              <a:t> </a:t>
            </a:r>
            <a:r>
              <a:rPr lang="en-US" sz="2400" dirty="0" err="1" smtClean="0"/>
              <a:t>kanala</a:t>
            </a:r>
            <a:r>
              <a:rPr lang="en-US" sz="2400" dirty="0" smtClean="0"/>
              <a:t> </a:t>
            </a:r>
            <a:r>
              <a:rPr lang="en-US" sz="2400" i="1" dirty="0" err="1" smtClean="0"/>
              <a:t>efekat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modulacije</a:t>
            </a:r>
            <a:r>
              <a:rPr lang="en-US" sz="2400" i="1" dirty="0" smtClean="0"/>
              <a:t> du</a:t>
            </a:r>
            <a:r>
              <a:rPr lang="sr-Latn-RS" sz="2400" i="1" dirty="0" smtClean="0"/>
              <a:t>ž</a:t>
            </a:r>
            <a:r>
              <a:rPr lang="en-US" sz="2400" i="1" dirty="0" err="1" smtClean="0"/>
              <a:t>ine</a:t>
            </a:r>
            <a:r>
              <a:rPr lang="en-US" sz="2400" i="1" dirty="0" smtClean="0"/>
              <a:t> </a:t>
            </a:r>
            <a:r>
              <a:rPr lang="en-US" sz="2400" i="1" dirty="0" err="1" smtClean="0"/>
              <a:t>kanala</a:t>
            </a:r>
            <a:r>
              <a:rPr lang="sr-Latn-RS" sz="2400" dirty="0" smtClean="0"/>
              <a:t>:</a:t>
            </a:r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r>
              <a:rPr lang="en-US" sz="2400" i="1" dirty="0" smtClean="0">
                <a:sym typeface="Symbol"/>
              </a:rPr>
              <a:t></a:t>
            </a:r>
            <a:r>
              <a:rPr lang="sr-Latn-RS" sz="2400" i="1" baseline="-25000" dirty="0" smtClean="0">
                <a:sym typeface="Symbol"/>
              </a:rPr>
              <a:t>n</a:t>
            </a:r>
            <a:r>
              <a:rPr lang="sr-Latn-RS" sz="2400" dirty="0" smtClean="0">
                <a:sym typeface="Symbol"/>
              </a:rPr>
              <a:t> = 1/</a:t>
            </a:r>
            <a:r>
              <a:rPr lang="sr-Latn-RS" sz="2400" i="1" dirty="0" smtClean="0">
                <a:sym typeface="Symbol"/>
              </a:rPr>
              <a:t>V</a:t>
            </a:r>
            <a:r>
              <a:rPr lang="sr-Latn-RS" sz="2400" i="1" baseline="-25000" dirty="0" smtClean="0">
                <a:sym typeface="Symbol"/>
              </a:rPr>
              <a:t>An</a:t>
            </a:r>
            <a:r>
              <a:rPr lang="sr-Latn-RS" sz="2400" dirty="0" smtClean="0">
                <a:sym typeface="Symbol"/>
              </a:rPr>
              <a:t>, gde je </a:t>
            </a:r>
            <a:r>
              <a:rPr lang="sr-Latn-RS" sz="2400" i="1" dirty="0" smtClean="0">
                <a:sym typeface="Symbol"/>
              </a:rPr>
              <a:t>V</a:t>
            </a:r>
            <a:r>
              <a:rPr lang="sr-Latn-RS" sz="2400" i="1" baseline="-25000" dirty="0" smtClean="0">
                <a:sym typeface="Symbol"/>
              </a:rPr>
              <a:t>An</a:t>
            </a:r>
            <a:r>
              <a:rPr lang="sr-Latn-RS" sz="2400" dirty="0" smtClean="0">
                <a:sym typeface="Symbol"/>
              </a:rPr>
              <a:t> napon analogan Erlijevom naponu za bipolarne tranzistore. </a:t>
            </a:r>
            <a:endParaRPr lang="sr-Latn-RS" sz="2400" dirty="0" smtClean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4267200"/>
            <a:ext cx="3448050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590800"/>
            <a:ext cx="7646670" cy="777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8613" y="1624013"/>
            <a:ext cx="8486775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1547813"/>
            <a:ext cx="3505200" cy="376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457200" y="533400"/>
            <a:ext cx="3189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2400" b="1" dirty="0" smtClean="0"/>
              <a:t>Prenosne karakteristike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2953" y="76200"/>
            <a:ext cx="34030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3200" b="1" dirty="0" smtClean="0">
                <a:solidFill>
                  <a:srgbClr val="0070C0"/>
                </a:solidFill>
              </a:rPr>
              <a:t>Ograničenja u radu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685800"/>
            <a:ext cx="86106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Font typeface="Wingdings" pitchFamily="2" charset="2"/>
              <a:buChar char="q"/>
            </a:pPr>
            <a:r>
              <a:rPr lang="pl-PL" sz="2400" dirty="0" smtClean="0"/>
              <a:t> Sa porastom temperature opadaju i napon praga i pokretljivost </a:t>
            </a:r>
            <a:r>
              <a:rPr lang="en-US" sz="2400" dirty="0" err="1" smtClean="0"/>
              <a:t>nosilaca</a:t>
            </a:r>
            <a:r>
              <a:rPr lang="en-US" sz="2400" dirty="0" smtClean="0"/>
              <a:t> u </a:t>
            </a:r>
            <a:r>
              <a:rPr lang="en-US" sz="2400" dirty="0" err="1" smtClean="0"/>
              <a:t>kanalu</a:t>
            </a:r>
            <a:r>
              <a:rPr lang="en-US" sz="2400" dirty="0" smtClean="0"/>
              <a:t>.</a:t>
            </a:r>
          </a:p>
          <a:p>
            <a:pPr>
              <a:spcAft>
                <a:spcPts val="600"/>
              </a:spcAft>
              <a:buFont typeface="Wingdings" pitchFamily="2" charset="2"/>
              <a:buChar char="q"/>
            </a:pPr>
            <a:r>
              <a:rPr lang="pl-PL" sz="2400" dirty="0" smtClean="0"/>
              <a:t> Za male napone na gejtu dominira pad napona praga, pa </a:t>
            </a:r>
            <a:r>
              <a:rPr lang="en-US" sz="2400" dirty="0" err="1" smtClean="0"/>
              <a:t>struja</a:t>
            </a:r>
            <a:r>
              <a:rPr lang="en-US" sz="2400" dirty="0" smtClean="0"/>
              <a:t> </a:t>
            </a:r>
            <a:r>
              <a:rPr lang="en-US" sz="2400" dirty="0" err="1" smtClean="0"/>
              <a:t>drejna</a:t>
            </a:r>
            <a:r>
              <a:rPr lang="en-US" sz="2400" dirty="0" smtClean="0"/>
              <a:t> </a:t>
            </a:r>
            <a:r>
              <a:rPr lang="en-US" sz="2400" dirty="0" err="1" smtClean="0"/>
              <a:t>raste</a:t>
            </a:r>
            <a:r>
              <a:rPr lang="en-US" sz="2400" dirty="0" smtClean="0"/>
              <a:t>.</a:t>
            </a:r>
          </a:p>
          <a:p>
            <a:pPr>
              <a:spcAft>
                <a:spcPts val="600"/>
              </a:spcAft>
              <a:buFont typeface="Wingdings" pitchFamily="2" charset="2"/>
              <a:buChar char="q"/>
            </a:pPr>
            <a:r>
              <a:rPr lang="pl-PL" sz="2400" dirty="0" smtClean="0"/>
              <a:t> Za veće napone na gejtu dominira pad pokretljivosti nosilaca</a:t>
            </a:r>
          </a:p>
          <a:p>
            <a:pPr>
              <a:spcAft>
                <a:spcPts val="600"/>
              </a:spcAft>
            </a:pPr>
            <a:r>
              <a:rPr lang="pl-PL" sz="2400" dirty="0" smtClean="0"/>
              <a:t>u kanalu, pa struja drejna opada.</a:t>
            </a:r>
          </a:p>
          <a:p>
            <a:pPr>
              <a:spcAft>
                <a:spcPts val="600"/>
              </a:spcAft>
              <a:buFont typeface="Wingdings" pitchFamily="2" charset="2"/>
              <a:buChar char="q"/>
            </a:pPr>
            <a:r>
              <a:rPr lang="pl-PL" sz="2400" dirty="0" smtClean="0"/>
              <a:t> Za jednu vrednost napona na gejtu efekti se međusobno </a:t>
            </a:r>
            <a:r>
              <a:rPr lang="en-US" sz="2400" dirty="0" err="1" smtClean="0"/>
              <a:t>kompenzuju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time je </a:t>
            </a:r>
            <a:r>
              <a:rPr lang="en-US" sz="2400" dirty="0" err="1" smtClean="0"/>
              <a:t>odre</a:t>
            </a:r>
            <a:r>
              <a:rPr lang="sr-Latn-RS" sz="2400" dirty="0" smtClean="0"/>
              <a:t>đ</a:t>
            </a:r>
            <a:r>
              <a:rPr lang="en-US" sz="2400" dirty="0" err="1" smtClean="0"/>
              <a:t>ena</a:t>
            </a:r>
            <a:r>
              <a:rPr lang="en-US" sz="2400" dirty="0" smtClean="0"/>
              <a:t> </a:t>
            </a:r>
            <a:r>
              <a:rPr lang="en-US" sz="2400" dirty="0" err="1" smtClean="0"/>
              <a:t>ta</a:t>
            </a:r>
            <a:r>
              <a:rPr lang="sr-Latn-RS" sz="2400" dirty="0" smtClean="0"/>
              <a:t>č</a:t>
            </a:r>
            <a:r>
              <a:rPr lang="en-US" sz="2400" dirty="0" smtClean="0"/>
              <a:t>ka u </a:t>
            </a:r>
            <a:r>
              <a:rPr lang="en-US" sz="2400" dirty="0" err="1" smtClean="0"/>
              <a:t>kojoj</a:t>
            </a:r>
            <a:r>
              <a:rPr lang="en-US" sz="2400" dirty="0" smtClean="0"/>
              <a:t> se </a:t>
            </a:r>
            <a:r>
              <a:rPr lang="en-US" sz="2400" dirty="0" err="1" smtClean="0"/>
              <a:t>prenosne</a:t>
            </a:r>
            <a:r>
              <a:rPr lang="sr-Latn-RS" sz="2400" dirty="0" smtClean="0"/>
              <a:t> </a:t>
            </a:r>
            <a:r>
              <a:rPr lang="en-US" sz="2400" dirty="0" err="1" smtClean="0"/>
              <a:t>karakteristike</a:t>
            </a:r>
            <a:r>
              <a:rPr lang="en-US" sz="2400" dirty="0" smtClean="0"/>
              <a:t> </a:t>
            </a:r>
            <a:r>
              <a:rPr lang="en-US" sz="2400" dirty="0" err="1" smtClean="0"/>
              <a:t>presecaju</a:t>
            </a:r>
            <a:r>
              <a:rPr lang="en-US" sz="2400" dirty="0" smtClean="0"/>
              <a:t>. Ova </a:t>
            </a:r>
            <a:r>
              <a:rPr lang="en-US" sz="2400" dirty="0" err="1" smtClean="0"/>
              <a:t>ta</a:t>
            </a:r>
            <a:r>
              <a:rPr lang="sr-Latn-RS" sz="2400" dirty="0" smtClean="0"/>
              <a:t>č</a:t>
            </a:r>
            <a:r>
              <a:rPr lang="en-US" sz="2400" dirty="0" smtClean="0"/>
              <a:t>ka </a:t>
            </a:r>
            <a:r>
              <a:rPr lang="en-US" sz="2400" dirty="0" err="1" smtClean="0"/>
              <a:t>naziva</a:t>
            </a:r>
            <a:r>
              <a:rPr lang="en-US" sz="2400" dirty="0" smtClean="0"/>
              <a:t> se </a:t>
            </a:r>
            <a:r>
              <a:rPr lang="en-US" sz="2400" dirty="0" err="1" smtClean="0"/>
              <a:t>ta</a:t>
            </a:r>
            <a:r>
              <a:rPr lang="sr-Latn-RS" sz="2400" dirty="0" smtClean="0"/>
              <a:t>č</a:t>
            </a:r>
            <a:r>
              <a:rPr lang="en-US" sz="2400" dirty="0" smtClean="0"/>
              <a:t>ka </a:t>
            </a:r>
            <a:r>
              <a:rPr lang="en-US" sz="2400" dirty="0" err="1" smtClean="0"/>
              <a:t>nultog</a:t>
            </a:r>
            <a:r>
              <a:rPr lang="sr-Latn-RS" sz="2400" dirty="0" smtClean="0"/>
              <a:t> </a:t>
            </a:r>
            <a:r>
              <a:rPr lang="it-IT" sz="2400" dirty="0" smtClean="0"/>
              <a:t>temperaturnog koeficijenta (Zero Temperature Coefficient</a:t>
            </a:r>
            <a:r>
              <a:rPr lang="sr-Latn-RS" sz="2400" dirty="0" smtClean="0"/>
              <a:t> </a:t>
            </a:r>
            <a:r>
              <a:rPr lang="en-US" sz="2400" dirty="0" smtClean="0"/>
              <a:t>– ZTC).</a:t>
            </a:r>
            <a:endParaRPr 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524250"/>
            <a:ext cx="6419850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2400"/>
            <a:ext cx="8763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/>
              <a:t>Proboj</a:t>
            </a:r>
            <a:endParaRPr lang="sr-Latn-RS" sz="2400" b="1" dirty="0" smtClean="0"/>
          </a:p>
          <a:p>
            <a:endParaRPr lang="en-US" sz="2400" dirty="0" smtClean="0"/>
          </a:p>
          <a:p>
            <a:r>
              <a:rPr lang="en-US" sz="2400" dirty="0" err="1" smtClean="0"/>
              <a:t>Napon</a:t>
            </a:r>
            <a:r>
              <a:rPr lang="en-US" sz="2400" dirty="0" smtClean="0"/>
              <a:t> </a:t>
            </a:r>
            <a:r>
              <a:rPr lang="en-US" sz="2400" i="1" dirty="0" smtClean="0"/>
              <a:t>V</a:t>
            </a:r>
            <a:r>
              <a:rPr lang="en-US" sz="2400" i="1" baseline="-25000" dirty="0" smtClean="0"/>
              <a:t>DS </a:t>
            </a:r>
            <a:r>
              <a:rPr lang="en-US" sz="2400" dirty="0" smtClean="0"/>
              <a:t>se u </a:t>
            </a:r>
            <a:r>
              <a:rPr lang="en-US" sz="2400" dirty="0" err="1" smtClean="0"/>
              <a:t>oblasti</a:t>
            </a:r>
            <a:r>
              <a:rPr lang="en-US" sz="2400" dirty="0" smtClean="0"/>
              <a:t> </a:t>
            </a:r>
            <a:r>
              <a:rPr lang="en-US" sz="2400" dirty="0" err="1" smtClean="0"/>
              <a:t>zasi</a:t>
            </a:r>
            <a:r>
              <a:rPr lang="sr-Latn-RS" sz="2400" dirty="0" smtClean="0"/>
              <a:t>ć</a:t>
            </a:r>
            <a:r>
              <a:rPr lang="en-US" sz="2400" dirty="0" err="1" smtClean="0"/>
              <a:t>enja</a:t>
            </a:r>
            <a:r>
              <a:rPr lang="en-US" sz="2400" dirty="0" smtClean="0"/>
              <a:t> </a:t>
            </a:r>
            <a:r>
              <a:rPr lang="en-US" sz="2400" dirty="0" err="1" smtClean="0"/>
              <a:t>može</a:t>
            </a:r>
            <a:r>
              <a:rPr lang="en-US" sz="2400" dirty="0" smtClean="0"/>
              <a:t> </a:t>
            </a:r>
            <a:r>
              <a:rPr lang="en-US" sz="2400" dirty="0" err="1" smtClean="0"/>
              <a:t>pove</a:t>
            </a:r>
            <a:r>
              <a:rPr lang="sr-Latn-RS" sz="2400" dirty="0" smtClean="0"/>
              <a:t>ć</a:t>
            </a:r>
            <a:r>
              <a:rPr lang="en-US" sz="2400" dirty="0" err="1" smtClean="0"/>
              <a:t>avati</a:t>
            </a:r>
            <a:r>
              <a:rPr lang="en-US" sz="2400" dirty="0" smtClean="0"/>
              <a:t> </a:t>
            </a:r>
            <a:r>
              <a:rPr lang="en-US" sz="2400" dirty="0" err="1" smtClean="0"/>
              <a:t>sve</a:t>
            </a:r>
            <a:r>
              <a:rPr lang="en-US" sz="2400" dirty="0" smtClean="0"/>
              <a:t> </a:t>
            </a:r>
            <a:r>
              <a:rPr lang="en-US" sz="2400" dirty="0" err="1" smtClean="0"/>
              <a:t>dok</a:t>
            </a:r>
            <a:r>
              <a:rPr lang="en-US" sz="2400" dirty="0" smtClean="0"/>
              <a:t> </a:t>
            </a:r>
            <a:r>
              <a:rPr lang="en-US" sz="2400" dirty="0" err="1" smtClean="0"/>
              <a:t>kod</a:t>
            </a:r>
            <a:r>
              <a:rPr lang="sr-Latn-RS" sz="2400" dirty="0" smtClean="0"/>
              <a:t> </a:t>
            </a:r>
            <a:r>
              <a:rPr lang="pl-PL" sz="2400" dirty="0" smtClean="0"/>
              <a:t>PN spoja drejn–supstrat ne nastupi proboj. Tada dolazi do </a:t>
            </a:r>
            <a:r>
              <a:rPr lang="en-US" sz="2400" dirty="0" err="1" smtClean="0"/>
              <a:t>naglog</a:t>
            </a:r>
            <a:r>
              <a:rPr lang="en-US" sz="2400" dirty="0" smtClean="0"/>
              <a:t> </a:t>
            </a:r>
            <a:r>
              <a:rPr lang="en-US" sz="2400" dirty="0" err="1" smtClean="0"/>
              <a:t>porasta</a:t>
            </a:r>
            <a:r>
              <a:rPr lang="en-US" sz="2400" dirty="0" smtClean="0"/>
              <a:t> </a:t>
            </a:r>
            <a:r>
              <a:rPr lang="en-US" sz="2400" dirty="0" err="1" smtClean="0"/>
              <a:t>struje</a:t>
            </a:r>
            <a:r>
              <a:rPr lang="en-US" sz="2400" dirty="0" smtClean="0"/>
              <a:t>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D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209800"/>
            <a:ext cx="6105525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2400"/>
            <a:ext cx="8763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/>
              <a:t>Disipacija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snage</a:t>
            </a:r>
            <a:endParaRPr lang="en-US" sz="2400" b="1" dirty="0" smtClean="0"/>
          </a:p>
          <a:p>
            <a:endParaRPr lang="sr-Latn-RS" sz="2400" dirty="0" smtClean="0"/>
          </a:p>
          <a:p>
            <a:r>
              <a:rPr lang="en-US" sz="2400" dirty="0" err="1" smtClean="0"/>
              <a:t>Disipacija</a:t>
            </a:r>
            <a:r>
              <a:rPr lang="en-US" sz="2400" dirty="0" smtClean="0"/>
              <a:t> </a:t>
            </a:r>
            <a:r>
              <a:rPr lang="en-US" sz="2400" dirty="0" err="1" smtClean="0"/>
              <a:t>snage</a:t>
            </a:r>
            <a:r>
              <a:rPr lang="en-US" sz="2400" dirty="0" smtClean="0"/>
              <a:t> </a:t>
            </a:r>
            <a:r>
              <a:rPr lang="en-US" sz="2400" dirty="0" err="1" smtClean="0"/>
              <a:t>ozna</a:t>
            </a:r>
            <a:r>
              <a:rPr lang="sr-Latn-RS" sz="2400" dirty="0" smtClean="0"/>
              <a:t>č</a:t>
            </a:r>
            <a:r>
              <a:rPr lang="en-US" sz="2400" dirty="0" err="1" smtClean="0"/>
              <a:t>ava</a:t>
            </a:r>
            <a:r>
              <a:rPr lang="en-US" sz="2400" dirty="0" smtClean="0"/>
              <a:t> se </a:t>
            </a:r>
            <a:r>
              <a:rPr lang="en-US" sz="2400" dirty="0" err="1" smtClean="0"/>
              <a:t>sa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i="1" baseline="-25000" dirty="0" smtClean="0"/>
              <a:t>D</a:t>
            </a:r>
            <a:r>
              <a:rPr lang="en-US" sz="2400" i="1" dirty="0" smtClean="0"/>
              <a:t> </a:t>
            </a:r>
            <a:r>
              <a:rPr lang="sr-Latn-RS" sz="2400" i="1" dirty="0" smtClean="0"/>
              <a:t>= V</a:t>
            </a:r>
            <a:r>
              <a:rPr lang="sr-Latn-RS" sz="2400" i="1" baseline="-25000" dirty="0" smtClean="0"/>
              <a:t>DS</a:t>
            </a:r>
            <a:r>
              <a:rPr lang="sr-Latn-RS" sz="2400" i="1" dirty="0" smtClean="0">
                <a:sym typeface="Symbol"/>
              </a:rPr>
              <a:t> I</a:t>
            </a:r>
            <a:r>
              <a:rPr lang="sr-Latn-RS" sz="2400" i="1" baseline="-25000" dirty="0" smtClean="0">
                <a:sym typeface="Symbol"/>
              </a:rPr>
              <a:t>D</a:t>
            </a:r>
            <a:r>
              <a:rPr lang="sr-Latn-RS" sz="2400" i="1" dirty="0" smtClean="0">
                <a:sym typeface="Symbol"/>
              </a:rPr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njena</a:t>
            </a:r>
            <a:r>
              <a:rPr lang="en-US" sz="2400" dirty="0" smtClean="0"/>
              <a:t> </a:t>
            </a:r>
            <a:r>
              <a:rPr lang="en-US" sz="2400" dirty="0" err="1" smtClean="0"/>
              <a:t>maksimalna</a:t>
            </a:r>
            <a:r>
              <a:rPr lang="en-US" sz="2400" dirty="0" smtClean="0"/>
              <a:t> </a:t>
            </a:r>
            <a:r>
              <a:rPr lang="en-US" sz="2400" dirty="0" err="1" smtClean="0"/>
              <a:t>dozvoljena</a:t>
            </a:r>
            <a:r>
              <a:rPr lang="sr-Latn-RS" sz="2400" dirty="0" smtClean="0"/>
              <a:t> </a:t>
            </a:r>
            <a:r>
              <a:rPr lang="en-US" sz="2400" dirty="0" err="1" smtClean="0"/>
              <a:t>vrednost</a:t>
            </a:r>
            <a:r>
              <a:rPr lang="en-US" sz="2400" dirty="0" smtClean="0"/>
              <a:t> </a:t>
            </a:r>
            <a:r>
              <a:rPr lang="sr-Latn-RS" sz="2400" i="1" dirty="0" smtClean="0"/>
              <a:t>P</a:t>
            </a:r>
            <a:r>
              <a:rPr lang="sr-Latn-RS" sz="2400" i="1" baseline="-25000" dirty="0" smtClean="0"/>
              <a:t>Dmax</a:t>
            </a:r>
            <a:r>
              <a:rPr lang="sr-Latn-RS" sz="2400" dirty="0" smtClean="0"/>
              <a:t> </a:t>
            </a:r>
            <a:r>
              <a:rPr lang="en-US" sz="2400" dirty="0" smtClean="0"/>
              <a:t>se </a:t>
            </a:r>
            <a:r>
              <a:rPr lang="en-US" sz="2400" dirty="0" err="1" smtClean="0"/>
              <a:t>definiše</a:t>
            </a:r>
            <a:r>
              <a:rPr lang="en-US" sz="2400" dirty="0" smtClean="0"/>
              <a:t> u </a:t>
            </a:r>
            <a:r>
              <a:rPr lang="en-US" sz="2400" dirty="0" err="1" smtClean="0"/>
              <a:t>tehni</a:t>
            </a:r>
            <a:r>
              <a:rPr lang="sr-Latn-RS" sz="2400" dirty="0" smtClean="0"/>
              <a:t>č</a:t>
            </a:r>
            <a:r>
              <a:rPr lang="en-US" sz="2400" dirty="0" err="1" smtClean="0"/>
              <a:t>kim</a:t>
            </a:r>
            <a:r>
              <a:rPr lang="sr-Latn-RS" sz="2400" dirty="0" smtClean="0"/>
              <a:t> </a:t>
            </a:r>
            <a:r>
              <a:rPr lang="en-US" sz="2400" dirty="0" err="1" smtClean="0"/>
              <a:t>specifikacijama</a:t>
            </a:r>
            <a:r>
              <a:rPr lang="en-US" sz="2400" dirty="0" smtClean="0"/>
              <a:t> </a:t>
            </a:r>
            <a:r>
              <a:rPr lang="en-US" sz="2400" dirty="0" err="1" smtClean="0"/>
              <a:t>proizvo</a:t>
            </a:r>
            <a:r>
              <a:rPr lang="pl-PL" sz="2400" dirty="0" smtClean="0"/>
              <a:t>đača. Prilikom projektovanja elektronskih kola potrebno je</a:t>
            </a:r>
          </a:p>
          <a:p>
            <a:r>
              <a:rPr lang="en-US" sz="2400" dirty="0" err="1" smtClean="0"/>
              <a:t>obezbediti</a:t>
            </a:r>
            <a:r>
              <a:rPr lang="en-US" sz="2400" dirty="0" smtClean="0"/>
              <a:t> </a:t>
            </a:r>
            <a:r>
              <a:rPr lang="en-US" sz="2400" dirty="0" err="1" smtClean="0"/>
              <a:t>da</a:t>
            </a:r>
            <a:r>
              <a:rPr lang="en-US" sz="2400" dirty="0" smtClean="0"/>
              <a:t> </a:t>
            </a:r>
            <a:r>
              <a:rPr lang="en-US" sz="2400" dirty="0" err="1" smtClean="0"/>
              <a:t>disipacija</a:t>
            </a:r>
            <a:r>
              <a:rPr lang="en-US" sz="2400" dirty="0" smtClean="0"/>
              <a:t> </a:t>
            </a:r>
            <a:r>
              <a:rPr lang="en-US" sz="2400" dirty="0" err="1" smtClean="0"/>
              <a:t>snage</a:t>
            </a:r>
            <a:r>
              <a:rPr lang="en-US" sz="2400" dirty="0" smtClean="0"/>
              <a:t> </a:t>
            </a:r>
            <a:r>
              <a:rPr lang="en-US" sz="2400" dirty="0" err="1" smtClean="0"/>
              <a:t>na</a:t>
            </a:r>
            <a:r>
              <a:rPr lang="en-US" sz="2400" dirty="0" smtClean="0"/>
              <a:t> </a:t>
            </a:r>
            <a:r>
              <a:rPr lang="en-US" sz="2400" dirty="0" err="1" smtClean="0"/>
              <a:t>tranzistoru</a:t>
            </a:r>
            <a:r>
              <a:rPr lang="en-US" sz="2400" dirty="0" smtClean="0"/>
              <a:t> u </a:t>
            </a:r>
            <a:r>
              <a:rPr lang="en-US" sz="2400" dirty="0" err="1" smtClean="0"/>
              <a:t>svakom</a:t>
            </a:r>
            <a:r>
              <a:rPr lang="en-US" sz="2400" dirty="0" smtClean="0"/>
              <a:t> </a:t>
            </a:r>
            <a:r>
              <a:rPr lang="en-US" sz="2400" dirty="0" err="1" smtClean="0"/>
              <a:t>trenutku</a:t>
            </a:r>
            <a:endParaRPr lang="en-US" sz="2400" dirty="0" smtClean="0"/>
          </a:p>
          <a:p>
            <a:r>
              <a:rPr lang="en-US" sz="2400" dirty="0" err="1" smtClean="0"/>
              <a:t>bude</a:t>
            </a:r>
            <a:r>
              <a:rPr lang="en-US" sz="2400" dirty="0" smtClean="0"/>
              <a:t> </a:t>
            </a:r>
            <a:r>
              <a:rPr lang="en-US" sz="2400" dirty="0" err="1" smtClean="0"/>
              <a:t>manja</a:t>
            </a:r>
            <a:r>
              <a:rPr lang="en-US" sz="2400" dirty="0" smtClean="0"/>
              <a:t> </a:t>
            </a:r>
            <a:r>
              <a:rPr lang="en-US" sz="2400" dirty="0" err="1" smtClean="0"/>
              <a:t>ili</a:t>
            </a:r>
            <a:r>
              <a:rPr lang="en-US" sz="2400" dirty="0" smtClean="0"/>
              <a:t> </a:t>
            </a:r>
            <a:r>
              <a:rPr lang="en-US" sz="2400" dirty="0" err="1" smtClean="0"/>
              <a:t>jednaka</a:t>
            </a:r>
            <a:r>
              <a:rPr lang="en-US" sz="2400" dirty="0" smtClean="0"/>
              <a:t> </a:t>
            </a:r>
            <a:r>
              <a:rPr lang="en-US" sz="2400" dirty="0" err="1" smtClean="0"/>
              <a:t>vrednosti</a:t>
            </a:r>
            <a:r>
              <a:rPr lang="en-US" sz="2400" dirty="0" smtClean="0"/>
              <a:t> </a:t>
            </a:r>
            <a:r>
              <a:rPr lang="en-US" sz="2400" i="1" dirty="0" smtClean="0"/>
              <a:t>P</a:t>
            </a:r>
            <a:r>
              <a:rPr lang="en-US" sz="2400" i="1" baseline="-25000" dirty="0" smtClean="0"/>
              <a:t>D</a:t>
            </a:r>
            <a:r>
              <a:rPr lang="sr-Latn-RS" sz="2400" i="1" baseline="-25000" dirty="0" smtClean="0"/>
              <a:t>max</a:t>
            </a:r>
            <a:r>
              <a:rPr lang="en-US" sz="2400" i="1" dirty="0" smtClean="0"/>
              <a:t> </a:t>
            </a:r>
            <a:r>
              <a:rPr lang="sr-Latn-RS" sz="2400" i="1" dirty="0" smtClean="0"/>
              <a:t>.</a:t>
            </a:r>
            <a:endParaRPr lang="en-US" sz="24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895600"/>
            <a:ext cx="56769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Arrow Connector 4"/>
          <p:cNvCxnSpPr/>
          <p:nvPr/>
        </p:nvCxnSpPr>
        <p:spPr>
          <a:xfrm flipH="1">
            <a:off x="3657600" y="3124200"/>
            <a:ext cx="2971800" cy="152400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77000" y="2743200"/>
            <a:ext cx="2153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b="1" dirty="0" smtClean="0"/>
              <a:t>Oblast sigurnog rada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1980" y="76200"/>
            <a:ext cx="49984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3200" b="1" dirty="0" smtClean="0">
                <a:solidFill>
                  <a:srgbClr val="0070C0"/>
                </a:solidFill>
              </a:rPr>
              <a:t>MOS tranzistor kao prekidač</a:t>
            </a:r>
            <a:endParaRPr lang="en-US" sz="3200" b="1" dirty="0">
              <a:solidFill>
                <a:srgbClr val="0070C0"/>
              </a:solidFill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2063" y="1209675"/>
            <a:ext cx="661987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762000" y="5715000"/>
            <a:ext cx="76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Gra</a:t>
            </a:r>
            <a:r>
              <a:rPr lang="sr-Latn-RS" b="1" dirty="0" smtClean="0"/>
              <a:t>fič</a:t>
            </a:r>
            <a:r>
              <a:rPr lang="en-US" b="1" dirty="0" err="1" smtClean="0"/>
              <a:t>ki</a:t>
            </a:r>
            <a:r>
              <a:rPr lang="en-US" b="1" dirty="0" smtClean="0"/>
              <a:t> </a:t>
            </a:r>
            <a:r>
              <a:rPr lang="en-US" b="1" dirty="0" err="1" smtClean="0"/>
              <a:t>prikaz</a:t>
            </a:r>
            <a:r>
              <a:rPr lang="en-US" b="1" dirty="0" smtClean="0"/>
              <a:t> </a:t>
            </a:r>
            <a:r>
              <a:rPr lang="en-US" b="1" dirty="0" err="1" smtClean="0"/>
              <a:t>radnih</a:t>
            </a:r>
            <a:r>
              <a:rPr lang="en-US" b="1" dirty="0" smtClean="0"/>
              <a:t> </a:t>
            </a:r>
            <a:r>
              <a:rPr lang="en-US" b="1" dirty="0" err="1" smtClean="0"/>
              <a:t>ta</a:t>
            </a:r>
            <a:r>
              <a:rPr lang="sr-Latn-RS" b="1" dirty="0" smtClean="0"/>
              <a:t>č</a:t>
            </a:r>
            <a:r>
              <a:rPr lang="en-US" b="1" dirty="0" smtClean="0"/>
              <a:t>aka NMOS </a:t>
            </a:r>
            <a:r>
              <a:rPr lang="en-US" b="1" dirty="0" err="1" smtClean="0"/>
              <a:t>tranzistora</a:t>
            </a:r>
            <a:r>
              <a:rPr lang="en-US" b="1" dirty="0" smtClean="0"/>
              <a:t> </a:t>
            </a:r>
            <a:r>
              <a:rPr lang="en-US" b="1" dirty="0" err="1" smtClean="0"/>
              <a:t>kada</a:t>
            </a:r>
            <a:r>
              <a:rPr lang="en-US" b="1" dirty="0" smtClean="0"/>
              <a:t> se </a:t>
            </a:r>
            <a:r>
              <a:rPr lang="en-US" b="1" dirty="0" err="1" smtClean="0"/>
              <a:t>koristi</a:t>
            </a:r>
            <a:r>
              <a:rPr lang="en-US" b="1" dirty="0" smtClean="0"/>
              <a:t> </a:t>
            </a:r>
            <a:r>
              <a:rPr lang="en-US" b="1" dirty="0" err="1" smtClean="0"/>
              <a:t>kao</a:t>
            </a:r>
            <a:r>
              <a:rPr lang="sr-Latn-RS" b="1" dirty="0" smtClean="0"/>
              <a:t> </a:t>
            </a:r>
            <a:r>
              <a:rPr lang="en-US" b="1" dirty="0" err="1" smtClean="0"/>
              <a:t>prekida</a:t>
            </a:r>
            <a:r>
              <a:rPr lang="sr-Latn-RS" b="1" dirty="0" smtClean="0"/>
              <a:t>č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52400"/>
            <a:ext cx="6496050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981200" y="3516868"/>
            <a:ext cx="5638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b="1" dirty="0" smtClean="0"/>
              <a:t>NMOS tranzistor u ulozi prekidača (a) i pobudni signal (b)</a:t>
            </a:r>
            <a:endParaRPr lang="en-US" b="1" dirty="0"/>
          </a:p>
        </p:txBody>
      </p:sp>
      <p:grpSp>
        <p:nvGrpSpPr>
          <p:cNvPr id="8" name="Group 7"/>
          <p:cNvGrpSpPr/>
          <p:nvPr/>
        </p:nvGrpSpPr>
        <p:grpSpPr>
          <a:xfrm>
            <a:off x="304800" y="4038600"/>
            <a:ext cx="8610600" cy="1200329"/>
            <a:chOff x="304800" y="4038600"/>
            <a:chExt cx="8610600" cy="1200329"/>
          </a:xfrm>
        </p:grpSpPr>
        <p:pic>
          <p:nvPicPr>
            <p:cNvPr id="1843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4800" y="4453890"/>
              <a:ext cx="1337310" cy="422910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</p:spPr>
        </p:pic>
        <p:sp>
          <p:nvSpPr>
            <p:cNvPr id="5" name="TextBox 4"/>
            <p:cNvSpPr txBox="1"/>
            <p:nvPr/>
          </p:nvSpPr>
          <p:spPr>
            <a:xfrm>
              <a:off x="1752600" y="4038600"/>
              <a:ext cx="71628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r-Latn-RS" sz="2400" dirty="0" smtClean="0"/>
                <a:t>Napon na gejtu je manji od napona praga, tranzistor ne vodi, izlazni napon je jednak naponu napajanja </a:t>
              </a:r>
              <a:r>
                <a:rPr lang="sr-Latn-RS" sz="2400" i="1" dirty="0" smtClean="0"/>
                <a:t>V</a:t>
              </a:r>
              <a:r>
                <a:rPr lang="sr-Latn-RS" sz="2400" i="1" baseline="-25000" dirty="0" smtClean="0"/>
                <a:t>DD</a:t>
              </a:r>
              <a:r>
                <a:rPr lang="sr-Latn-RS" sz="2400" dirty="0" smtClean="0"/>
                <a:t>; tranzistor se ponaša kao otvoren prekidač</a:t>
              </a:r>
              <a:endParaRPr lang="en-US" sz="2400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52399" y="5410200"/>
            <a:ext cx="8915401" cy="1200329"/>
            <a:chOff x="152399" y="5410200"/>
            <a:chExt cx="8915401" cy="1200329"/>
          </a:xfrm>
        </p:grpSpPr>
        <p:pic>
          <p:nvPicPr>
            <p:cNvPr id="18436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52399" y="5867400"/>
              <a:ext cx="1634490" cy="411480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1905000" y="5410200"/>
              <a:ext cx="71628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r-Latn-RS" sz="2400" dirty="0" smtClean="0"/>
                <a:t>Napon na gejtu je veći od napona praga, tranzistor vodi i radi u triodnoj oblasti, izlazni napon je jednak nuli; tranzistor se ponaša kao zatvoren prekidač</a:t>
              </a:r>
              <a:endParaRPr 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508" y="76200"/>
            <a:ext cx="6950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3200" b="1" dirty="0" smtClean="0">
                <a:solidFill>
                  <a:srgbClr val="0070C0"/>
                </a:solidFill>
              </a:rPr>
              <a:t>Model MOS tranzistora za velike signale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762000"/>
            <a:ext cx="8686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/>
              <a:t>Tranzistor</a:t>
            </a:r>
            <a:r>
              <a:rPr lang="en-US" sz="2400" dirty="0" smtClean="0"/>
              <a:t> se </a:t>
            </a:r>
            <a:r>
              <a:rPr lang="en-US" sz="2400" dirty="0" err="1" smtClean="0"/>
              <a:t>pona</a:t>
            </a:r>
            <a:r>
              <a:rPr lang="sr-Latn-RS" sz="2400" dirty="0" smtClean="0"/>
              <a:t>š</a:t>
            </a:r>
            <a:r>
              <a:rPr lang="en-US" sz="2400" dirty="0" smtClean="0"/>
              <a:t>a </a:t>
            </a:r>
            <a:r>
              <a:rPr lang="en-US" sz="2400" dirty="0" err="1" smtClean="0"/>
              <a:t>kao</a:t>
            </a:r>
            <a:r>
              <a:rPr lang="en-US" sz="2400" dirty="0" smtClean="0"/>
              <a:t> </a:t>
            </a:r>
            <a:r>
              <a:rPr lang="en-US" sz="2400" dirty="0" err="1" smtClean="0"/>
              <a:t>naponom</a:t>
            </a:r>
            <a:r>
              <a:rPr lang="en-US" sz="2400" dirty="0" smtClean="0"/>
              <a:t> </a:t>
            </a:r>
            <a:r>
              <a:rPr lang="en-US" sz="2400" dirty="0" err="1" smtClean="0"/>
              <a:t>kontrolisani</a:t>
            </a:r>
            <a:r>
              <a:rPr lang="en-US" sz="2400" dirty="0" smtClean="0"/>
              <a:t> </a:t>
            </a:r>
            <a:r>
              <a:rPr lang="en-US" sz="2400" dirty="0" err="1" smtClean="0"/>
              <a:t>strujni</a:t>
            </a:r>
            <a:r>
              <a:rPr lang="en-US" sz="2400" dirty="0" smtClean="0"/>
              <a:t> </a:t>
            </a:r>
            <a:r>
              <a:rPr lang="en-US" sz="2400" dirty="0" err="1" smtClean="0"/>
              <a:t>izvor</a:t>
            </a:r>
            <a:r>
              <a:rPr lang="en-US" sz="2400" dirty="0" smtClean="0"/>
              <a:t> </a:t>
            </a:r>
            <a:r>
              <a:rPr lang="sr-Latn-RS" sz="2400" dirty="0" smtClean="0"/>
              <a:t>č</a:t>
            </a:r>
            <a:r>
              <a:rPr lang="en-US" sz="2400" dirty="0" err="1" smtClean="0"/>
              <a:t>ija</a:t>
            </a:r>
            <a:r>
              <a:rPr lang="en-US" sz="2400" dirty="0" smtClean="0"/>
              <a:t> </a:t>
            </a:r>
            <a:r>
              <a:rPr lang="en-US" sz="2400" dirty="0" err="1" smtClean="0"/>
              <a:t>struja</a:t>
            </a:r>
            <a:r>
              <a:rPr lang="sr-Latn-RS" sz="2400" dirty="0" smtClean="0"/>
              <a:t> </a:t>
            </a:r>
            <a:r>
              <a:rPr lang="pl-PL" sz="2400" dirty="0" smtClean="0"/>
              <a:t>zavisi od napona </a:t>
            </a:r>
            <a:r>
              <a:rPr lang="pl-PL" sz="2400" i="1" dirty="0" smtClean="0"/>
              <a:t>V</a:t>
            </a:r>
            <a:r>
              <a:rPr lang="pl-PL" sz="2400" i="1" baseline="-25000" dirty="0" smtClean="0"/>
              <a:t>GS</a:t>
            </a:r>
            <a:r>
              <a:rPr lang="pl-PL" sz="2400" dirty="0" smtClean="0"/>
              <a:t> u oblasti zasićenja i napona </a:t>
            </a:r>
            <a:r>
              <a:rPr lang="pl-PL" sz="2400" i="1" dirty="0" smtClean="0"/>
              <a:t>V</a:t>
            </a:r>
            <a:r>
              <a:rPr lang="pl-PL" sz="2400" i="1" baseline="-25000" dirty="0" smtClean="0"/>
              <a:t>GS</a:t>
            </a:r>
            <a:r>
              <a:rPr lang="pl-PL" sz="2400" dirty="0" smtClean="0"/>
              <a:t> i </a:t>
            </a:r>
            <a:r>
              <a:rPr lang="pl-PL" sz="2400" i="1" dirty="0" smtClean="0"/>
              <a:t>V</a:t>
            </a:r>
            <a:r>
              <a:rPr lang="pl-PL" sz="2400" i="1" baseline="-25000" dirty="0" smtClean="0"/>
              <a:t>DS</a:t>
            </a:r>
            <a:r>
              <a:rPr lang="pl-PL" sz="2400" dirty="0" smtClean="0"/>
              <a:t> u triodnoj</a:t>
            </a:r>
            <a:r>
              <a:rPr lang="en-US" sz="2400" dirty="0" smtClean="0"/>
              <a:t> </a:t>
            </a:r>
            <a:r>
              <a:rPr lang="en-US" sz="2400" dirty="0" err="1" smtClean="0"/>
              <a:t>oblasti</a:t>
            </a:r>
            <a:r>
              <a:rPr lang="en-US" sz="2400" dirty="0" smtClean="0"/>
              <a:t>. Po</a:t>
            </a:r>
            <a:r>
              <a:rPr lang="sr-Latn-RS" sz="2400" dirty="0" smtClean="0"/>
              <a:t>š</a:t>
            </a:r>
            <a:r>
              <a:rPr lang="en-US" sz="2400" dirty="0" smtClean="0"/>
              <a:t>to je </a:t>
            </a:r>
            <a:r>
              <a:rPr lang="en-US" sz="2400" dirty="0" err="1" smtClean="0"/>
              <a:t>izme</a:t>
            </a:r>
            <a:r>
              <a:rPr lang="sr-Latn-RS" sz="2400" dirty="0" smtClean="0"/>
              <a:t>đ</a:t>
            </a:r>
            <a:r>
              <a:rPr lang="en-US" sz="2400" dirty="0" smtClean="0"/>
              <a:t>u </a:t>
            </a:r>
            <a:r>
              <a:rPr lang="en-US" sz="2400" dirty="0" err="1" smtClean="0"/>
              <a:t>gejta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 </a:t>
            </a:r>
            <a:r>
              <a:rPr lang="en-US" sz="2400" dirty="0" err="1" smtClean="0"/>
              <a:t>kanala</a:t>
            </a:r>
            <a:r>
              <a:rPr lang="en-US" sz="2400" dirty="0" smtClean="0"/>
              <a:t> </a:t>
            </a:r>
            <a:r>
              <a:rPr lang="en-US" sz="2400" dirty="0" err="1" smtClean="0"/>
              <a:t>sloj</a:t>
            </a:r>
            <a:r>
              <a:rPr lang="en-US" sz="2400" dirty="0" smtClean="0"/>
              <a:t> </a:t>
            </a:r>
            <a:r>
              <a:rPr lang="en-US" sz="2400" dirty="0" err="1" smtClean="0"/>
              <a:t>oksida</a:t>
            </a:r>
            <a:r>
              <a:rPr lang="en-US" sz="2400" dirty="0" smtClean="0"/>
              <a:t>, </a:t>
            </a:r>
            <a:r>
              <a:rPr lang="en-US" sz="2400" dirty="0" err="1" smtClean="0"/>
              <a:t>ulazna</a:t>
            </a:r>
            <a:r>
              <a:rPr lang="en-US" sz="2400" dirty="0" smtClean="0"/>
              <a:t> </a:t>
            </a:r>
            <a:r>
              <a:rPr lang="en-US" sz="2400" dirty="0" err="1" smtClean="0"/>
              <a:t>ot</a:t>
            </a:r>
            <a:r>
              <a:rPr lang="en-US" sz="2400" dirty="0" smtClean="0"/>
              <a:t>-</a:t>
            </a:r>
          </a:p>
          <a:p>
            <a:r>
              <a:rPr lang="en-US" sz="2400" dirty="0" err="1" smtClean="0"/>
              <a:t>pornost</a:t>
            </a:r>
            <a:r>
              <a:rPr lang="en-US" sz="2400" dirty="0" smtClean="0"/>
              <a:t> MOS </a:t>
            </a:r>
            <a:r>
              <a:rPr lang="en-US" sz="2400" dirty="0" err="1" smtClean="0"/>
              <a:t>tranzistora</a:t>
            </a:r>
            <a:r>
              <a:rPr lang="en-US" sz="2400" dirty="0" smtClean="0"/>
              <a:t> je </a:t>
            </a:r>
            <a:r>
              <a:rPr lang="en-US" sz="2400" dirty="0" err="1" smtClean="0"/>
              <a:t>reda</a:t>
            </a:r>
            <a:r>
              <a:rPr lang="en-US" sz="2400" dirty="0" smtClean="0"/>
              <a:t> </a:t>
            </a:r>
            <a:r>
              <a:rPr lang="en-US" sz="2400" dirty="0" err="1" smtClean="0"/>
              <a:t>veli</a:t>
            </a:r>
            <a:r>
              <a:rPr lang="sr-Latn-RS" sz="2400" dirty="0" smtClean="0"/>
              <a:t>č</a:t>
            </a:r>
            <a:r>
              <a:rPr lang="en-US" sz="2400" dirty="0" err="1" smtClean="0"/>
              <a:t>ine</a:t>
            </a:r>
            <a:r>
              <a:rPr lang="en-US" sz="2400" dirty="0" smtClean="0"/>
              <a:t> 10</a:t>
            </a:r>
            <a:r>
              <a:rPr lang="en-US" sz="2400" baseline="30000" dirty="0" smtClean="0"/>
              <a:t>12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</a:t>
            </a:r>
            <a:r>
              <a:rPr lang="en-US" sz="2400" dirty="0" smtClean="0"/>
              <a:t>, pa je </a:t>
            </a:r>
            <a:r>
              <a:rPr lang="en-US" sz="2400" dirty="0" err="1" smtClean="0"/>
              <a:t>struja</a:t>
            </a:r>
            <a:r>
              <a:rPr lang="en-US" sz="2400" dirty="0" smtClean="0"/>
              <a:t> </a:t>
            </a:r>
            <a:r>
              <a:rPr lang="en-US" sz="2400" dirty="0" err="1" smtClean="0"/>
              <a:t>gejta</a:t>
            </a:r>
            <a:r>
              <a:rPr lang="en-US" sz="2400" dirty="0" smtClean="0"/>
              <a:t> </a:t>
            </a:r>
            <a:r>
              <a:rPr lang="en-US" sz="2400" dirty="0" err="1" smtClean="0"/>
              <a:t>prakti</a:t>
            </a:r>
            <a:r>
              <a:rPr lang="sr-Latn-RS" sz="2400" dirty="0" smtClean="0"/>
              <a:t>č</a:t>
            </a:r>
            <a:r>
              <a:rPr lang="en-US" sz="2400" dirty="0" smtClean="0"/>
              <a:t>no</a:t>
            </a:r>
            <a:r>
              <a:rPr lang="sr-Latn-RS" sz="2400" dirty="0" smtClean="0"/>
              <a:t> </a:t>
            </a:r>
            <a:r>
              <a:rPr lang="en-US" sz="2400" dirty="0" err="1" smtClean="0"/>
              <a:t>jednaka</a:t>
            </a:r>
            <a:r>
              <a:rPr lang="en-US" sz="2400" dirty="0" smtClean="0"/>
              <a:t> </a:t>
            </a:r>
            <a:r>
              <a:rPr lang="en-US" sz="2400" dirty="0" err="1" smtClean="0"/>
              <a:t>nuli</a:t>
            </a:r>
            <a:r>
              <a:rPr lang="en-US" sz="2400" dirty="0" smtClean="0"/>
              <a:t>, </a:t>
            </a:r>
            <a:r>
              <a:rPr lang="en-US" sz="2400" dirty="0" err="1" smtClean="0"/>
              <a:t>tj</a:t>
            </a:r>
            <a:r>
              <a:rPr lang="en-US" sz="2400" dirty="0" smtClean="0"/>
              <a:t>. </a:t>
            </a:r>
            <a:r>
              <a:rPr lang="en-US" sz="2400" i="1" dirty="0" smtClean="0"/>
              <a:t>I</a:t>
            </a:r>
            <a:r>
              <a:rPr lang="en-US" sz="2400" i="1" baseline="-25000" dirty="0" smtClean="0"/>
              <a:t>G</a:t>
            </a:r>
            <a:r>
              <a:rPr lang="en-US" sz="2400" dirty="0" smtClean="0"/>
              <a:t> = 0. </a:t>
            </a:r>
            <a:r>
              <a:rPr lang="en-US" sz="2400" dirty="0" err="1" smtClean="0"/>
              <a:t>Stoga</a:t>
            </a:r>
            <a:r>
              <a:rPr lang="en-US" sz="2400" dirty="0" smtClean="0"/>
              <a:t> se </a:t>
            </a:r>
            <a:r>
              <a:rPr lang="en-US" sz="2400" dirty="0" err="1" smtClean="0"/>
              <a:t>ulazno</a:t>
            </a:r>
            <a:r>
              <a:rPr lang="en-US" sz="2400" dirty="0" smtClean="0"/>
              <a:t> </a:t>
            </a:r>
            <a:r>
              <a:rPr lang="en-US" sz="2400" dirty="0" err="1" smtClean="0"/>
              <a:t>kolo</a:t>
            </a:r>
            <a:r>
              <a:rPr lang="en-US" sz="2400" dirty="0" smtClean="0"/>
              <a:t> </a:t>
            </a:r>
            <a:r>
              <a:rPr lang="en-US" sz="2400" dirty="0" err="1" smtClean="0"/>
              <a:t>predstavlja</a:t>
            </a:r>
            <a:r>
              <a:rPr lang="en-US" sz="2400" dirty="0" smtClean="0"/>
              <a:t> </a:t>
            </a:r>
            <a:r>
              <a:rPr lang="en-US" sz="2400" dirty="0" err="1" smtClean="0"/>
              <a:t>otvorenom</a:t>
            </a:r>
            <a:r>
              <a:rPr lang="en-US" sz="2400" dirty="0" smtClean="0"/>
              <a:t> </a:t>
            </a:r>
            <a:r>
              <a:rPr lang="en-US" sz="2400" dirty="0" err="1" smtClean="0"/>
              <a:t>vezom</a:t>
            </a:r>
            <a:r>
              <a:rPr lang="sr-Latn-RS" sz="2400" dirty="0" smtClean="0"/>
              <a:t>.</a:t>
            </a:r>
            <a:endParaRPr lang="en-US" sz="24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3352800"/>
            <a:ext cx="440055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0508" y="76200"/>
            <a:ext cx="68019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3200" b="1" dirty="0" smtClean="0">
                <a:solidFill>
                  <a:srgbClr val="0070C0"/>
                </a:solidFill>
              </a:rPr>
              <a:t>Model MOS tranzistora za male signale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" y="762000"/>
            <a:ext cx="8763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 smtClean="0"/>
              <a:t>Izvo</a:t>
            </a:r>
            <a:r>
              <a:rPr lang="sr-Latn-RS" sz="2400" dirty="0" smtClean="0"/>
              <a:t>đ</a:t>
            </a:r>
            <a:r>
              <a:rPr lang="en-US" sz="2400" dirty="0" err="1" smtClean="0"/>
              <a:t>enje</a:t>
            </a:r>
            <a:r>
              <a:rPr lang="en-US" sz="2400" dirty="0" smtClean="0"/>
              <a:t> </a:t>
            </a:r>
            <a:r>
              <a:rPr lang="en-US" sz="2400" dirty="0" err="1" smtClean="0"/>
              <a:t>ovog</a:t>
            </a:r>
            <a:r>
              <a:rPr lang="en-US" sz="2400" dirty="0" smtClean="0"/>
              <a:t> </a:t>
            </a:r>
            <a:r>
              <a:rPr lang="en-US" sz="2400" dirty="0" err="1" smtClean="0"/>
              <a:t>modela</a:t>
            </a:r>
            <a:r>
              <a:rPr lang="en-US" sz="2400" dirty="0" smtClean="0"/>
              <a:t> </a:t>
            </a:r>
            <a:r>
              <a:rPr lang="en-US" sz="2400" dirty="0" err="1" smtClean="0"/>
              <a:t>ekvivalentno</a:t>
            </a:r>
            <a:r>
              <a:rPr lang="en-US" sz="2400" dirty="0" smtClean="0"/>
              <a:t> je </a:t>
            </a:r>
            <a:r>
              <a:rPr lang="en-US" sz="2400" dirty="0" err="1" smtClean="0"/>
              <a:t>postupku</a:t>
            </a:r>
            <a:r>
              <a:rPr lang="en-US" sz="2400" dirty="0" smtClean="0"/>
              <a:t> </a:t>
            </a:r>
            <a:r>
              <a:rPr lang="en-US" sz="2400" dirty="0" err="1" smtClean="0"/>
              <a:t>koji</a:t>
            </a:r>
            <a:r>
              <a:rPr lang="en-US" sz="2400" dirty="0" smtClean="0"/>
              <a:t> </a:t>
            </a:r>
            <a:r>
              <a:rPr lang="en-US" sz="2400" dirty="0" err="1" smtClean="0"/>
              <a:t>smo</a:t>
            </a:r>
            <a:r>
              <a:rPr lang="sr-Latn-RS" sz="2400" dirty="0" smtClean="0"/>
              <a:t> </a:t>
            </a:r>
            <a:r>
              <a:rPr lang="en-US" sz="2400" dirty="0" err="1" smtClean="0"/>
              <a:t>imali</a:t>
            </a:r>
            <a:r>
              <a:rPr lang="en-US" sz="2400" dirty="0" smtClean="0"/>
              <a:t> </a:t>
            </a:r>
            <a:r>
              <a:rPr lang="en-US" sz="2400" dirty="0" err="1" smtClean="0"/>
              <a:t>za</a:t>
            </a:r>
            <a:r>
              <a:rPr lang="en-US" sz="2400" dirty="0" smtClean="0"/>
              <a:t> JFET.</a:t>
            </a:r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endParaRPr lang="sr-Latn-RS" sz="2400" dirty="0" smtClean="0"/>
          </a:p>
          <a:p>
            <a:r>
              <a:rPr lang="sr-Latn-RS" sz="2400" dirty="0" smtClean="0"/>
              <a:t>Parametri modela, transkonduktansa </a:t>
            </a:r>
            <a:r>
              <a:rPr lang="sr-Latn-RS" sz="2400" i="1" dirty="0" smtClean="0"/>
              <a:t>g</a:t>
            </a:r>
            <a:r>
              <a:rPr lang="sr-Latn-RS" sz="2400" i="1" baseline="-25000" dirty="0" smtClean="0"/>
              <a:t>m</a:t>
            </a:r>
            <a:r>
              <a:rPr lang="sr-Latn-RS" sz="2400" dirty="0" smtClean="0"/>
              <a:t> i dinamička otpornost </a:t>
            </a:r>
            <a:r>
              <a:rPr lang="sr-Latn-RS" sz="2400" i="1" dirty="0" smtClean="0"/>
              <a:t>r</a:t>
            </a:r>
            <a:r>
              <a:rPr lang="sr-Latn-RS" sz="2400" i="1" baseline="-25000" dirty="0" smtClean="0"/>
              <a:t>o</a:t>
            </a:r>
            <a:r>
              <a:rPr lang="sr-Latn-RS" sz="2400" dirty="0" smtClean="0"/>
              <a:t>, određuju se iz radne tačke za jednosmernu polarizaciju tranzistora u oblasti zasićenja:</a:t>
            </a:r>
            <a:endParaRPr lang="en-US" sz="2400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1752600"/>
            <a:ext cx="4095750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5410199"/>
            <a:ext cx="3634740" cy="1108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3999" y="5410199"/>
            <a:ext cx="2548890" cy="1040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6703</TotalTime>
  <Words>1783</Words>
  <Application>Microsoft Office PowerPoint</Application>
  <PresentationFormat>On-screen Show (4:3)</PresentationFormat>
  <Paragraphs>163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UNIPOLARNI TRANZISTORI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Uvod u elektroniku   (šifra: 2242, fond časova: 3+1+1, ECTS: 6)</dc:title>
  <dc:creator>ETFBL</dc:creator>
  <cp:lastModifiedBy>Tatjana</cp:lastModifiedBy>
  <cp:revision>206</cp:revision>
  <dcterms:created xsi:type="dcterms:W3CDTF">2020-11-04T10:39:47Z</dcterms:created>
  <dcterms:modified xsi:type="dcterms:W3CDTF">2024-11-15T12:26:15Z</dcterms:modified>
</cp:coreProperties>
</file>